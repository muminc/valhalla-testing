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Random pointer chase</c:v>
                </c:pt>
              </c:strCache>
            </c:strRef>
          </c:tx>
          <c:spPr>
            <a:solidFill>
              <a:srgbClr val="E76F00"/>
            </a:solidFill>
            <a:ln w="25400" cap="flat">
              <a:solidFill>
                <a:srgbClr val="E76F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76F00"/>
              </a:solidFill>
              <a:ln w="9525" cap="flat">
                <a:solidFill>
                  <a:srgbClr val="E76F00"/>
                </a:solidFill>
                <a:prstDash val="solid"/>
                <a:round/>
              </a:ln>
              <a:effectLst/>
            </c:spPr>
          </c:marker>
          <c:cat>
            <c:multiLvlStrRef>
              <c:f>Sheet1!$A$2:$A$16</c:f>
              <c:multiLvlStrCache>
                <c:ptCount val="15"/>
                <c:lvl>
                  <c:pt idx="0">
                    <c:v>16K</c:v>
                  </c:pt>
                  <c:pt idx="1">
                    <c:v>32K</c:v>
                  </c:pt>
                  <c:pt idx="2">
                    <c:v>64K</c:v>
                  </c:pt>
                  <c:pt idx="3">
                    <c:v>128K</c:v>
                  </c:pt>
                  <c:pt idx="4">
                    <c:v>256K</c:v>
                  </c:pt>
                  <c:pt idx="5">
                    <c:v>512K</c:v>
                  </c:pt>
                  <c:pt idx="6">
                    <c:v>1M</c:v>
                  </c:pt>
                  <c:pt idx="7">
                    <c:v>2M</c:v>
                  </c:pt>
                  <c:pt idx="8">
                    <c:v>4M</c:v>
                  </c:pt>
                  <c:pt idx="9">
                    <c:v>8M</c:v>
                  </c:pt>
                  <c:pt idx="10">
                    <c:v>16M</c:v>
                  </c:pt>
                  <c:pt idx="11">
                    <c:v>32M</c:v>
                  </c:pt>
                  <c:pt idx="12">
                    <c:v>64M</c:v>
                  </c:pt>
                  <c:pt idx="13">
                    <c:v>128M</c:v>
                  </c:pt>
                  <c:pt idx="14">
                    <c:v>256M</c:v>
                  </c:pt>
                </c:lvl>
              </c:multiLvlStrCache>
            </c:multiLvlStrRef>
          </c:cat>
          <c:val>
            <c:numRef>
              <c:f>Sheet1!$B$2:$B$16</c:f>
              <c:numCache>
                <c:formatCode>General</c:formatCode>
                <c:ptCount val="15"/>
                <c:pt idx="0">
                  <c:v>1.22</c:v>
                </c:pt>
                <c:pt idx="1">
                  <c:v>1.33</c:v>
                </c:pt>
                <c:pt idx="2">
                  <c:v>2.7</c:v>
                </c:pt>
                <c:pt idx="3">
                  <c:v>3.02</c:v>
                </c:pt>
                <c:pt idx="4">
                  <c:v>3.16</c:v>
                </c:pt>
                <c:pt idx="5">
                  <c:v>3.44</c:v>
                </c:pt>
                <c:pt idx="6">
                  <c:v>8</c:v>
                </c:pt>
                <c:pt idx="7">
                  <c:v>9.39</c:v>
                </c:pt>
                <c:pt idx="8">
                  <c:v>10.34</c:v>
                </c:pt>
                <c:pt idx="9">
                  <c:v>13.09</c:v>
                </c:pt>
                <c:pt idx="10">
                  <c:v>70.88</c:v>
                </c:pt>
                <c:pt idx="11">
                  <c:v>87.66</c:v>
                </c:pt>
                <c:pt idx="12">
                  <c:v>97.83</c:v>
                </c:pt>
                <c:pt idx="13">
                  <c:v>106.33</c:v>
                </c:pt>
                <c:pt idx="14">
                  <c:v>111.26</c:v>
                </c:pt>
              </c:numCache>
            </c:numRef>
          </c:val>
          <c:smooth val="0"/>
        </c:ser>
        <c:ser>
          <c:idx val="1"/>
          <c:order val="1"/>
          <c:tx>
            <c:strRef>
              <c:f>Sheet1!$C$1</c:f>
              <c:strCache>
                <c:ptCount val="1"/>
                <c:pt idx="0">
                  <c:v>Sequential scan (flattened)</c:v>
                </c:pt>
              </c:strCache>
            </c:strRef>
          </c:tx>
          <c:spPr>
            <a:solidFill>
              <a:srgbClr val="2F6FB0"/>
            </a:solidFill>
            <a:ln w="25400" cap="flat">
              <a:solidFill>
                <a:srgbClr val="2F6F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6FB0"/>
              </a:solidFill>
              <a:ln w="9525" cap="flat">
                <a:solidFill>
                  <a:srgbClr val="2F6FB0"/>
                </a:solidFill>
                <a:prstDash val="solid"/>
                <a:round/>
              </a:ln>
              <a:effectLst/>
            </c:spPr>
          </c:marker>
          <c:cat>
            <c:multiLvlStrRef>
              <c:f>Sheet1!$A$2:$A$16</c:f>
              <c:multiLvlStrCache>
                <c:ptCount val="15"/>
                <c:lvl>
                  <c:pt idx="0">
                    <c:v>16K</c:v>
                  </c:pt>
                  <c:pt idx="1">
                    <c:v>32K</c:v>
                  </c:pt>
                  <c:pt idx="2">
                    <c:v>64K</c:v>
                  </c:pt>
                  <c:pt idx="3">
                    <c:v>128K</c:v>
                  </c:pt>
                  <c:pt idx="4">
                    <c:v>256K</c:v>
                  </c:pt>
                  <c:pt idx="5">
                    <c:v>512K</c:v>
                  </c:pt>
                  <c:pt idx="6">
                    <c:v>1M</c:v>
                  </c:pt>
                  <c:pt idx="7">
                    <c:v>2M</c:v>
                  </c:pt>
                  <c:pt idx="8">
                    <c:v>4M</c:v>
                  </c:pt>
                  <c:pt idx="9">
                    <c:v>8M</c:v>
                  </c:pt>
                  <c:pt idx="10">
                    <c:v>16M</c:v>
                  </c:pt>
                  <c:pt idx="11">
                    <c:v>32M</c:v>
                  </c:pt>
                  <c:pt idx="12">
                    <c:v>64M</c:v>
                  </c:pt>
                  <c:pt idx="13">
                    <c:v>128M</c:v>
                  </c:pt>
                  <c:pt idx="14">
                    <c:v>256M</c:v>
                  </c:pt>
                </c:lvl>
              </c:multiLvlStrCache>
            </c:multiLvlStrRef>
          </c:cat>
          <c:val>
            <c:numRef>
              <c:f>Sheet1!$C$2:$C$16</c:f>
              <c:numCache>
                <c:formatCode>General</c:formatCode>
                <c:ptCount val="15"/>
                <c:pt idx="0">
                  <c:v>0.244</c:v>
                </c:pt>
                <c:pt idx="1">
                  <c:v>0.245</c:v>
                </c:pt>
                <c:pt idx="2">
                  <c:v>0.239</c:v>
                </c:pt>
                <c:pt idx="3">
                  <c:v>0.236</c:v>
                </c:pt>
                <c:pt idx="4">
                  <c:v>0.236</c:v>
                </c:pt>
                <c:pt idx="5">
                  <c:v>0.235</c:v>
                </c:pt>
                <c:pt idx="6">
                  <c:v>0.235</c:v>
                </c:pt>
                <c:pt idx="7">
                  <c:v>0.235</c:v>
                </c:pt>
                <c:pt idx="8">
                  <c:v>0.239</c:v>
                </c:pt>
                <c:pt idx="9">
                  <c:v>0.235</c:v>
                </c:pt>
                <c:pt idx="10">
                  <c:v>0.323</c:v>
                </c:pt>
                <c:pt idx="11">
                  <c:v>0.412</c:v>
                </c:pt>
                <c:pt idx="12">
                  <c:v>0.412</c:v>
                </c:pt>
                <c:pt idx="13">
                  <c:v>0.422</c:v>
                </c:pt>
                <c:pt idx="14">
                  <c:v>0.418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5B6475"/>
                    </a:solidFill>
                    <a:latin typeface="+mn-lt"/>
                  </a:defRPr>
                </a:pPr>
                <a:r>
                  <a:rPr sz="800" b="0" i="0" u="none" strike="noStrike">
                    <a:solidFill>
                      <a:srgbClr val="5B6475"/>
                    </a:solidFill>
                    <a:latin typeface="+mn-lt"/>
                  </a:rPr>
                  <a:t>working-set size (bytes)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475"/>
                </a:solidFill>
                <a:latin typeface="+mn-lt"/>
              </a:defRPr>
            </a:pPr>
            <a:endParaRPr lang="en-US"/>
          </a:p>
        </c:txPr>
        <c:crossAx val="2094734552"/>
        <c:crosses val="autoZero"/>
        <c:auto val="1"/>
        <c:lblAlgn val="ctr"/>
        <c:noMultiLvlLbl val="1"/>
      </c:catAx>
      <c:valAx>
        <c:axId val="2094734552"/>
        <c:scaling>
          <c:logBase val="10"/>
          <c:orientation val="minMax"/>
          <c:max val="1000"/>
          <c:min val="0.1"/>
        </c:scaling>
        <c:delete val="0"/>
        <c:axPos val="l"/>
        <c:majorGridlines>
          <c:spPr>
            <a:ln w="6350" cap="flat">
              <a:solidFill>
                <a:srgbClr val="E1E5EC"/>
              </a:solidFill>
              <a:prstDash val="solid"/>
              <a:round/>
            </a:ln>
          </c:spPr>
        </c:majorGridlines>
        <c:title>
          <c:tx>
            <c:rich>
              <a:bodyPr/>
              <a:lstStyle/>
              <a:p>
                <a:pPr>
                  <a:defRPr sz="800" b="0" i="0" u="none" strike="noStrike">
                    <a:solidFill>
                      <a:srgbClr val="5B6475"/>
                    </a:solidFill>
                    <a:latin typeface="+mn-lt"/>
                  </a:defRPr>
                </a:pPr>
                <a:r>
                  <a:rPr sz="800" b="0" i="0" u="none" strike="noStrike">
                    <a:solidFill>
                      <a:srgbClr val="5B6475"/>
                    </a:solidFill>
                    <a:latin typeface="+mn-lt"/>
                  </a:rPr>
                  <a:t>ns per element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4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850">
              <a:solidFill>
                <a:srgbClr val="1F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 releases: 11 (2018), 17 (2021), 21 (2023), 25 (2025). On the two-year cadence, 29 (Sep 2027) and 33 (Sep 2029) are the next LTS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25 (G1) with jcmd GC.class_histogram after six System.gc() calls: 1,000,000 strings built with StringBuilder from 100 distinct 40-character values. Without dedup: 1,009,109 byte[] (56,409,392 B), total 85.7 MB. With -XX:+UseStringDeduplication: 9,168 byte[] (413,552 B), total 29.6 MB; -Xlog:stringdedup reported about 1.0M strings deduplicated. Also verified with Serial, Parallel and ZGC on JDK 25. Defaults: UseStringDeduplication=false, StringDeduplicationAgeThreshold=3.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25.0.4.1 (Windows x64, G1) with -Xlog:gc+init: -Xmx2g 'Enabled (32-bit)', -Xmx4g/8g/28g 'Enabled (Zero based)', -Xmx31g 'Enabled (Non-zero disjoint base)', -Xmx32g 'Disabled'; -Xmx32g -XX:ObjectAlignmentInBytes=16 'Enabled (Zero based)'. UseCompressedOops stays true up to -Xmx32736m and is false from -Xmx32737m (PrintFlagsFinal). jcmd GC.class_histogram: Node{Object next, value} 24 B at 31g vs 32 B at 32g; Object[100000] 400,016 B vs 800,016 B. Compressed class pointers are a separate flag and stay on, so the header is 12 bytes in both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async/await is stackless: the compiler turns each async method into a state machine, and async spreads through the call chain. Java virtual threads are stackful: the JVM saves and restores the real stack, so plain blocking code scales and stack traces, debuggers and thread dumps show the full call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coloring (Bob Nystrom, 'What Color is Your Function?', 2015): in async/await languages, async functions can only be awaited from other async functions, so making one leaf async forces every caller up the chain to become async, and libraries need sync and async versions of everything. Virtual threads make blocking cheap, so Java keeps a single function color: callers don't change when a leaf does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methods compiled into one class with the .NET 9 SDK (Release) and disassembled with ILSpy. GetLength (no await) is 48 bytes of straight-line IL calling HttpClient.Send, which blocks the thread. GetLengthAsync becomes a 63-byte stub that initialises a struct state machine (&lt;GetLengthAsync&gt;d__2) and calls AsyncTaskMethodBuilder.Start; MoveNext (170 bytes) holds the original body as a switch on &lt;&gt;1__state. At the await it stores the awaiter in a field, registers a continuation with AwaitUnsafeOnCompleted and returns at IL_004f, freeing the thread; when the I/O completes MoveNext runs again and jumps to IL_0051. No frame of the method or its callers stays on a thread while it waits, which is why C# stack traces show MoveNext() and why async spreads up the call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Compiled with javac from JDK 25 LTS and disassembled with javap -c. getLength is 38 bytes of ordinary bytecode with no generated classes or state fields. Run on a virtual thread against a server that never answers, its live stack (Thread.getStackTrace) shows VirtualThread.park at the top and OrderService.getLength still on the stack: the JVM yielded the continuation and moved the frames to the heap, rather than the compiler rewriting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21-23: blocking inside synchronized pinned the carrier thread. JEP 491 (Java 24, included in Java 25 LTS) makes monitors owned by the virtual thread, so it can unmount while holding or waiting for a monitor and in Object.wait(). Remaining pinning: native frames and class initialization. Monitor with the JFR event jdk.VirtualThreadPinned.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25 (TL.java): ThreadLocal.withInitial initializer ran 8 times for 10,000 tasks on Executors.newFixedThreadPool(8), and 10,000 times on Executors.newVirtualThreadPerTaskExecutor(). ScopedValue demo printed inside: alice, nested: admin, back: alice, outside: bound=false; compiled and run without --enable-preview. JEP 506 (Delivered, JDK 25) lists the three thread-local flaws: unconstrained mutability, unbounded lifetime, expensive inheritance, and notes a million virtual threads each with its own thread-local copies may have a significant footprint. History: JEP 429 incubator JDK 20; previews JEP 446 (21), 464 (22), 481 (23), 487 (24). StructuredTaskScope is JEP 505, preview in JDK 25. ThreadLocal is not deprecated; JEP 506 says migration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measured on JDK 21 (64-bit HotSpot, compressed class pointers on) with jcmd GC.class_histogram: empty object 16 B, one int field 16 B, one long field 24 B, int[0] 16 B, int[2] 24 B. With -XX:-UseCompressedClassPointers the klass pointer is 8 bytes, so the one-int object grows to 24 B. Mark word layout from HotSpot markWord.hpp (JDK 21): unused:25 hash:31 unused:1 age:4 unused:1 lock:2.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25 with jcmd GC.class_histogram, without and with -XX:+UseCompactObjectHeaders: empty object 16-&gt;8, one long 24-&gt;16, two ints 24-&gt;16, one int and java.lang.Integer 16-&gt;16 (12-&gt;8 header saving absorbed by 8-byte alignment), int[2] 24-&gt;24. Layout per JEP 450: 22-bit compressed class pointer, 31-bit hash, 4 reserved bits, 4-bit age, self-forwarded bit, 2-bit tag. Benchmark figures from JEP 519 (SPECjbb2015: 22% less heap, 8% less CPU, 15% fewer GCs). JEP 534 makes compact headers the default from JDK 27 (verified: JDK 25 default false, JDK 28-ea default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a .NET 9 Release build on x64 using GC.GetAllocatedBytesForCurrentThread: class Point 24 B per object (min object size on x64 is 24 B: 8 B object header + 8 B method-table pointer + data), boxing an int or Point 24 B, Point[1M] of structs 8,000,024 B, class Point[1M] plus objects 32,000,040 B, struct locals 0 B. Summing 10M points (best of 7 after warm-up): struct array 7.2 ms, class array in allocation order 17.1 ms, shuffled class array 101.6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has no equivalent of a C# struct today: every object carries a header and lives on the heap. Value classes are being developed in OpenJDK (JEP 401, Value Classes and Objects) to bring header-free, flattenable values to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Semantics from JEP 401 (Value Classes and Objects), integrated as a preview in JDK 28. Output shown is from running the demo on JDK 28-ea with --enable-preview: identity records are not == but equal; value records are ==; synchronized on a value object throws IdentityException; WeakReference to a value object throws IdentityException; Integer is a value class under preview so Integer 1000 == 1000 is true. Assigning to a field of a value class is a compile error (fields are implicitly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28-ea with --enable-preview (compact headers are on by default there). GC.class_histogram for 1M elements: identity record IdSmall(short,short): 4,000,016 B reference array + 1,000,000 objects x 16 B = 20 MB; value record VSmall(short,short): one 8,000,016 B flattened array (8 B per element) and no per-element objects. value record VPoint(int,int) was not flattened: 4 MB reference array + 1M heap objects of 24 B. Summing 10M elements (best of 7 after warm-up, two runs): flattened value array 10.0 ms; identity array in allocation order 10.6-11.2 ms; shuffled identity array 80-123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this machine (AMD Ryzen 7 3700X, Zen 2: 32 KB L1d and 512 KB L2 per core, 32 MB L3 as 2 x 16 MB) with JDK 25. Random: Sattolo-cycle pointer chase, one 64-byte line per hop, best of 3 x 30M hops. Sequential: sum over a long[] (8 B per element, like a flattened value array), best of 3. Two runs agreed within a few percent; run 2 shown. Random: 1.2 ns (L1), ~3 ns (L2), 8-13 ns (L3), 70-111 ns beyond 16 MB. Sequential: 0.24 ns up to 8 MB, 0.32-0.42 ns from DRAM.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draft JEP 8303099 'Null-Restricted and Nullable Types (Preview)' (no target release). Foo! excludes null, Foo? includes null deliberately, unmarked Foo is unspecified. Compile-time errors for uninitialized null-restricted fields/array elements and null literals; warnings for narrowing and for member access on ?-typed expressions. Run time: narrowing null to a null-restricted type throws NullPointerException. Better flattening of null-restricted value types is left to JEP 8316779. Verified: JDK 28-ea javac rejects 'String!' (syntax error). Kotlin example compiled with kotlinc 1.6.20; the error message shown is its real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NullAway (github.com/uber/NullAway) is an Error Prone plugin; README: build-time overhead usually &lt; 10%, JDK 17+ and Error Prone 2.36+. The output shown is real: Maven offline build with Error Prone 2.38.0 + NullAway 0.12.7 + JSpecify 1.0.0 on JDK 21, NullAway:OnlyNullMarked=true. Spring Framework 7 docs: codebase annotated with JSpecify and nullability checked with NullAway as part of its build. Guava's pom.xml does not run NullAway, but Guava 33.4.1+ ships JSpecify @NullMarked annotations which NullAway treats as annotated code. Caffeine named in the Spring Boot 4 null-safety blog as annotating its APIs with JSpecify.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JDK 28-ea --enable-preview: Integer.valueOf(1000) == Integer.valueOf(1000) is true and Integer.class.isValue() is true; without preview (and on JDK 25) == is false. javac 28-ea with preview rejects synchronized(Integer): 'unexpected type, required: identity class, found: Integer'. Draft null-restricted types JEP (8303099, updated 2025-07-24): boxing converts int to Integer!, unboxing converts Integer! to int; nullable int is a non-goal; flattened nullable values may need extra bits to encode null. JEP 402 Enhanced Primitive Boxing (draft, Dan Smith, updated 2025-11-19): primitive types as type arguments, List&lt;int&gt; no more performant than List&lt;Object&gt;; the int/Integer distinction can't be eliminated at the JVM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javap -c on JDK 25 for Ops.java: addI = iload_0 iload_1 iadd ireturn; addL = lload_0 lload_2 ladd lreturn (long takes two slots); addB = iload_0 iload_1 iadd i2b ireturn; box = iload_0 invokestatic Integer.valueOf:(I)Ljava/lang/Integer; areturn; unbox = aload_0 invokevirtual Integer.intValue:()I ireturn. Opcode families from the JVM Specification chapter 6; boolean arrays use baload/bastore; newarray atype codes T_BOOLEAN=4 ... T_LONG=11.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JDK 28-ea with --enable-preview (javac --release 28): for value record Point and identity record IPoint, 'new Point(x, y)' compiles to new/dup/iload/iload/invokespecial &lt;init&gt;(II)V/areturn in both cases; a == b compiles to if_acmpne; a loop over Point[] uses aaload and invokevirtual. javap -v: Point flags (0x0010) ACC_FINAL; IPoint flags (0x0030) ACC_FINAL, ACC_IDENTITY; Point fields (0x0812) ACC_PRIVATE, ACC_FINAL, ACC_STRICT_INIT; Point.&lt;init&gt; does putfield x, putfield y before invokespecial Record.&lt;init&gt;; VB.class has LoadableDescriptors: LVB$Point;. History: Minimal Value Types / L-world prototypes used Q-descriptors and v-bytecodes (vdefault, vwithfield, vload, vstore, vreturn, vaload, vastore; vbox/vunbox). John Rose, 'new/dup/init: The Dance Goes On' (2023-08-14, cr.openjdk.org/~jrose/values/larval-values.html) describes their removal; quote 'a parallel universe of bytecodes'. JVMS: opcodes 0-201 assigned, 202 (breakpoint), 254, 255 (impdep1/2)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Compiled and run on JDK 25.0.4.1. Output: 'true', '1', then java.lang.ClassCastException: class java.lang.Integer cannot be cast to class java.lang.String at Erasure.first(Erasure.java:5). javap -c -v shows first() with descriptor (Ljava/util/List;)Ljava/lang/String;, invokeinterface List.get:(I)Ljava/lang/Object;, checkcast java/lang/String, and Signature (Ljava/util/List&lt;Ljava/lang/String;&gt;;)Ljava/lang/String;. Both 'new ArrayList&lt;&gt;()' compile to 'new java/util/ArrayList'. Clash.java with print(List&lt;String&gt;) and print(List&lt;Integer&gt;) fails: 'name clash: print(List&lt;Integer&gt;) and print(List&lt;String&gt;) have the same erasure'.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Brian Goetz, 'Growing the Java Language', JVM Language Summit 2025 (youtube.com/watch?v=Gz7Or9C0TpM). Prototype: openjdk/valhalla PR #1886 'Initial push for type classes support' by Maurizio Cimadamore, integrated 13 Jan 2026 into the type-classes branch; it declares Sum&lt;X&gt;, a __witness Sum&lt;MyInt&gt; field (to be declared in Sum or MyInt), lookup via Sum&lt;MyInt&gt;.__witness, witness methods and runtime witness lookup. Goetz on amber-spec-experts (Aug 2025): not designing this feature yet. Operator overloading limited to value classes and float16 example per talk coverage. No source found saying type classes provide reified generics; specialized generics (List&lt;int&gt;) are separate Valhalla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E76F00"/>
          </a:solidFill>
          <a:ln/>
        </p:spPr>
      </p:sp>
      <p:sp>
        <p:nvSpPr>
          <p:cNvPr id="3" name="Shape 1"/>
          <p:cNvSpPr/>
          <p:nvPr/>
        </p:nvSpPr>
        <p:spPr>
          <a:xfrm>
            <a:off x="457200" y="6527800"/>
            <a:ext cx="11277600" cy="0"/>
          </a:xfrm>
          <a:prstGeom prst="line">
            <a:avLst/>
          </a:prstGeom>
          <a:noFill/>
          <a:ln w="10160">
            <a:solidFill>
              <a:srgbClr val="DDE2EA"/>
            </a:solidFill>
            <a:prstDash val="solid"/>
          </a:ln>
        </p:spPr>
      </p:sp>
      <p:sp>
        <p:nvSpPr>
          <p:cNvPr id="4" name="Text 2"/>
          <p:cNvSpPr/>
          <p:nvPr/>
        </p:nvSpPr>
        <p:spPr>
          <a:xfrm>
            <a:off x="457200" y="6565900"/>
            <a:ext cx="50800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Recent and Potential Future Updates</a:t>
            </a:r>
            <a:endParaRPr lang="en-US" sz="85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61A2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youtube.com/watch?v=Gz7Or9C0TpM" TargetMode="Externa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7000" cy="6858000"/>
          </a:xfrm>
          <a:prstGeom prst="rect">
            <a:avLst/>
          </a:prstGeom>
          <a:solidFill>
            <a:srgbClr val="E76F00"/>
          </a:solidFill>
          <a:ln/>
        </p:spPr>
      </p:sp>
      <p:sp>
        <p:nvSpPr>
          <p:cNvPr id="3" name="Text 1"/>
          <p:cNvSpPr txBox="1"/>
          <p:nvPr/>
        </p:nvSpPr>
        <p:spPr>
          <a:xfrm>
            <a:off x="914400" y="1625600"/>
            <a:ext cx="10922000" cy="812800"/>
          </a:xfrm>
          <a:prstGeom prst="rect">
            <a:avLst/>
          </a:prstGeom>
          <a:noFill/>
          <a:ln/>
        </p:spPr>
        <p:txBody>
          <a:bodyPr wrap="square" lIns="0" tIns="0" rIns="0" bIns="0" rtlCol="0" anchor="t"/>
          <a:lstStyle/>
          <a:p>
            <a:pPr indent="0" marL="0">
              <a:buNone/>
            </a:pPr>
            <a:r>
              <a:rPr lang="en-US" sz="4600" b="1" dirty="0">
                <a:solidFill>
                  <a:srgbClr val="FFFFFF"/>
                </a:solidFill>
                <a:latin typeface="Segoe UI" pitchFamily="34" charset="0"/>
                <a:ea typeface="Segoe UI" pitchFamily="34" charset="-122"/>
                <a:cs typeface="Segoe UI" pitchFamily="34" charset="-120"/>
              </a:rPr>
              <a:t>Recent and Potential Future Updates</a:t>
            </a:r>
            <a:endParaRPr lang="en-US" sz="4600" dirty="0"/>
          </a:p>
        </p:txBody>
      </p:sp>
      <p:sp>
        <p:nvSpPr>
          <p:cNvPr id="4" name="Text 2"/>
          <p:cNvSpPr txBox="1"/>
          <p:nvPr/>
        </p:nvSpPr>
        <p:spPr>
          <a:xfrm>
            <a:off x="914400" y="3708400"/>
            <a:ext cx="6350000" cy="203200"/>
          </a:xfrm>
          <a:prstGeom prst="rect">
            <a:avLst/>
          </a:prstGeom>
          <a:noFill/>
          <a:ln/>
        </p:spPr>
        <p:txBody>
          <a:bodyPr wrap="square" lIns="0" tIns="0" rIns="0" bIns="0" rtlCol="0" anchor="t"/>
          <a:lstStyle/>
          <a:p>
            <a:pPr indent="0" marL="0">
              <a:buNone/>
            </a:pPr>
            <a:r>
              <a:rPr lang="en-US" sz="1000" b="1" dirty="0">
                <a:solidFill>
                  <a:srgbClr val="AEB6C6"/>
                </a:solidFill>
                <a:latin typeface="Segoe UI" pitchFamily="34" charset="0"/>
                <a:ea typeface="Segoe UI" pitchFamily="34" charset="-122"/>
                <a:cs typeface="Segoe UI" pitchFamily="34" charset="-120"/>
              </a:rPr>
              <a:t>LONG-TERM SUPPORT RELEASES  ·  JAVA 11 → 33</a:t>
            </a:r>
            <a:endParaRPr lang="en-US" sz="1000" dirty="0"/>
          </a:p>
        </p:txBody>
      </p:sp>
      <p:sp>
        <p:nvSpPr>
          <p:cNvPr id="5" name="Shape 3"/>
          <p:cNvSpPr/>
          <p:nvPr/>
        </p:nvSpPr>
        <p:spPr>
          <a:xfrm>
            <a:off x="8280400" y="4292600"/>
            <a:ext cx="3149600" cy="1625600"/>
          </a:xfrm>
          <a:prstGeom prst="roundRect">
            <a:avLst>
              <a:gd name="adj" fmla="val 7813"/>
            </a:avLst>
          </a:prstGeom>
          <a:solidFill>
            <a:srgbClr val="173B3C"/>
          </a:solidFill>
          <a:ln/>
        </p:spPr>
      </p:sp>
      <p:sp>
        <p:nvSpPr>
          <p:cNvPr id="6" name="Text 4"/>
          <p:cNvSpPr txBox="1"/>
          <p:nvPr/>
        </p:nvSpPr>
        <p:spPr>
          <a:xfrm>
            <a:off x="8280400" y="4381500"/>
            <a:ext cx="3149600" cy="177800"/>
          </a:xfrm>
          <a:prstGeom prst="rect">
            <a:avLst/>
          </a:prstGeom>
          <a:noFill/>
          <a:ln/>
        </p:spPr>
        <p:txBody>
          <a:bodyPr wrap="square" lIns="0" tIns="0" rIns="0" bIns="0" rtlCol="0" anchor="t"/>
          <a:lstStyle/>
          <a:p>
            <a:pPr algn="ctr" indent="0" marL="0">
              <a:buNone/>
            </a:pPr>
            <a:r>
              <a:rPr lang="en-US" sz="950" b="1" dirty="0">
                <a:solidFill>
                  <a:srgbClr val="4FD1C5"/>
                </a:solidFill>
                <a:latin typeface="Segoe UI" pitchFamily="34" charset="0"/>
                <a:ea typeface="Segoe UI" pitchFamily="34" charset="-122"/>
                <a:cs typeface="Segoe UI" pitchFamily="34" charset="-120"/>
              </a:rPr>
              <a:t>FUTURE LTS RELEASES</a:t>
            </a:r>
            <a:endParaRPr lang="en-US" sz="950" dirty="0"/>
          </a:p>
        </p:txBody>
      </p:sp>
      <p:sp>
        <p:nvSpPr>
          <p:cNvPr id="7" name="Shape 5"/>
          <p:cNvSpPr/>
          <p:nvPr/>
        </p:nvSpPr>
        <p:spPr>
          <a:xfrm>
            <a:off x="1016000" y="4953000"/>
            <a:ext cx="6019800" cy="0"/>
          </a:xfrm>
          <a:prstGeom prst="line">
            <a:avLst/>
          </a:prstGeom>
          <a:noFill/>
          <a:ln w="25400">
            <a:solidFill>
              <a:srgbClr val="E76F00"/>
            </a:solidFill>
            <a:prstDash val="solid"/>
          </a:ln>
        </p:spPr>
      </p:sp>
      <p:sp>
        <p:nvSpPr>
          <p:cNvPr id="8" name="Shape 6"/>
          <p:cNvSpPr/>
          <p:nvPr/>
        </p:nvSpPr>
        <p:spPr>
          <a:xfrm>
            <a:off x="7035800" y="4953000"/>
            <a:ext cx="4140200" cy="0"/>
          </a:xfrm>
          <a:prstGeom prst="line">
            <a:avLst/>
          </a:prstGeom>
          <a:noFill/>
          <a:ln w="25400">
            <a:solidFill>
              <a:srgbClr val="4FD1C5"/>
            </a:solidFill>
            <a:prstDash val="dash"/>
          </a:ln>
        </p:spPr>
      </p:sp>
      <p:sp>
        <p:nvSpPr>
          <p:cNvPr id="9" name="Shape 7"/>
          <p:cNvSpPr/>
          <p:nvPr/>
        </p:nvSpPr>
        <p:spPr>
          <a:xfrm>
            <a:off x="8053917" y="4826000"/>
            <a:ext cx="0" cy="254000"/>
          </a:xfrm>
          <a:prstGeom prst="line">
            <a:avLst/>
          </a:prstGeom>
          <a:noFill/>
          <a:ln w="12700">
            <a:solidFill>
              <a:srgbClr val="7D8698"/>
            </a:solidFill>
            <a:prstDash val="solid"/>
          </a:ln>
        </p:spPr>
      </p:sp>
      <p:sp>
        <p:nvSpPr>
          <p:cNvPr id="10" name="Text 8"/>
          <p:cNvSpPr txBox="1"/>
          <p:nvPr/>
        </p:nvSpPr>
        <p:spPr>
          <a:xfrm>
            <a:off x="7799917" y="4635500"/>
            <a:ext cx="508000" cy="139700"/>
          </a:xfrm>
          <a:prstGeom prst="rect">
            <a:avLst/>
          </a:prstGeom>
          <a:noFill/>
          <a:ln/>
        </p:spPr>
        <p:txBody>
          <a:bodyPr wrap="square" lIns="0" tIns="0" rIns="0" bIns="0" rtlCol="0" anchor="t"/>
          <a:lstStyle/>
          <a:p>
            <a:pPr algn="ctr" indent="0" marL="0">
              <a:buNone/>
            </a:pPr>
            <a:r>
              <a:rPr lang="en-US" sz="800" dirty="0">
                <a:solidFill>
                  <a:srgbClr val="7D8698"/>
                </a:solidFill>
                <a:latin typeface="Segoe UI" pitchFamily="34" charset="0"/>
                <a:ea typeface="Segoe UI" pitchFamily="34" charset="-122"/>
                <a:cs typeface="Segoe UI" pitchFamily="34" charset="-120"/>
              </a:rPr>
              <a:t>today</a:t>
            </a:r>
            <a:endParaRPr lang="en-US" sz="800" dirty="0"/>
          </a:p>
        </p:txBody>
      </p:sp>
      <p:sp>
        <p:nvSpPr>
          <p:cNvPr id="11" name="Shape 9"/>
          <p:cNvSpPr/>
          <p:nvPr/>
        </p:nvSpPr>
        <p:spPr>
          <a:xfrm>
            <a:off x="1308100" y="4864100"/>
            <a:ext cx="177800" cy="177800"/>
          </a:xfrm>
          <a:prstGeom prst="ellipse">
            <a:avLst/>
          </a:prstGeom>
          <a:solidFill>
            <a:srgbClr val="E76F00"/>
          </a:solidFill>
          <a:ln/>
        </p:spPr>
      </p:sp>
      <p:sp>
        <p:nvSpPr>
          <p:cNvPr id="12" name="Text 10"/>
          <p:cNvSpPr txBox="1"/>
          <p:nvPr/>
        </p:nvSpPr>
        <p:spPr>
          <a:xfrm>
            <a:off x="508000" y="5156200"/>
            <a:ext cx="1778000" cy="355600"/>
          </a:xfrm>
          <a:prstGeom prst="rect">
            <a:avLst/>
          </a:prstGeom>
          <a:noFill/>
          <a:ln/>
        </p:spPr>
        <p:txBody>
          <a:bodyPr wrap="square" lIns="0" tIns="0" rIns="0" bIns="0" rtlCol="0" anchor="t"/>
          <a:lstStyle/>
          <a:p>
            <a:pPr algn="ctr" indent="0" marL="0">
              <a:buNone/>
            </a:pPr>
            <a:r>
              <a:rPr lang="en-US" sz="2000" b="1" dirty="0">
                <a:solidFill>
                  <a:srgbClr val="FFFFFF"/>
                </a:solidFill>
                <a:latin typeface="Segoe UI" pitchFamily="34" charset="0"/>
                <a:ea typeface="Segoe UI" pitchFamily="34" charset="-122"/>
                <a:cs typeface="Segoe UI" pitchFamily="34" charset="-120"/>
              </a:rPr>
              <a:t>Java 11</a:t>
            </a:r>
            <a:endParaRPr lang="en-US" sz="2000" dirty="0"/>
          </a:p>
        </p:txBody>
      </p:sp>
      <p:sp>
        <p:nvSpPr>
          <p:cNvPr id="13" name="Text 11"/>
          <p:cNvSpPr txBox="1"/>
          <p:nvPr/>
        </p:nvSpPr>
        <p:spPr>
          <a:xfrm>
            <a:off x="508000" y="5499100"/>
            <a:ext cx="1778000" cy="177800"/>
          </a:xfrm>
          <a:prstGeom prst="rect">
            <a:avLst/>
          </a:prstGeom>
          <a:noFill/>
          <a:ln/>
        </p:spPr>
        <p:txBody>
          <a:bodyPr wrap="square" lIns="0" tIns="0" rIns="0" bIns="0" rtlCol="0" anchor="t"/>
          <a:lstStyle/>
          <a:p>
            <a:pPr algn="ctr" indent="0" marL="0">
              <a:buNone/>
            </a:pPr>
            <a:r>
              <a:rPr lang="en-US" sz="1000" dirty="0">
                <a:solidFill>
                  <a:srgbClr val="7D8698"/>
                </a:solidFill>
                <a:latin typeface="Segoe UI" pitchFamily="34" charset="0"/>
                <a:ea typeface="Segoe UI" pitchFamily="34" charset="-122"/>
                <a:cs typeface="Segoe UI" pitchFamily="34" charset="-120"/>
              </a:rPr>
              <a:t>Sep 2018</a:t>
            </a:r>
            <a:endParaRPr lang="en-US" sz="1000" dirty="0"/>
          </a:p>
        </p:txBody>
      </p:sp>
      <p:sp>
        <p:nvSpPr>
          <p:cNvPr id="14" name="Shape 12"/>
          <p:cNvSpPr/>
          <p:nvPr/>
        </p:nvSpPr>
        <p:spPr>
          <a:xfrm>
            <a:off x="3187700" y="4864100"/>
            <a:ext cx="177800" cy="177800"/>
          </a:xfrm>
          <a:prstGeom prst="ellipse">
            <a:avLst/>
          </a:prstGeom>
          <a:solidFill>
            <a:srgbClr val="E76F00"/>
          </a:solidFill>
          <a:ln/>
        </p:spPr>
      </p:sp>
      <p:sp>
        <p:nvSpPr>
          <p:cNvPr id="15" name="Text 13"/>
          <p:cNvSpPr txBox="1"/>
          <p:nvPr/>
        </p:nvSpPr>
        <p:spPr>
          <a:xfrm>
            <a:off x="2387600" y="5156200"/>
            <a:ext cx="1778000" cy="355600"/>
          </a:xfrm>
          <a:prstGeom prst="rect">
            <a:avLst/>
          </a:prstGeom>
          <a:noFill/>
          <a:ln/>
        </p:spPr>
        <p:txBody>
          <a:bodyPr wrap="square" lIns="0" tIns="0" rIns="0" bIns="0" rtlCol="0" anchor="t"/>
          <a:lstStyle/>
          <a:p>
            <a:pPr algn="ctr" indent="0" marL="0">
              <a:buNone/>
            </a:pPr>
            <a:r>
              <a:rPr lang="en-US" sz="2000" b="1" dirty="0">
                <a:solidFill>
                  <a:srgbClr val="FFFFFF"/>
                </a:solidFill>
                <a:latin typeface="Segoe UI" pitchFamily="34" charset="0"/>
                <a:ea typeface="Segoe UI" pitchFamily="34" charset="-122"/>
                <a:cs typeface="Segoe UI" pitchFamily="34" charset="-120"/>
              </a:rPr>
              <a:t>Java 17</a:t>
            </a:r>
            <a:endParaRPr lang="en-US" sz="2000" dirty="0"/>
          </a:p>
        </p:txBody>
      </p:sp>
      <p:sp>
        <p:nvSpPr>
          <p:cNvPr id="16" name="Text 14"/>
          <p:cNvSpPr txBox="1"/>
          <p:nvPr/>
        </p:nvSpPr>
        <p:spPr>
          <a:xfrm>
            <a:off x="2387600" y="5499100"/>
            <a:ext cx="1778000" cy="177800"/>
          </a:xfrm>
          <a:prstGeom prst="rect">
            <a:avLst/>
          </a:prstGeom>
          <a:noFill/>
          <a:ln/>
        </p:spPr>
        <p:txBody>
          <a:bodyPr wrap="square" lIns="0" tIns="0" rIns="0" bIns="0" rtlCol="0" anchor="t"/>
          <a:lstStyle/>
          <a:p>
            <a:pPr algn="ctr" indent="0" marL="0">
              <a:buNone/>
            </a:pPr>
            <a:r>
              <a:rPr lang="en-US" sz="1000" dirty="0">
                <a:solidFill>
                  <a:srgbClr val="7D8698"/>
                </a:solidFill>
                <a:latin typeface="Segoe UI" pitchFamily="34" charset="0"/>
                <a:ea typeface="Segoe UI" pitchFamily="34" charset="-122"/>
                <a:cs typeface="Segoe UI" pitchFamily="34" charset="-120"/>
              </a:rPr>
              <a:t>Sep 2021</a:t>
            </a:r>
            <a:endParaRPr lang="en-US" sz="1000" dirty="0"/>
          </a:p>
        </p:txBody>
      </p:sp>
      <p:sp>
        <p:nvSpPr>
          <p:cNvPr id="17" name="Shape 15"/>
          <p:cNvSpPr/>
          <p:nvPr/>
        </p:nvSpPr>
        <p:spPr>
          <a:xfrm>
            <a:off x="5067300" y="4864100"/>
            <a:ext cx="177800" cy="177800"/>
          </a:xfrm>
          <a:prstGeom prst="ellipse">
            <a:avLst/>
          </a:prstGeom>
          <a:solidFill>
            <a:srgbClr val="E76F00"/>
          </a:solidFill>
          <a:ln/>
        </p:spPr>
      </p:sp>
      <p:sp>
        <p:nvSpPr>
          <p:cNvPr id="18" name="Text 16"/>
          <p:cNvSpPr txBox="1"/>
          <p:nvPr/>
        </p:nvSpPr>
        <p:spPr>
          <a:xfrm>
            <a:off x="4267200" y="5156200"/>
            <a:ext cx="1778000" cy="355600"/>
          </a:xfrm>
          <a:prstGeom prst="rect">
            <a:avLst/>
          </a:prstGeom>
          <a:noFill/>
          <a:ln/>
        </p:spPr>
        <p:txBody>
          <a:bodyPr wrap="square" lIns="0" tIns="0" rIns="0" bIns="0" rtlCol="0" anchor="t"/>
          <a:lstStyle/>
          <a:p>
            <a:pPr algn="ctr" indent="0" marL="0">
              <a:buNone/>
            </a:pPr>
            <a:r>
              <a:rPr lang="en-US" sz="2000" b="1" dirty="0">
                <a:solidFill>
                  <a:srgbClr val="FFFFFF"/>
                </a:solidFill>
                <a:latin typeface="Segoe UI" pitchFamily="34" charset="0"/>
                <a:ea typeface="Segoe UI" pitchFamily="34" charset="-122"/>
                <a:cs typeface="Segoe UI" pitchFamily="34" charset="-120"/>
              </a:rPr>
              <a:t>Java 21</a:t>
            </a:r>
            <a:endParaRPr lang="en-US" sz="2000" dirty="0"/>
          </a:p>
        </p:txBody>
      </p:sp>
      <p:sp>
        <p:nvSpPr>
          <p:cNvPr id="19" name="Text 17"/>
          <p:cNvSpPr txBox="1"/>
          <p:nvPr/>
        </p:nvSpPr>
        <p:spPr>
          <a:xfrm>
            <a:off x="4267200" y="5499100"/>
            <a:ext cx="1778000" cy="177800"/>
          </a:xfrm>
          <a:prstGeom prst="rect">
            <a:avLst/>
          </a:prstGeom>
          <a:noFill/>
          <a:ln/>
        </p:spPr>
        <p:txBody>
          <a:bodyPr wrap="square" lIns="0" tIns="0" rIns="0" bIns="0" rtlCol="0" anchor="t"/>
          <a:lstStyle/>
          <a:p>
            <a:pPr algn="ctr" indent="0" marL="0">
              <a:buNone/>
            </a:pPr>
            <a:r>
              <a:rPr lang="en-US" sz="1000" dirty="0">
                <a:solidFill>
                  <a:srgbClr val="7D8698"/>
                </a:solidFill>
                <a:latin typeface="Segoe UI" pitchFamily="34" charset="0"/>
                <a:ea typeface="Segoe UI" pitchFamily="34" charset="-122"/>
                <a:cs typeface="Segoe UI" pitchFamily="34" charset="-120"/>
              </a:rPr>
              <a:t>Sep 2023</a:t>
            </a:r>
            <a:endParaRPr lang="en-US" sz="1000" dirty="0"/>
          </a:p>
        </p:txBody>
      </p:sp>
      <p:sp>
        <p:nvSpPr>
          <p:cNvPr id="20" name="Shape 18"/>
          <p:cNvSpPr/>
          <p:nvPr/>
        </p:nvSpPr>
        <p:spPr>
          <a:xfrm>
            <a:off x="6946900" y="4864100"/>
            <a:ext cx="177800" cy="177800"/>
          </a:xfrm>
          <a:prstGeom prst="ellipse">
            <a:avLst/>
          </a:prstGeom>
          <a:solidFill>
            <a:srgbClr val="E76F00"/>
          </a:solidFill>
          <a:ln/>
        </p:spPr>
      </p:sp>
      <p:sp>
        <p:nvSpPr>
          <p:cNvPr id="21" name="Text 19"/>
          <p:cNvSpPr txBox="1"/>
          <p:nvPr/>
        </p:nvSpPr>
        <p:spPr>
          <a:xfrm>
            <a:off x="6146800" y="5156200"/>
            <a:ext cx="1778000" cy="355600"/>
          </a:xfrm>
          <a:prstGeom prst="rect">
            <a:avLst/>
          </a:prstGeom>
          <a:noFill/>
          <a:ln/>
        </p:spPr>
        <p:txBody>
          <a:bodyPr wrap="square" lIns="0" tIns="0" rIns="0" bIns="0" rtlCol="0" anchor="t"/>
          <a:lstStyle/>
          <a:p>
            <a:pPr algn="ctr" indent="0" marL="0">
              <a:buNone/>
            </a:pPr>
            <a:r>
              <a:rPr lang="en-US" sz="2000" b="1" dirty="0">
                <a:solidFill>
                  <a:srgbClr val="FFFFFF"/>
                </a:solidFill>
                <a:latin typeface="Segoe UI" pitchFamily="34" charset="0"/>
                <a:ea typeface="Segoe UI" pitchFamily="34" charset="-122"/>
                <a:cs typeface="Segoe UI" pitchFamily="34" charset="-120"/>
              </a:rPr>
              <a:t>Java 25</a:t>
            </a:r>
            <a:endParaRPr lang="en-US" sz="2000" dirty="0"/>
          </a:p>
        </p:txBody>
      </p:sp>
      <p:sp>
        <p:nvSpPr>
          <p:cNvPr id="22" name="Text 20"/>
          <p:cNvSpPr txBox="1"/>
          <p:nvPr/>
        </p:nvSpPr>
        <p:spPr>
          <a:xfrm>
            <a:off x="6146800" y="5499100"/>
            <a:ext cx="1778000" cy="177800"/>
          </a:xfrm>
          <a:prstGeom prst="rect">
            <a:avLst/>
          </a:prstGeom>
          <a:noFill/>
          <a:ln/>
        </p:spPr>
        <p:txBody>
          <a:bodyPr wrap="square" lIns="0" tIns="0" rIns="0" bIns="0" rtlCol="0" anchor="t"/>
          <a:lstStyle/>
          <a:p>
            <a:pPr algn="ctr" indent="0" marL="0">
              <a:buNone/>
            </a:pPr>
            <a:r>
              <a:rPr lang="en-US" sz="1000" dirty="0">
                <a:solidFill>
                  <a:srgbClr val="7D8698"/>
                </a:solidFill>
                <a:latin typeface="Segoe UI" pitchFamily="34" charset="0"/>
                <a:ea typeface="Segoe UI" pitchFamily="34" charset="-122"/>
                <a:cs typeface="Segoe UI" pitchFamily="34" charset="-120"/>
              </a:rPr>
              <a:t>Sep 2025</a:t>
            </a:r>
            <a:endParaRPr lang="en-US" sz="1000" dirty="0"/>
          </a:p>
        </p:txBody>
      </p:sp>
      <p:sp>
        <p:nvSpPr>
          <p:cNvPr id="23" name="Shape 21"/>
          <p:cNvSpPr/>
          <p:nvPr/>
        </p:nvSpPr>
        <p:spPr>
          <a:xfrm>
            <a:off x="8813800" y="4851400"/>
            <a:ext cx="203200" cy="203200"/>
          </a:xfrm>
          <a:prstGeom prst="ellipse">
            <a:avLst/>
          </a:prstGeom>
          <a:solidFill>
            <a:srgbClr val="173B3C"/>
          </a:solidFill>
          <a:ln w="31750">
            <a:solidFill>
              <a:srgbClr val="4FD1C5"/>
            </a:solidFill>
            <a:prstDash val="solid"/>
          </a:ln>
        </p:spPr>
      </p:sp>
      <p:sp>
        <p:nvSpPr>
          <p:cNvPr id="24" name="Text 22"/>
          <p:cNvSpPr txBox="1"/>
          <p:nvPr/>
        </p:nvSpPr>
        <p:spPr>
          <a:xfrm>
            <a:off x="8026400" y="5156200"/>
            <a:ext cx="1778000" cy="355600"/>
          </a:xfrm>
          <a:prstGeom prst="rect">
            <a:avLst/>
          </a:prstGeom>
          <a:noFill/>
          <a:ln/>
        </p:spPr>
        <p:txBody>
          <a:bodyPr wrap="square" lIns="0" tIns="0" rIns="0" bIns="0" rtlCol="0" anchor="t"/>
          <a:lstStyle/>
          <a:p>
            <a:pPr algn="ctr" indent="0" marL="0">
              <a:buNone/>
            </a:pPr>
            <a:r>
              <a:rPr lang="en-US" sz="2000" b="1" dirty="0">
                <a:solidFill>
                  <a:srgbClr val="4FD1C5"/>
                </a:solidFill>
                <a:latin typeface="Segoe UI" pitchFamily="34" charset="0"/>
                <a:ea typeface="Segoe UI" pitchFamily="34" charset="-122"/>
                <a:cs typeface="Segoe UI" pitchFamily="34" charset="-120"/>
              </a:rPr>
              <a:t>Java 29</a:t>
            </a:r>
            <a:endParaRPr lang="en-US" sz="2000" dirty="0"/>
          </a:p>
        </p:txBody>
      </p:sp>
      <p:sp>
        <p:nvSpPr>
          <p:cNvPr id="25" name="Text 23"/>
          <p:cNvSpPr txBox="1"/>
          <p:nvPr/>
        </p:nvSpPr>
        <p:spPr>
          <a:xfrm>
            <a:off x="8026400" y="5499100"/>
            <a:ext cx="1778000" cy="177800"/>
          </a:xfrm>
          <a:prstGeom prst="rect">
            <a:avLst/>
          </a:prstGeom>
          <a:noFill/>
          <a:ln/>
        </p:spPr>
        <p:txBody>
          <a:bodyPr wrap="square" lIns="0" tIns="0" rIns="0" bIns="0" rtlCol="0" anchor="t"/>
          <a:lstStyle/>
          <a:p>
            <a:pPr algn="ctr" indent="0" marL="0">
              <a:buNone/>
            </a:pPr>
            <a:r>
              <a:rPr lang="en-US" sz="1000" dirty="0">
                <a:solidFill>
                  <a:srgbClr val="4FD1C5"/>
                </a:solidFill>
                <a:latin typeface="Segoe UI" pitchFamily="34" charset="0"/>
                <a:ea typeface="Segoe UI" pitchFamily="34" charset="-122"/>
                <a:cs typeface="Segoe UI" pitchFamily="34" charset="-120"/>
              </a:rPr>
              <a:t>Sep 2027 (planned)</a:t>
            </a:r>
            <a:endParaRPr lang="en-US" sz="1000" dirty="0"/>
          </a:p>
        </p:txBody>
      </p:sp>
      <p:sp>
        <p:nvSpPr>
          <p:cNvPr id="26" name="Shape 24"/>
          <p:cNvSpPr/>
          <p:nvPr/>
        </p:nvSpPr>
        <p:spPr>
          <a:xfrm>
            <a:off x="10693400" y="4851400"/>
            <a:ext cx="203200" cy="203200"/>
          </a:xfrm>
          <a:prstGeom prst="ellipse">
            <a:avLst/>
          </a:prstGeom>
          <a:solidFill>
            <a:srgbClr val="173B3C"/>
          </a:solidFill>
          <a:ln w="31750">
            <a:solidFill>
              <a:srgbClr val="4FD1C5"/>
            </a:solidFill>
            <a:prstDash val="solid"/>
          </a:ln>
        </p:spPr>
      </p:sp>
      <p:sp>
        <p:nvSpPr>
          <p:cNvPr id="27" name="Text 25"/>
          <p:cNvSpPr txBox="1"/>
          <p:nvPr/>
        </p:nvSpPr>
        <p:spPr>
          <a:xfrm>
            <a:off x="9906000" y="5156200"/>
            <a:ext cx="1778000" cy="355600"/>
          </a:xfrm>
          <a:prstGeom prst="rect">
            <a:avLst/>
          </a:prstGeom>
          <a:noFill/>
          <a:ln/>
        </p:spPr>
        <p:txBody>
          <a:bodyPr wrap="square" lIns="0" tIns="0" rIns="0" bIns="0" rtlCol="0" anchor="t"/>
          <a:lstStyle/>
          <a:p>
            <a:pPr algn="ctr" indent="0" marL="0">
              <a:buNone/>
            </a:pPr>
            <a:r>
              <a:rPr lang="en-US" sz="2000" b="1" dirty="0">
                <a:solidFill>
                  <a:srgbClr val="4FD1C5"/>
                </a:solidFill>
                <a:latin typeface="Segoe UI" pitchFamily="34" charset="0"/>
                <a:ea typeface="Segoe UI" pitchFamily="34" charset="-122"/>
                <a:cs typeface="Segoe UI" pitchFamily="34" charset="-120"/>
              </a:rPr>
              <a:t>Java 33</a:t>
            </a:r>
            <a:endParaRPr lang="en-US" sz="2000" dirty="0"/>
          </a:p>
        </p:txBody>
      </p:sp>
      <p:sp>
        <p:nvSpPr>
          <p:cNvPr id="28" name="Text 26"/>
          <p:cNvSpPr txBox="1"/>
          <p:nvPr/>
        </p:nvSpPr>
        <p:spPr>
          <a:xfrm>
            <a:off x="9906000" y="5499100"/>
            <a:ext cx="1778000" cy="177800"/>
          </a:xfrm>
          <a:prstGeom prst="rect">
            <a:avLst/>
          </a:prstGeom>
          <a:noFill/>
          <a:ln/>
        </p:spPr>
        <p:txBody>
          <a:bodyPr wrap="square" lIns="0" tIns="0" rIns="0" bIns="0" rtlCol="0" anchor="t"/>
          <a:lstStyle/>
          <a:p>
            <a:pPr algn="ctr" indent="0" marL="0">
              <a:buNone/>
            </a:pPr>
            <a:r>
              <a:rPr lang="en-US" sz="1000" dirty="0">
                <a:solidFill>
                  <a:srgbClr val="4FD1C5"/>
                </a:solidFill>
                <a:latin typeface="Segoe UI" pitchFamily="34" charset="0"/>
                <a:ea typeface="Segoe UI" pitchFamily="34" charset="-122"/>
                <a:cs typeface="Segoe UI" pitchFamily="34" charset="-120"/>
              </a:rPr>
              <a:t>Sep 2029 (planned)</a:t>
            </a:r>
            <a:endParaRPr lang="en-US" sz="1000" dirty="0"/>
          </a:p>
        </p:txBody>
      </p:sp>
      <p:sp>
        <p:nvSpPr>
          <p:cNvPr id="29" name="Text 27"/>
          <p:cNvSpPr txBox="1"/>
          <p:nvPr/>
        </p:nvSpPr>
        <p:spPr>
          <a:xfrm>
            <a:off x="914400" y="6223000"/>
            <a:ext cx="10160000" cy="165100"/>
          </a:xfrm>
          <a:prstGeom prst="rect">
            <a:avLst/>
          </a:prstGeom>
          <a:noFill/>
          <a:ln/>
        </p:spPr>
        <p:txBody>
          <a:bodyPr wrap="square" lIns="0" tIns="0" rIns="0" bIns="0" rtlCol="0" anchor="t"/>
          <a:lstStyle/>
          <a:p>
            <a:pPr indent="0" marL="0">
              <a:buNone/>
            </a:pPr>
            <a:r>
              <a:rPr lang="en-US" sz="900" dirty="0">
                <a:solidFill>
                  <a:srgbClr val="7D8698"/>
                </a:solidFill>
                <a:latin typeface="Segoe UI" pitchFamily="34" charset="0"/>
                <a:ea typeface="Segoe UI" pitchFamily="34" charset="-122"/>
                <a:cs typeface="Segoe UI" pitchFamily="34" charset="-120"/>
              </a:rPr>
              <a:t>New LTS every two years (Sep). Java 29 and 33 dates follow the published cadence and are planned, not yet released.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String deduplication</a:t>
            </a:r>
            <a:endParaRPr lang="en-US" sz="2400" dirty="0"/>
          </a:p>
        </p:txBody>
      </p:sp>
      <p:sp>
        <p:nvSpPr>
          <p:cNvPr id="3" name="Text 1"/>
          <p:cNvSpPr/>
          <p:nvPr/>
        </p:nvSpPr>
        <p:spPr>
          <a:xfrm>
            <a:off x="9230360" y="381000"/>
            <a:ext cx="250444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192 · MEASURED ON JDK 25</a:t>
            </a:r>
            <a:endParaRPr lang="en-US" sz="1000" dirty="0"/>
          </a:p>
        </p:txBody>
      </p:sp>
      <p:sp>
        <p:nvSpPr>
          <p:cNvPr id="4" name="Text 2"/>
          <p:cNvSpPr txBox="1"/>
          <p:nvPr/>
        </p:nvSpPr>
        <p:spPr>
          <a:xfrm>
            <a:off x="457200" y="812800"/>
            <a:ext cx="8636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Large heaps hold many strings with the same characters. With </a:t>
            </a:r>
            <a:pPr indent="0" marL="0">
              <a:buNone/>
            </a:pPr>
            <a:r>
              <a:rPr lang="en-US" sz="1200" dirty="0">
                <a:solidFill>
                  <a:srgbClr val="5B6475"/>
                </a:solidFill>
                <a:latin typeface="Consolas" pitchFamily="34" charset="0"/>
                <a:ea typeface="Consolas" pitchFamily="34" charset="-122"/>
                <a:cs typeface="Consolas" pitchFamily="34" charset="-120"/>
              </a:rPr>
              <a:t>‑XX:+UseStringDeduplication</a:t>
            </a:r>
            <a:pPr indent="0" marL="0">
              <a:buNone/>
            </a:pPr>
            <a:r>
              <a:rPr lang="en-US" sz="1200" dirty="0">
                <a:solidFill>
                  <a:srgbClr val="5B6475"/>
                </a:solidFill>
                <a:latin typeface="Segoe UI" pitchFamily="34" charset="0"/>
                <a:ea typeface="Segoe UI" pitchFamily="34" charset="-122"/>
                <a:cs typeface="Segoe UI" pitchFamily="34" charset="-120"/>
              </a:rPr>
              <a:t> the GC makes equal strings share one backing array, with no code changes.</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HOW IT WORKS</a:t>
            </a:r>
            <a:endParaRPr lang="en-US" sz="950" dirty="0"/>
          </a:p>
        </p:txBody>
      </p:sp>
      <p:sp>
        <p:nvSpPr>
          <p:cNvPr id="6" name="bullets-E76F00-dedup"/>
          <p:cNvSpPr txBox="1"/>
          <p:nvPr/>
        </p:nvSpPr>
        <p:spPr>
          <a:xfrm>
            <a:off x="457200" y="1651000"/>
            <a:ext cx="5461000" cy="2286000"/>
          </a:xfrm>
          <a:prstGeom prst="rect">
            <a:avLst/>
          </a:prstGeom>
          <a:noFill/>
          <a:ln/>
        </p:spPr>
        <p:txBody>
          <a:bodyPr wrap="square" lIns="0" tIns="0" rIns="0" bIns="0" rtlCol="0" anchor="t"/>
          <a:lstStyle/>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A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String</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is two objects: the String itself (24 B) and its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byte[]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holding the characters.</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Once a string survives a few GCs (age 3 by default), a background thread hashes its array and looks it up in a dedup table.</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If an equal array already exists, the String is pointed at it and the duplicate array becomes garbage.</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The String objects stay distinct: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and identity are unchanged. Unlike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intern()</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your code does nothing.</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Off by default. G1 since Java 8u20 (JEP 192); Serial, Parallel and ZGC since JDK 18.</a:t>
            </a:r>
            <a:endParaRPr lang="en-US" sz="1000" dirty="0"/>
          </a:p>
        </p:txBody>
      </p:sp>
      <p:sp>
        <p:nvSpPr>
          <p:cNvPr id="7" name="Text 5"/>
          <p:cNvSpPr txBox="1"/>
          <p:nvPr/>
        </p:nvSpPr>
        <p:spPr>
          <a:xfrm>
            <a:off x="6223000" y="1397000"/>
            <a:ext cx="50800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WITHOUT</a:t>
            </a:r>
            <a:endParaRPr lang="en-US" sz="950" dirty="0"/>
          </a:p>
        </p:txBody>
      </p:sp>
      <p:sp>
        <p:nvSpPr>
          <p:cNvPr id="8" name="Text 6"/>
          <p:cNvSpPr txBox="1"/>
          <p:nvPr/>
        </p:nvSpPr>
        <p:spPr>
          <a:xfrm>
            <a:off x="6223000" y="1600200"/>
            <a:ext cx="2667000" cy="1524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3 strings → 3 arrays</a:t>
            </a:r>
            <a:endParaRPr lang="en-US" sz="850" dirty="0"/>
          </a:p>
        </p:txBody>
      </p:sp>
      <p:sp>
        <p:nvSpPr>
          <p:cNvPr id="9" name="Text 7"/>
          <p:cNvSpPr/>
          <p:nvPr/>
        </p:nvSpPr>
        <p:spPr>
          <a:xfrm>
            <a:off x="6223000" y="18796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s1</a:t>
            </a:r>
            <a:endParaRPr lang="en-US" sz="800" dirty="0"/>
          </a:p>
        </p:txBody>
      </p:sp>
      <p:sp>
        <p:nvSpPr>
          <p:cNvPr id="10" name="Shape 8"/>
          <p:cNvSpPr/>
          <p:nvPr/>
        </p:nvSpPr>
        <p:spPr>
          <a:xfrm>
            <a:off x="6959600" y="1993900"/>
            <a:ext cx="228600" cy="0"/>
          </a:xfrm>
          <a:prstGeom prst="line">
            <a:avLst/>
          </a:prstGeom>
          <a:noFill/>
          <a:ln w="12700">
            <a:solidFill>
              <a:srgbClr val="5B6475"/>
            </a:solidFill>
            <a:prstDash val="solid"/>
            <a:tailEnd type="triangle"/>
          </a:ln>
        </p:spPr>
      </p:sp>
      <p:sp>
        <p:nvSpPr>
          <p:cNvPr id="11" name="Text 9"/>
          <p:cNvSpPr/>
          <p:nvPr/>
        </p:nvSpPr>
        <p:spPr>
          <a:xfrm>
            <a:off x="7188200" y="1879600"/>
            <a:ext cx="1701800" cy="228600"/>
          </a:xfrm>
          <a:prstGeom prst="roundRect">
            <a:avLst>
              <a:gd name="adj" fmla="val 16667"/>
            </a:avLst>
          </a:prstGeom>
          <a:solidFill>
            <a:srgbClr val="E76F00"/>
          </a:solidFill>
          <a:ln/>
        </p:spPr>
        <p:txBody>
          <a:bodyPr wrap="square" lIns="0" tIns="0" rIns="0" bIns="0" rtlCol="0" anchor="ctr"/>
          <a:lstStyle/>
          <a:p>
            <a:pPr algn="ctr" indent="0" marL="0">
              <a:buNone/>
            </a:pPr>
            <a:r>
              <a:rPr lang="en-US" sz="650" b="1" dirty="0">
                <a:solidFill>
                  <a:srgbClr val="FFFFFF"/>
                </a:solidFill>
                <a:latin typeface="Consolas" pitchFamily="34" charset="0"/>
                <a:ea typeface="Consolas" pitchFamily="34" charset="-122"/>
                <a:cs typeface="Consolas" pitchFamily="34" charset="-120"/>
              </a:rPr>
              <a:t>byte[] "customer-status-42…"</a:t>
            </a:r>
            <a:endParaRPr lang="en-US" sz="650" dirty="0"/>
          </a:p>
        </p:txBody>
      </p:sp>
      <p:sp>
        <p:nvSpPr>
          <p:cNvPr id="12" name="Text 10"/>
          <p:cNvSpPr/>
          <p:nvPr/>
        </p:nvSpPr>
        <p:spPr>
          <a:xfrm>
            <a:off x="6223000" y="22352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s2</a:t>
            </a:r>
            <a:endParaRPr lang="en-US" sz="800" dirty="0"/>
          </a:p>
        </p:txBody>
      </p:sp>
      <p:sp>
        <p:nvSpPr>
          <p:cNvPr id="13" name="Shape 11"/>
          <p:cNvSpPr/>
          <p:nvPr/>
        </p:nvSpPr>
        <p:spPr>
          <a:xfrm>
            <a:off x="6959600" y="2349500"/>
            <a:ext cx="228600" cy="0"/>
          </a:xfrm>
          <a:prstGeom prst="line">
            <a:avLst/>
          </a:prstGeom>
          <a:noFill/>
          <a:ln w="12700">
            <a:solidFill>
              <a:srgbClr val="5B6475"/>
            </a:solidFill>
            <a:prstDash val="solid"/>
            <a:tailEnd type="triangle"/>
          </a:ln>
        </p:spPr>
      </p:sp>
      <p:sp>
        <p:nvSpPr>
          <p:cNvPr id="14" name="Text 12"/>
          <p:cNvSpPr/>
          <p:nvPr/>
        </p:nvSpPr>
        <p:spPr>
          <a:xfrm>
            <a:off x="7188200" y="2235200"/>
            <a:ext cx="1701800" cy="228600"/>
          </a:xfrm>
          <a:prstGeom prst="roundRect">
            <a:avLst>
              <a:gd name="adj" fmla="val 16667"/>
            </a:avLst>
          </a:prstGeom>
          <a:solidFill>
            <a:srgbClr val="E76F00"/>
          </a:solidFill>
          <a:ln/>
        </p:spPr>
        <p:txBody>
          <a:bodyPr wrap="square" lIns="0" tIns="0" rIns="0" bIns="0" rtlCol="0" anchor="ctr"/>
          <a:lstStyle/>
          <a:p>
            <a:pPr algn="ctr" indent="0" marL="0">
              <a:buNone/>
            </a:pPr>
            <a:r>
              <a:rPr lang="en-US" sz="650" b="1" dirty="0">
                <a:solidFill>
                  <a:srgbClr val="FFFFFF"/>
                </a:solidFill>
                <a:latin typeface="Consolas" pitchFamily="34" charset="0"/>
                <a:ea typeface="Consolas" pitchFamily="34" charset="-122"/>
                <a:cs typeface="Consolas" pitchFamily="34" charset="-120"/>
              </a:rPr>
              <a:t>byte[] "customer-status-42…"</a:t>
            </a:r>
            <a:endParaRPr lang="en-US" sz="650" dirty="0"/>
          </a:p>
        </p:txBody>
      </p:sp>
      <p:sp>
        <p:nvSpPr>
          <p:cNvPr id="15" name="Text 13"/>
          <p:cNvSpPr/>
          <p:nvPr/>
        </p:nvSpPr>
        <p:spPr>
          <a:xfrm>
            <a:off x="6223000" y="25908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s3</a:t>
            </a:r>
            <a:endParaRPr lang="en-US" sz="800" dirty="0"/>
          </a:p>
        </p:txBody>
      </p:sp>
      <p:sp>
        <p:nvSpPr>
          <p:cNvPr id="16" name="Shape 14"/>
          <p:cNvSpPr/>
          <p:nvPr/>
        </p:nvSpPr>
        <p:spPr>
          <a:xfrm>
            <a:off x="6959600" y="2705100"/>
            <a:ext cx="228600" cy="0"/>
          </a:xfrm>
          <a:prstGeom prst="line">
            <a:avLst/>
          </a:prstGeom>
          <a:noFill/>
          <a:ln w="12700">
            <a:solidFill>
              <a:srgbClr val="5B6475"/>
            </a:solidFill>
            <a:prstDash val="solid"/>
            <a:tailEnd type="triangle"/>
          </a:ln>
        </p:spPr>
      </p:sp>
      <p:sp>
        <p:nvSpPr>
          <p:cNvPr id="17" name="Text 15"/>
          <p:cNvSpPr/>
          <p:nvPr/>
        </p:nvSpPr>
        <p:spPr>
          <a:xfrm>
            <a:off x="7188200" y="2590800"/>
            <a:ext cx="1701800" cy="228600"/>
          </a:xfrm>
          <a:prstGeom prst="roundRect">
            <a:avLst>
              <a:gd name="adj" fmla="val 16667"/>
            </a:avLst>
          </a:prstGeom>
          <a:solidFill>
            <a:srgbClr val="E76F00"/>
          </a:solidFill>
          <a:ln/>
        </p:spPr>
        <p:txBody>
          <a:bodyPr wrap="square" lIns="0" tIns="0" rIns="0" bIns="0" rtlCol="0" anchor="ctr"/>
          <a:lstStyle/>
          <a:p>
            <a:pPr algn="ctr" indent="0" marL="0">
              <a:buNone/>
            </a:pPr>
            <a:r>
              <a:rPr lang="en-US" sz="650" b="1" dirty="0">
                <a:solidFill>
                  <a:srgbClr val="FFFFFF"/>
                </a:solidFill>
                <a:latin typeface="Consolas" pitchFamily="34" charset="0"/>
                <a:ea typeface="Consolas" pitchFamily="34" charset="-122"/>
                <a:cs typeface="Consolas" pitchFamily="34" charset="-120"/>
              </a:rPr>
              <a:t>byte[] "customer-status-42…"</a:t>
            </a:r>
            <a:endParaRPr lang="en-US" sz="650" dirty="0"/>
          </a:p>
        </p:txBody>
      </p:sp>
      <p:sp>
        <p:nvSpPr>
          <p:cNvPr id="18" name="Text 16"/>
          <p:cNvSpPr txBox="1"/>
          <p:nvPr/>
        </p:nvSpPr>
        <p:spPr>
          <a:xfrm>
            <a:off x="9067800" y="1397000"/>
            <a:ext cx="508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WITH DEDUPLICATION</a:t>
            </a:r>
            <a:endParaRPr lang="en-US" sz="950" dirty="0"/>
          </a:p>
        </p:txBody>
      </p:sp>
      <p:sp>
        <p:nvSpPr>
          <p:cNvPr id="19" name="Text 17"/>
          <p:cNvSpPr txBox="1"/>
          <p:nvPr/>
        </p:nvSpPr>
        <p:spPr>
          <a:xfrm>
            <a:off x="9067800" y="1600200"/>
            <a:ext cx="2667000" cy="1524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3 strings → 1 shared array</a:t>
            </a:r>
            <a:endParaRPr lang="en-US" sz="850" dirty="0"/>
          </a:p>
        </p:txBody>
      </p:sp>
      <p:sp>
        <p:nvSpPr>
          <p:cNvPr id="20" name="Text 18"/>
          <p:cNvSpPr/>
          <p:nvPr/>
        </p:nvSpPr>
        <p:spPr>
          <a:xfrm>
            <a:off x="9067800" y="18796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s1</a:t>
            </a:r>
            <a:endParaRPr lang="en-US" sz="800" dirty="0"/>
          </a:p>
        </p:txBody>
      </p:sp>
      <p:sp>
        <p:nvSpPr>
          <p:cNvPr id="21" name="Shape 19"/>
          <p:cNvSpPr/>
          <p:nvPr/>
        </p:nvSpPr>
        <p:spPr>
          <a:xfrm>
            <a:off x="9804400" y="1993900"/>
            <a:ext cx="228600" cy="355600"/>
          </a:xfrm>
          <a:prstGeom prst="line">
            <a:avLst/>
          </a:prstGeom>
          <a:noFill/>
          <a:ln w="12700">
            <a:solidFill>
              <a:srgbClr val="5B6475"/>
            </a:solidFill>
            <a:prstDash val="solid"/>
            <a:tailEnd type="triangle"/>
          </a:ln>
        </p:spPr>
      </p:sp>
      <p:sp>
        <p:nvSpPr>
          <p:cNvPr id="22" name="Text 20"/>
          <p:cNvSpPr/>
          <p:nvPr/>
        </p:nvSpPr>
        <p:spPr>
          <a:xfrm>
            <a:off x="9067800" y="22352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s2</a:t>
            </a:r>
            <a:endParaRPr lang="en-US" sz="800" dirty="0"/>
          </a:p>
        </p:txBody>
      </p:sp>
      <p:sp>
        <p:nvSpPr>
          <p:cNvPr id="23" name="Shape 21"/>
          <p:cNvSpPr/>
          <p:nvPr/>
        </p:nvSpPr>
        <p:spPr>
          <a:xfrm>
            <a:off x="9804400" y="2349500"/>
            <a:ext cx="228600" cy="127"/>
          </a:xfrm>
          <a:prstGeom prst="line">
            <a:avLst/>
          </a:prstGeom>
          <a:noFill/>
          <a:ln w="12700">
            <a:solidFill>
              <a:srgbClr val="5B6475"/>
            </a:solidFill>
            <a:prstDash val="solid"/>
            <a:tailEnd type="triangle"/>
          </a:ln>
        </p:spPr>
      </p:sp>
      <p:sp>
        <p:nvSpPr>
          <p:cNvPr id="24" name="Text 22"/>
          <p:cNvSpPr/>
          <p:nvPr/>
        </p:nvSpPr>
        <p:spPr>
          <a:xfrm>
            <a:off x="9067800" y="2590800"/>
            <a:ext cx="736600" cy="228600"/>
          </a:xfrm>
          <a:prstGeom prst="roundRect">
            <a:avLst>
              <a:gd name="adj" fmla="val 16667"/>
            </a:avLst>
          </a:prstGeom>
          <a:solidFill>
            <a:srgbClr val="2F6FB0"/>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s3</a:t>
            </a:r>
            <a:endParaRPr lang="en-US" sz="800" dirty="0"/>
          </a:p>
        </p:txBody>
      </p:sp>
      <p:sp>
        <p:nvSpPr>
          <p:cNvPr id="25" name="Shape 23"/>
          <p:cNvSpPr/>
          <p:nvPr/>
        </p:nvSpPr>
        <p:spPr>
          <a:xfrm flipV="1">
            <a:off x="9804400" y="2349500"/>
            <a:ext cx="228600" cy="355600"/>
          </a:xfrm>
          <a:prstGeom prst="line">
            <a:avLst/>
          </a:prstGeom>
          <a:noFill/>
          <a:ln w="12700">
            <a:solidFill>
              <a:srgbClr val="5B6475"/>
            </a:solidFill>
            <a:prstDash val="solid"/>
            <a:tailEnd type="triangle"/>
          </a:ln>
        </p:spPr>
      </p:sp>
      <p:sp>
        <p:nvSpPr>
          <p:cNvPr id="26" name="Text 24"/>
          <p:cNvSpPr/>
          <p:nvPr/>
        </p:nvSpPr>
        <p:spPr>
          <a:xfrm>
            <a:off x="10033000" y="2235200"/>
            <a:ext cx="1701800" cy="228600"/>
          </a:xfrm>
          <a:prstGeom prst="roundRect">
            <a:avLst>
              <a:gd name="adj" fmla="val 16667"/>
            </a:avLst>
          </a:prstGeom>
          <a:solidFill>
            <a:srgbClr val="E76F00"/>
          </a:solidFill>
          <a:ln/>
        </p:spPr>
        <p:txBody>
          <a:bodyPr wrap="square" lIns="0" tIns="0" rIns="0" bIns="0" rtlCol="0" anchor="ctr"/>
          <a:lstStyle/>
          <a:p>
            <a:pPr algn="ctr" indent="0" marL="0">
              <a:buNone/>
            </a:pPr>
            <a:r>
              <a:rPr lang="en-US" sz="650" b="1" dirty="0">
                <a:solidFill>
                  <a:srgbClr val="FFFFFF"/>
                </a:solidFill>
                <a:latin typeface="Consolas" pitchFamily="34" charset="0"/>
                <a:ea typeface="Consolas" pitchFamily="34" charset="-122"/>
                <a:cs typeface="Consolas" pitchFamily="34" charset="-120"/>
              </a:rPr>
              <a:t>byte[] "customer-status-42…"</a:t>
            </a:r>
            <a:endParaRPr lang="en-US" sz="650" dirty="0"/>
          </a:p>
        </p:txBody>
      </p:sp>
      <p:sp>
        <p:nvSpPr>
          <p:cNvPr id="27" name="Text 25"/>
          <p:cNvSpPr/>
          <p:nvPr/>
        </p:nvSpPr>
        <p:spPr>
          <a:xfrm>
            <a:off x="10033000" y="1879600"/>
            <a:ext cx="1701800" cy="228600"/>
          </a:xfrm>
          <a:prstGeom prst="roundRect">
            <a:avLst>
              <a:gd name="adj" fmla="val 16667"/>
            </a:avLst>
          </a:prstGeom>
          <a:solidFill>
            <a:srgbClr val="FFFFFF"/>
          </a:solidFill>
          <a:ln w="12700">
            <a:solidFill>
              <a:srgbClr val="9AA3B2"/>
            </a:solidFill>
            <a:prstDash val="dash"/>
          </a:ln>
        </p:spPr>
        <p:txBody>
          <a:bodyPr wrap="square" lIns="0" tIns="0" rIns="0" bIns="0" rtlCol="0" anchor="ctr"/>
          <a:lstStyle/>
          <a:p>
            <a:pPr algn="ctr" indent="0" marL="0">
              <a:buNone/>
            </a:pPr>
            <a:r>
              <a:rPr lang="en-US" sz="650" dirty="0">
                <a:solidFill>
                  <a:srgbClr val="9AA3B2"/>
                </a:solidFill>
                <a:latin typeface="Consolas" pitchFamily="34" charset="0"/>
                <a:ea typeface="Consolas" pitchFamily="34" charset="-122"/>
                <a:cs typeface="Consolas" pitchFamily="34" charset="-120"/>
              </a:rPr>
              <a:t>byte[] "customer-status-42…"</a:t>
            </a:r>
            <a:endParaRPr lang="en-US" sz="650" dirty="0"/>
          </a:p>
        </p:txBody>
      </p:sp>
      <p:sp>
        <p:nvSpPr>
          <p:cNvPr id="28" name="Text 26"/>
          <p:cNvSpPr/>
          <p:nvPr/>
        </p:nvSpPr>
        <p:spPr>
          <a:xfrm>
            <a:off x="10033000" y="2590800"/>
            <a:ext cx="1701800" cy="228600"/>
          </a:xfrm>
          <a:prstGeom prst="roundRect">
            <a:avLst>
              <a:gd name="adj" fmla="val 16667"/>
            </a:avLst>
          </a:prstGeom>
          <a:solidFill>
            <a:srgbClr val="FFFFFF"/>
          </a:solidFill>
          <a:ln w="12700">
            <a:solidFill>
              <a:srgbClr val="9AA3B2"/>
            </a:solidFill>
            <a:prstDash val="dash"/>
          </a:ln>
        </p:spPr>
        <p:txBody>
          <a:bodyPr wrap="square" lIns="0" tIns="0" rIns="0" bIns="0" rtlCol="0" anchor="ctr"/>
          <a:lstStyle/>
          <a:p>
            <a:pPr algn="ctr" indent="0" marL="0">
              <a:buNone/>
            </a:pPr>
            <a:r>
              <a:rPr lang="en-US" sz="650" dirty="0">
                <a:solidFill>
                  <a:srgbClr val="9AA3B2"/>
                </a:solidFill>
                <a:latin typeface="Consolas" pitchFamily="34" charset="0"/>
                <a:ea typeface="Consolas" pitchFamily="34" charset="-122"/>
                <a:cs typeface="Consolas" pitchFamily="34" charset="-120"/>
              </a:rPr>
              <a:t>byte[] "customer-status-42…"</a:t>
            </a:r>
            <a:endParaRPr lang="en-US" sz="650" dirty="0"/>
          </a:p>
        </p:txBody>
      </p:sp>
      <p:sp>
        <p:nvSpPr>
          <p:cNvPr id="29" name="Text 27"/>
          <p:cNvSpPr txBox="1"/>
          <p:nvPr/>
        </p:nvSpPr>
        <p:spPr>
          <a:xfrm>
            <a:off x="9067800" y="2895600"/>
            <a:ext cx="2667000" cy="152400"/>
          </a:xfrm>
          <a:prstGeom prst="rect">
            <a:avLst/>
          </a:prstGeom>
          <a:noFill/>
          <a:ln/>
        </p:spPr>
        <p:txBody>
          <a:bodyPr wrap="square" lIns="0" tIns="0" rIns="0" bIns="0" rtlCol="0" anchor="t"/>
          <a:lstStyle/>
          <a:p>
            <a:pPr indent="0" marL="0">
              <a:buNone/>
            </a:pPr>
            <a:r>
              <a:rPr lang="en-US" sz="750" dirty="0">
                <a:solidFill>
                  <a:srgbClr val="5B6475"/>
                </a:solidFill>
                <a:latin typeface="Segoe UI" pitchFamily="34" charset="0"/>
                <a:ea typeface="Segoe UI" pitchFamily="34" charset="-122"/>
                <a:cs typeface="Segoe UI" pitchFamily="34" charset="-120"/>
              </a:rPr>
              <a:t>dashed = duplicate arrays reclaimed by the GC</a:t>
            </a:r>
            <a:endParaRPr lang="en-US" sz="750" dirty="0"/>
          </a:p>
        </p:txBody>
      </p:sp>
      <p:sp>
        <p:nvSpPr>
          <p:cNvPr id="30" name="Text 28"/>
          <p:cNvSpPr txBox="1"/>
          <p:nvPr/>
        </p:nvSpPr>
        <p:spPr>
          <a:xfrm>
            <a:off x="6223000" y="3175000"/>
            <a:ext cx="5511800" cy="152400"/>
          </a:xfrm>
          <a:prstGeom prst="rect">
            <a:avLst/>
          </a:prstGeom>
          <a:noFill/>
          <a:ln/>
        </p:spPr>
        <p:txBody>
          <a:bodyPr wrap="square" lIns="0" tIns="0" rIns="0" bIns="0" rtlCol="0" anchor="t"/>
          <a:lstStyle/>
          <a:p>
            <a:pPr indent="0" marL="0">
              <a:buNone/>
            </a:pPr>
            <a:r>
              <a:rPr lang="en-US" sz="850" dirty="0">
                <a:solidFill>
                  <a:srgbClr val="5B6475"/>
                </a:solidFill>
                <a:latin typeface="Consolas" pitchFamily="34" charset="0"/>
                <a:ea typeface="Consolas" pitchFamily="34" charset="-122"/>
                <a:cs typeface="Consolas" pitchFamily="34" charset="-120"/>
              </a:rPr>
              <a:t>s1.equals(s2)</a:t>
            </a:r>
            <a:pPr indent="0" marL="0">
              <a:buNone/>
            </a:pPr>
            <a:r>
              <a:rPr lang="en-US" sz="850" dirty="0">
                <a:solidFill>
                  <a:srgbClr val="5B6475"/>
                </a:solidFill>
                <a:latin typeface="Segoe UI" pitchFamily="34" charset="0"/>
                <a:ea typeface="Segoe UI" pitchFamily="34" charset="-122"/>
                <a:cs typeface="Segoe UI" pitchFamily="34" charset="-120"/>
              </a:rPr>
              <a:t> is true and </a:t>
            </a:r>
            <a:pPr indent="0" marL="0">
              <a:buNone/>
            </a:pPr>
            <a:r>
              <a:rPr lang="en-US" sz="850" dirty="0">
                <a:solidFill>
                  <a:srgbClr val="5B6475"/>
                </a:solidFill>
                <a:latin typeface="Consolas" pitchFamily="34" charset="0"/>
                <a:ea typeface="Consolas" pitchFamily="34" charset="-122"/>
                <a:cs typeface="Consolas" pitchFamily="34" charset="-120"/>
              </a:rPr>
              <a:t>s1 == s2</a:t>
            </a:r>
            <a:pPr indent="0" marL="0">
              <a:buNone/>
            </a:pPr>
            <a:r>
              <a:rPr lang="en-US" sz="850" dirty="0">
                <a:solidFill>
                  <a:srgbClr val="5B6475"/>
                </a:solidFill>
                <a:latin typeface="Segoe UI" pitchFamily="34" charset="0"/>
                <a:ea typeface="Segoe UI" pitchFamily="34" charset="-122"/>
                <a:cs typeface="Segoe UI" pitchFamily="34" charset="-120"/>
              </a:rPr>
              <a:t> stays false in both cases.</a:t>
            </a:r>
            <a:endParaRPr lang="en-US" sz="850" dirty="0"/>
          </a:p>
        </p:txBody>
      </p:sp>
      <p:sp>
        <p:nvSpPr>
          <p:cNvPr id="31" name="Text 29"/>
          <p:cNvSpPr txBox="1"/>
          <p:nvPr/>
        </p:nvSpPr>
        <p:spPr>
          <a:xfrm>
            <a:off x="457200" y="3632200"/>
            <a:ext cx="889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ON JDK 25 (G1): 1M STRINGS, 100 DISTINCT 40-CHARACTER VALUES</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835400"/>
          <a:ext cx="11277600" cy="914400"/>
        </p:xfrm>
        <a:graphic>
          <a:graphicData uri="http://schemas.openxmlformats.org/drawingml/2006/table">
            <a:tbl>
              <a:tblPr/>
              <a:tblGrid>
                <a:gridCol w="2286000"/>
                <a:gridCol w="4495800"/>
                <a:gridCol w="4495800"/>
              </a:tblGrid>
              <a:tr h="0">
                <a:tc>
                  <a:txBody>
                    <a:bodyPr/>
                    <a:lstStyle/>
                    <a:p>
                      <a:pPr indent="0" marL="0">
                        <a:buNone/>
                      </a:pP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C0392B"/>
                          </a:solidFill>
                          <a:latin typeface="Segoe UI" pitchFamily="34" charset="0"/>
                          <a:ea typeface="Segoe UI" pitchFamily="34" charset="-122"/>
                          <a:cs typeface="Segoe UI" pitchFamily="34" charset="-120"/>
                        </a:rPr>
                        <a:t>Without</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With -XX:+UseStringDeduplication</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byte[] arrays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1,009,109</a:t>
                      </a:r>
                      <a:pPr indent="0" marL="0">
                        <a:buNone/>
                      </a:pPr>
                      <a:r>
                        <a:rPr lang="en-US" sz="950" dirty="0">
                          <a:solidFill>
                            <a:srgbClr val="1F2430"/>
                          </a:solidFill>
                          <a:latin typeface="Segoe UI" pitchFamily="34" charset="0"/>
                          <a:ea typeface="Segoe UI" pitchFamily="34" charset="-122"/>
                          <a:cs typeface="Segoe UI" pitchFamily="34" charset="-120"/>
                        </a:rPr>
                        <a:t> arrays · </a:t>
                      </a:r>
                      <a:pPr indent="0" marL="0">
                        <a:buNone/>
                      </a:pPr>
                      <a:r>
                        <a:rPr lang="en-US" sz="950" b="1" dirty="0">
                          <a:solidFill>
                            <a:srgbClr val="1F2430"/>
                          </a:solidFill>
                          <a:latin typeface="Segoe UI" pitchFamily="34" charset="0"/>
                          <a:ea typeface="Segoe UI" pitchFamily="34" charset="-122"/>
                          <a:cs typeface="Segoe UI" pitchFamily="34" charset="-120"/>
                        </a:rPr>
                        <a:t>56.4 MB</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9,168</a:t>
                      </a:r>
                      <a:pPr indent="0" marL="0">
                        <a:buNone/>
                      </a:pPr>
                      <a:r>
                        <a:rPr lang="en-US" sz="950" dirty="0">
                          <a:solidFill>
                            <a:srgbClr val="2E8B57"/>
                          </a:solidFill>
                          <a:latin typeface="Segoe UI" pitchFamily="34" charset="0"/>
                          <a:ea typeface="Segoe UI" pitchFamily="34" charset="-122"/>
                          <a:cs typeface="Segoe UI" pitchFamily="34" charset="-120"/>
                        </a:rPr>
                        <a:t> arrays · </a:t>
                      </a:r>
                      <a:pPr indent="0" marL="0">
                        <a:buNone/>
                      </a:pPr>
                      <a:r>
                        <a:rPr lang="en-US" sz="950" b="1" dirty="0">
                          <a:solidFill>
                            <a:srgbClr val="2E8B57"/>
                          </a:solidFill>
                          <a:latin typeface="Segoe UI" pitchFamily="34" charset="0"/>
                          <a:ea typeface="Segoe UI" pitchFamily="34" charset="-122"/>
                          <a:cs typeface="Segoe UI" pitchFamily="34" charset="-120"/>
                        </a:rPr>
                        <a:t>0.4 MB</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String objects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1,009,025 · 24.2 MB</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1,009,026 · 24.2 MB (unchanged)</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Live heap (class histogram)</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85.7 MB</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29.6 MB</a:t>
                      </a:r>
                      <a:pPr indent="0" marL="0">
                        <a:buNone/>
                      </a:pPr>
                      <a:r>
                        <a:rPr lang="en-US" sz="950" dirty="0">
                          <a:solidFill>
                            <a:srgbClr val="2E8B57"/>
                          </a:solidFill>
                          <a:latin typeface="Segoe UI" pitchFamily="34" charset="0"/>
                          <a:ea typeface="Segoe UI" pitchFamily="34" charset="-122"/>
                          <a:cs typeface="Segoe UI" pitchFamily="34" charset="-120"/>
                        </a:rPr>
                        <a:t>, 65% smaller</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33" name="Shape 30"/>
          <p:cNvSpPr/>
          <p:nvPr/>
        </p:nvSpPr>
        <p:spPr>
          <a:xfrm>
            <a:off x="457200" y="5207000"/>
            <a:ext cx="11277600" cy="889000"/>
          </a:xfrm>
          <a:prstGeom prst="roundRect">
            <a:avLst>
              <a:gd name="adj" fmla="val 8571"/>
            </a:avLst>
          </a:prstGeom>
          <a:solidFill>
            <a:srgbClr val="FDEBDC"/>
          </a:solidFill>
          <a:ln/>
        </p:spPr>
      </p:sp>
      <p:sp>
        <p:nvSpPr>
          <p:cNvPr id="34" name="Text 31"/>
          <p:cNvSpPr txBox="1"/>
          <p:nvPr/>
        </p:nvSpPr>
        <p:spPr>
          <a:xfrm>
            <a:off x="660400" y="5334000"/>
            <a:ext cx="762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TRADE-OFFS</a:t>
            </a:r>
            <a:endParaRPr lang="en-US" sz="950" dirty="0"/>
          </a:p>
        </p:txBody>
      </p:sp>
      <p:sp>
        <p:nvSpPr>
          <p:cNvPr id="35" name="Text 32"/>
          <p:cNvSpPr txBox="1"/>
          <p:nvPr/>
        </p:nvSpPr>
        <p:spPr>
          <a:xfrm>
            <a:off x="660400" y="5549900"/>
            <a:ext cx="10871200" cy="2032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Cost:</a:t>
            </a:r>
            <a:pPr indent="0" marL="0">
              <a:buNone/>
            </a:pPr>
            <a:r>
              <a:rPr lang="en-US" sz="1000" dirty="0">
                <a:solidFill>
                  <a:srgbClr val="1F2430"/>
                </a:solidFill>
                <a:latin typeface="Segoe UI" pitchFamily="34" charset="0"/>
                <a:ea typeface="Segoe UI" pitchFamily="34" charset="-122"/>
                <a:cs typeface="Segoe UI" pitchFamily="34" charset="-120"/>
              </a:rPr>
              <a:t> some background CPU plus a hash table. Short-lived strings are never processed, because only strings that survive several GCs are queued.</a:t>
            </a:r>
            <a:endParaRPr lang="en-US" sz="1000" dirty="0"/>
          </a:p>
        </p:txBody>
      </p:sp>
      <p:sp>
        <p:nvSpPr>
          <p:cNvPr id="36" name="Text 33"/>
          <p:cNvSpPr txBox="1"/>
          <p:nvPr/>
        </p:nvSpPr>
        <p:spPr>
          <a:xfrm>
            <a:off x="660400" y="5791200"/>
            <a:ext cx="10871200" cy="2032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When to use it:</a:t>
            </a:r>
            <a:pPr indent="0" marL="0">
              <a:buNone/>
            </a:pPr>
            <a:r>
              <a:rPr lang="en-US" sz="1000" dirty="0">
                <a:solidFill>
                  <a:srgbClr val="1F2430"/>
                </a:solidFill>
                <a:latin typeface="Segoe UI" pitchFamily="34" charset="0"/>
                <a:ea typeface="Segoe UI" pitchFamily="34" charset="-122"/>
                <a:cs typeface="Segoe UI" pitchFamily="34" charset="-120"/>
              </a:rPr>
              <a:t> heap dumps show many duplicate strings (JSON, CSV, database values). Tune with </a:t>
            </a:r>
            <a:pPr indent="0" marL="0">
              <a:buNone/>
            </a:pPr>
            <a:r>
              <a:rPr lang="en-US" sz="1000" dirty="0">
                <a:solidFill>
                  <a:srgbClr val="1F2430"/>
                </a:solidFill>
                <a:latin typeface="Consolas" pitchFamily="34" charset="0"/>
                <a:ea typeface="Consolas" pitchFamily="34" charset="-122"/>
                <a:cs typeface="Consolas" pitchFamily="34" charset="-120"/>
              </a:rPr>
              <a:t>‑XX:StringDeduplicationAgeThreshold</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Compressed OOPs and the 32 GB limit</a:t>
            </a:r>
            <a:endParaRPr lang="en-US" sz="2400" dirty="0"/>
          </a:p>
        </p:txBody>
      </p:sp>
      <p:sp>
        <p:nvSpPr>
          <p:cNvPr id="3" name="Text 1"/>
          <p:cNvSpPr/>
          <p:nvPr/>
        </p:nvSpPr>
        <p:spPr>
          <a:xfrm>
            <a:off x="8661400" y="381000"/>
            <a:ext cx="30734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64-BIT HOTSPOT · MEASURED ON JDK 25</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An OOP (ordinary object pointer) is a Java reference. On 64-bit HotSpot it would be 8 bytes (64 bits); with </a:t>
            </a:r>
            <a:pPr indent="0" marL="0">
              <a:buNone/>
            </a:pPr>
            <a:r>
              <a:rPr lang="en-US" sz="1200" b="1" dirty="0">
                <a:solidFill>
                  <a:srgbClr val="5B6475"/>
                </a:solidFill>
                <a:latin typeface="Segoe UI" pitchFamily="34" charset="0"/>
                <a:ea typeface="Segoe UI" pitchFamily="34" charset="-122"/>
                <a:cs typeface="Segoe UI" pitchFamily="34" charset="-120"/>
              </a:rPr>
              <a:t>compressed OOPs</a:t>
            </a:r>
            <a:pPr indent="0" marL="0">
              <a:buNone/>
            </a:pPr>
            <a:r>
              <a:rPr lang="en-US" sz="1200" dirty="0">
                <a:solidFill>
                  <a:srgbClr val="5B6475"/>
                </a:solidFill>
                <a:latin typeface="Segoe UI" pitchFamily="34" charset="0"/>
                <a:ea typeface="Segoe UI" pitchFamily="34" charset="-122"/>
                <a:cs typeface="Segoe UI" pitchFamily="34" charset="-120"/>
              </a:rPr>
              <a:t> it is stored in </a:t>
            </a:r>
            <a:pPr indent="0" marL="0">
              <a:buNone/>
            </a:pPr>
            <a:r>
              <a:rPr lang="en-US" sz="1200" b="1" dirty="0">
                <a:solidFill>
                  <a:srgbClr val="5B6475"/>
                </a:solidFill>
                <a:latin typeface="Segoe UI" pitchFamily="34" charset="0"/>
                <a:ea typeface="Segoe UI" pitchFamily="34" charset="-122"/>
                <a:cs typeface="Segoe UI" pitchFamily="34" charset="-120"/>
              </a:rPr>
              <a:t>4 bytes (32 bits)</a:t>
            </a:r>
            <a:pPr indent="0" marL="0">
              <a:buNone/>
            </a:pPr>
            <a:r>
              <a:rPr lang="en-US" sz="1200" dirty="0">
                <a:solidFill>
                  <a:srgbClr val="5B6475"/>
                </a:solidFill>
                <a:latin typeface="Segoe UI" pitchFamily="34" charset="0"/>
                <a:ea typeface="Segoe UI" pitchFamily="34" charset="-122"/>
                <a:cs typeface="Segoe UI" pitchFamily="34" charset="-120"/>
              </a:rPr>
              <a:t>. On by default since Java 6u23, as long as the heap fits.</a:t>
            </a:r>
            <a:endParaRPr lang="en-US" sz="1200" dirty="0"/>
          </a:p>
        </p:txBody>
      </p:sp>
      <p:sp>
        <p:nvSpPr>
          <p:cNvPr id="5" name="Text 3"/>
          <p:cNvSpPr txBox="1"/>
          <p:nvPr/>
        </p:nvSpPr>
        <p:spPr>
          <a:xfrm>
            <a:off x="457200" y="1422400"/>
            <a:ext cx="50800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WHY THE LIMIT IS 32 GB</a:t>
            </a:r>
            <a:endParaRPr lang="en-US" sz="950" dirty="0"/>
          </a:p>
        </p:txBody>
      </p:sp>
      <p:sp>
        <p:nvSpPr>
          <p:cNvPr id="6" name="Shape 4"/>
          <p:cNvSpPr/>
          <p:nvPr/>
        </p:nvSpPr>
        <p:spPr>
          <a:xfrm>
            <a:off x="457200" y="1651000"/>
            <a:ext cx="11277600" cy="899922"/>
          </a:xfrm>
          <a:prstGeom prst="roundRect">
            <a:avLst>
              <a:gd name="adj" fmla="val 8467"/>
            </a:avLst>
          </a:prstGeom>
          <a:solidFill>
            <a:srgbClr val="1E2230"/>
          </a:solidFill>
          <a:ln/>
        </p:spPr>
      </p:sp>
      <p:sp>
        <p:nvSpPr>
          <p:cNvPr id="7" name="Text 5"/>
          <p:cNvSpPr txBox="1"/>
          <p:nvPr/>
        </p:nvSpPr>
        <p:spPr>
          <a:xfrm>
            <a:off x="609600" y="1778000"/>
            <a:ext cx="10972800" cy="645922"/>
          </a:xfrm>
          <a:prstGeom prst="rect">
            <a:avLst/>
          </a:prstGeom>
          <a:noFill/>
          <a:ln/>
        </p:spPr>
        <p:txBody>
          <a:bodyPr wrap="square" lIns="0" tIns="0" rIns="0" bIns="0" rtlCol="0" anchor="t"/>
          <a:lstStyle/>
          <a:p>
            <a:pPr indent="0" marL="0">
              <a:lnSpc>
                <a:spcPts val="1562"/>
              </a:lnSpc>
              <a:buNone/>
            </a:pPr>
            <a:r>
              <a:rPr lang="en-US" sz="1100" dirty="0">
                <a:solidFill>
                  <a:srgbClr val="E6E9EF"/>
                </a:solidFill>
                <a:latin typeface="Consolas" pitchFamily="34" charset="0"/>
                <a:ea typeface="Consolas" pitchFamily="34" charset="-122"/>
                <a:cs typeface="Consolas" pitchFamily="34" charset="-120"/>
              </a:rPr>
              <a:t>2</a:t>
            </a:r>
            <a:pPr indent="0" marL="0">
              <a:lnSpc>
                <a:spcPts val="1562"/>
              </a:lnSpc>
              <a:buNone/>
            </a:pPr>
            <a:r>
              <a:rPr lang="en-US" sz="1100" b="1" dirty="0">
                <a:solidFill>
                  <a:srgbClr val="FFB86C"/>
                </a:solidFill>
                <a:latin typeface="Consolas" pitchFamily="34" charset="0"/>
                <a:ea typeface="Consolas" pitchFamily="34" charset="-122"/>
                <a:cs typeface="Consolas" pitchFamily="34" charset="-120"/>
              </a:rPr>
              <a:t>^32</a:t>
            </a:r>
            <a:pPr indent="0" marL="0">
              <a:lnSpc>
                <a:spcPts val="1562"/>
              </a:lnSpc>
              <a:buNone/>
            </a:pPr>
            <a:r>
              <a:rPr lang="en-US" sz="1100" dirty="0">
                <a:solidFill>
                  <a:srgbClr val="E6E9EF"/>
                </a:solidFill>
                <a:latin typeface="Consolas" pitchFamily="34" charset="0"/>
                <a:ea typeface="Consolas" pitchFamily="34" charset="-122"/>
                <a:cs typeface="Consolas" pitchFamily="34" charset="-120"/>
              </a:rPr>
              <a:t> values      = 4,294,967,296 slots</a:t>
            </a:r>
            <a:endParaRPr lang="en-US" sz="1100" dirty="0"/>
          </a:p>
          <a:p>
            <a:pPr indent="0" marL="0">
              <a:lnSpc>
                <a:spcPts val="1562"/>
              </a:lnSpc>
              <a:buNone/>
            </a:pPr>
            <a:r>
              <a:rPr lang="en-US" sz="1100" dirty="0">
                <a:solidFill>
                  <a:srgbClr val="E6E9EF"/>
                </a:solidFill>
                <a:latin typeface="Consolas" pitchFamily="34" charset="0"/>
                <a:ea typeface="Consolas" pitchFamily="34" charset="-122"/>
                <a:cs typeface="Consolas" pitchFamily="34" charset="-120"/>
              </a:rPr>
              <a:t>× 8 bytes per slot   </a:t>
            </a:r>
            <a:pPr indent="0" marL="0">
              <a:lnSpc>
                <a:spcPts val="1562"/>
              </a:lnSpc>
              <a:buNone/>
            </a:pPr>
            <a:r>
              <a:rPr lang="en-US" sz="1100" dirty="0">
                <a:solidFill>
                  <a:srgbClr val="8A93A6"/>
                </a:solidFill>
                <a:latin typeface="Consolas" pitchFamily="34" charset="0"/>
                <a:ea typeface="Consolas" pitchFamily="34" charset="-122"/>
                <a:cs typeface="Consolas" pitchFamily="34" charset="-120"/>
              </a:rPr>
              <a:t>(8-byte alignment)</a:t>
            </a:r>
            <a:endParaRPr lang="en-US" sz="1100" dirty="0"/>
          </a:p>
          <a:p>
            <a:pPr indent="0" marL="0">
              <a:lnSpc>
                <a:spcPts val="1562"/>
              </a:lnSpc>
              <a:buNone/>
            </a:pPr>
            <a:r>
              <a:rPr lang="en-US" sz="1100" dirty="0">
                <a:solidFill>
                  <a:srgbClr val="E6E9EF"/>
                </a:solidFill>
                <a:latin typeface="Consolas" pitchFamily="34" charset="0"/>
                <a:ea typeface="Consolas" pitchFamily="34" charset="-122"/>
                <a:cs typeface="Consolas" pitchFamily="34" charset="-120"/>
              </a:rPr>
              <a:t>= 34,359,738,368 B   = </a:t>
            </a:r>
            <a:pPr indent="0" marL="0">
              <a:lnSpc>
                <a:spcPts val="1562"/>
              </a:lnSpc>
              <a:buNone/>
            </a:pPr>
            <a:r>
              <a:rPr lang="en-US" sz="1100" b="1" dirty="0">
                <a:solidFill>
                  <a:srgbClr val="FFB86C"/>
                </a:solidFill>
                <a:latin typeface="Consolas" pitchFamily="34" charset="0"/>
                <a:ea typeface="Consolas" pitchFamily="34" charset="-122"/>
                <a:cs typeface="Consolas" pitchFamily="34" charset="-120"/>
              </a:rPr>
              <a:t>32 GB</a:t>
            </a:r>
            <a:endParaRPr lang="en-US" sz="1100" dirty="0"/>
          </a:p>
        </p:txBody>
      </p:sp>
      <p:sp>
        <p:nvSpPr>
          <p:cNvPr id="8" name="Text 6"/>
          <p:cNvSpPr txBox="1"/>
          <p:nvPr/>
        </p:nvSpPr>
        <p:spPr>
          <a:xfrm>
            <a:off x="457200" y="2971800"/>
            <a:ext cx="889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COST OF CROSSING THE LIMIT (JDK 25, JCMD GC.CLASS_HISTOGRAM)</a:t>
            </a:r>
            <a:endParaRPr lang="en-US" sz="950" dirty="0"/>
          </a:p>
        </p:txBody>
      </p:sp>
      <p:sp>
        <p:nvSpPr>
          <p:cNvPr id="9" name="Text 7"/>
          <p:cNvSpPr txBox="1"/>
          <p:nvPr/>
        </p:nvSpPr>
        <p:spPr>
          <a:xfrm>
            <a:off x="1778000" y="38862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0</a:t>
            </a:r>
            <a:endParaRPr lang="en-US" sz="750" dirty="0"/>
          </a:p>
        </p:txBody>
      </p:sp>
      <p:sp>
        <p:nvSpPr>
          <p:cNvPr id="10" name="Text 8"/>
          <p:cNvSpPr txBox="1"/>
          <p:nvPr/>
        </p:nvSpPr>
        <p:spPr>
          <a:xfrm>
            <a:off x="2895600" y="38862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8</a:t>
            </a:r>
            <a:endParaRPr lang="en-US" sz="750" dirty="0"/>
          </a:p>
        </p:txBody>
      </p:sp>
      <p:sp>
        <p:nvSpPr>
          <p:cNvPr id="11" name="Text 9"/>
          <p:cNvSpPr txBox="1"/>
          <p:nvPr/>
        </p:nvSpPr>
        <p:spPr>
          <a:xfrm>
            <a:off x="4013200" y="38862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16</a:t>
            </a:r>
            <a:endParaRPr lang="en-US" sz="750" dirty="0"/>
          </a:p>
        </p:txBody>
      </p:sp>
      <p:sp>
        <p:nvSpPr>
          <p:cNvPr id="12" name="Text 10"/>
          <p:cNvSpPr txBox="1"/>
          <p:nvPr/>
        </p:nvSpPr>
        <p:spPr>
          <a:xfrm>
            <a:off x="5130800" y="38862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24</a:t>
            </a:r>
            <a:endParaRPr lang="en-US" sz="750" dirty="0"/>
          </a:p>
        </p:txBody>
      </p:sp>
      <p:sp>
        <p:nvSpPr>
          <p:cNvPr id="13" name="Text 11"/>
          <p:cNvSpPr txBox="1"/>
          <p:nvPr/>
        </p:nvSpPr>
        <p:spPr>
          <a:xfrm>
            <a:off x="6248400" y="38862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32</a:t>
            </a:r>
            <a:endParaRPr lang="en-US" sz="750" dirty="0"/>
          </a:p>
        </p:txBody>
      </p:sp>
      <p:sp>
        <p:nvSpPr>
          <p:cNvPr id="14" name="Text 12"/>
          <p:cNvSpPr txBox="1"/>
          <p:nvPr/>
        </p:nvSpPr>
        <p:spPr>
          <a:xfrm>
            <a:off x="457200" y="4127500"/>
            <a:ext cx="1397000" cy="177800"/>
          </a:xfrm>
          <a:prstGeom prst="rect">
            <a:avLst/>
          </a:prstGeom>
          <a:noFill/>
          <a:ln/>
        </p:spPr>
        <p:txBody>
          <a:bodyPr wrap="square" lIns="0" tIns="0" rIns="0" bIns="0" rtlCol="0" anchor="t"/>
          <a:lstStyle/>
          <a:p>
            <a:pPr indent="0" marL="0">
              <a:buNone/>
            </a:pPr>
            <a:r>
              <a:rPr lang="en-US" sz="1000" dirty="0">
                <a:solidFill>
                  <a:srgbClr val="1F2430"/>
                </a:solidFill>
                <a:latin typeface="Consolas" pitchFamily="34" charset="0"/>
                <a:ea typeface="Consolas" pitchFamily="34" charset="-122"/>
                <a:cs typeface="Consolas" pitchFamily="34" charset="-120"/>
              </a:rPr>
              <a:t>Node</a:t>
            </a:r>
            <a:pPr indent="0" marL="0">
              <a:buNone/>
            </a:pPr>
            <a:r>
              <a:rPr lang="en-US" sz="1000" dirty="0">
                <a:solidFill>
                  <a:srgbClr val="1F2430"/>
                </a:solidFill>
                <a:latin typeface="Segoe UI" pitchFamily="34" charset="0"/>
                <a:ea typeface="Segoe UI" pitchFamily="34" charset="-122"/>
                <a:cs typeface="Segoe UI" pitchFamily="34" charset="-120"/>
              </a:rPr>
              <a:t> at </a:t>
            </a:r>
            <a:pPr indent="0" marL="0">
              <a:buNone/>
            </a:pPr>
            <a:r>
              <a:rPr lang="en-US" sz="1000" dirty="0">
                <a:solidFill>
                  <a:srgbClr val="1F2430"/>
                </a:solidFill>
                <a:latin typeface="Consolas" pitchFamily="34" charset="0"/>
                <a:ea typeface="Consolas" pitchFamily="34" charset="-122"/>
                <a:cs typeface="Consolas" pitchFamily="34" charset="-120"/>
              </a:rPr>
              <a:t>-Xmx31g</a:t>
            </a:r>
            <a:endParaRPr lang="en-US" sz="1000" dirty="0"/>
          </a:p>
        </p:txBody>
      </p:sp>
      <p:sp>
        <p:nvSpPr>
          <p:cNvPr id="15" name="Text 13"/>
          <p:cNvSpPr/>
          <p:nvPr/>
        </p:nvSpPr>
        <p:spPr>
          <a:xfrm>
            <a:off x="1905000" y="4064000"/>
            <a:ext cx="1676400" cy="2794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header</a:t>
            </a:r>
            <a:endParaRPr lang="en-US" sz="900" dirty="0"/>
          </a:p>
        </p:txBody>
      </p:sp>
      <p:sp>
        <p:nvSpPr>
          <p:cNvPr id="16" name="Text 14"/>
          <p:cNvSpPr/>
          <p:nvPr/>
        </p:nvSpPr>
        <p:spPr>
          <a:xfrm>
            <a:off x="3581400" y="4064000"/>
            <a:ext cx="558800" cy="2794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next</a:t>
            </a:r>
            <a:endParaRPr lang="en-US" sz="900" dirty="0"/>
          </a:p>
        </p:txBody>
      </p:sp>
      <p:sp>
        <p:nvSpPr>
          <p:cNvPr id="17" name="Text 15"/>
          <p:cNvSpPr/>
          <p:nvPr/>
        </p:nvSpPr>
        <p:spPr>
          <a:xfrm>
            <a:off x="4140200" y="4064000"/>
            <a:ext cx="558800" cy="2794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value</a:t>
            </a:r>
            <a:endParaRPr lang="en-US" sz="900" dirty="0"/>
          </a:p>
        </p:txBody>
      </p:sp>
      <p:sp>
        <p:nvSpPr>
          <p:cNvPr id="18" name="Text 16"/>
          <p:cNvSpPr/>
          <p:nvPr/>
        </p:nvSpPr>
        <p:spPr>
          <a:xfrm>
            <a:off x="4699000" y="4064000"/>
            <a:ext cx="558800" cy="279400"/>
          </a:xfrm>
          <a:prstGeom prst="rect">
            <a:avLst/>
          </a:prstGeom>
          <a:solidFill>
            <a:srgbClr val="C9CED8"/>
          </a:solidFill>
          <a:ln w="12700">
            <a:solidFill>
              <a:srgbClr val="FFFFFF"/>
            </a:solidFill>
          </a:ln>
        </p:spPr>
        <p:txBody>
          <a:bodyPr wrap="square" lIns="0" tIns="0" rIns="0" bIns="0" rtlCol="0" anchor="ctr"/>
          <a:lstStyle/>
          <a:p>
            <a:pPr algn="ctr" indent="0" marL="0">
              <a:buNone/>
            </a:pPr>
            <a:r>
              <a:rPr lang="en-US" sz="900" b="1" dirty="0">
                <a:solidFill>
                  <a:srgbClr val="5B6475"/>
                </a:solidFill>
                <a:latin typeface="Segoe UI" pitchFamily="34" charset="0"/>
                <a:ea typeface="Segoe UI" pitchFamily="34" charset="-122"/>
                <a:cs typeface="Segoe UI" pitchFamily="34" charset="-120"/>
              </a:rPr>
              <a:t>pad</a:t>
            </a:r>
            <a:endParaRPr lang="en-US" sz="900" dirty="0"/>
          </a:p>
        </p:txBody>
      </p:sp>
      <p:sp>
        <p:nvSpPr>
          <p:cNvPr id="19" name="Text 17"/>
          <p:cNvSpPr txBox="1"/>
          <p:nvPr/>
        </p:nvSpPr>
        <p:spPr>
          <a:xfrm>
            <a:off x="6527800" y="4127500"/>
            <a:ext cx="5207000" cy="177800"/>
          </a:xfrm>
          <a:prstGeom prst="rect">
            <a:avLst/>
          </a:prstGeom>
          <a:noFill/>
          <a:ln/>
        </p:spPr>
        <p:txBody>
          <a:bodyPr wrap="square" lIns="0" tIns="0" rIns="0" bIns="0" rtlCol="0" anchor="t"/>
          <a:lstStyle/>
          <a:p>
            <a:pPr indent="0" marL="0">
              <a:buNone/>
            </a:pPr>
            <a:r>
              <a:rPr lang="en-US" sz="900" b="1" dirty="0">
                <a:solidFill>
                  <a:srgbClr val="2E8B57"/>
                </a:solidFill>
                <a:latin typeface="Segoe UI" pitchFamily="34" charset="0"/>
                <a:ea typeface="Segoe UI" pitchFamily="34" charset="-122"/>
                <a:cs typeface="Segoe UI" pitchFamily="34" charset="-120"/>
              </a:rPr>
              <a:t>24 B (192 bits)</a:t>
            </a:r>
            <a:pPr indent="0" marL="0">
              <a:buNone/>
            </a:pPr>
            <a:r>
              <a:rPr lang="en-US" sz="900" dirty="0">
                <a:solidFill>
                  <a:srgbClr val="2E8B57"/>
                </a:solidFill>
                <a:latin typeface="Segoe UI" pitchFamily="34" charset="0"/>
                <a:ea typeface="Segoe UI" pitchFamily="34" charset="-122"/>
                <a:cs typeface="Segoe UI" pitchFamily="34" charset="-120"/>
              </a:rPr>
              <a:t> · </a:t>
            </a:r>
            <a:pPr indent="0" marL="0">
              <a:buNone/>
            </a:pPr>
            <a:r>
              <a:rPr lang="en-US" sz="900" dirty="0">
                <a:solidFill>
                  <a:srgbClr val="E76F00"/>
                </a:solidFill>
                <a:latin typeface="Segoe UI" pitchFamily="34" charset="0"/>
                <a:ea typeface="Segoe UI" pitchFamily="34" charset="-122"/>
                <a:cs typeface="Segoe UI" pitchFamily="34" charset="-120"/>
              </a:rPr>
              <a:t>header 12 B (96 bits)</a:t>
            </a:r>
            <a:pPr indent="0" marL="0">
              <a:buNone/>
            </a:pPr>
            <a:r>
              <a:rPr lang="en-US" sz="900" dirty="0">
                <a:solidFill>
                  <a:srgbClr val="2E8B57"/>
                </a:solidFill>
                <a:latin typeface="Segoe UI" pitchFamily="34" charset="0"/>
                <a:ea typeface="Segoe UI" pitchFamily="34" charset="-122"/>
                <a:cs typeface="Segoe UI" pitchFamily="34" charset="-120"/>
              </a:rPr>
              <a:t> · </a:t>
            </a:r>
            <a:pPr indent="0" marL="0">
              <a:buNone/>
            </a:pPr>
            <a:r>
              <a:rPr lang="en-US" sz="900" dirty="0">
                <a:solidFill>
                  <a:srgbClr val="2F6FB0"/>
                </a:solidFill>
                <a:latin typeface="Segoe UI" pitchFamily="34" charset="0"/>
                <a:ea typeface="Segoe UI" pitchFamily="34" charset="-122"/>
                <a:cs typeface="Segoe UI" pitchFamily="34" charset="-120"/>
              </a:rPr>
              <a:t>references 4 B (32 bits)</a:t>
            </a:r>
            <a:pPr indent="0" marL="0">
              <a:buNone/>
            </a:pPr>
            <a:r>
              <a:rPr lang="en-US" sz="900" dirty="0">
                <a:solidFill>
                  <a:srgbClr val="2E8B57"/>
                </a:solidFill>
                <a:latin typeface="Segoe UI" pitchFamily="34" charset="0"/>
                <a:ea typeface="Segoe UI" pitchFamily="34" charset="-122"/>
                <a:cs typeface="Segoe UI" pitchFamily="34" charset="-120"/>
              </a:rPr>
              <a:t> · </a:t>
            </a:r>
            <a:pPr indent="0" marL="0">
              <a:buNone/>
            </a:pPr>
            <a:r>
              <a:rPr lang="en-US" sz="900" dirty="0">
                <a:solidFill>
                  <a:srgbClr val="4A5160"/>
                </a:solidFill>
                <a:latin typeface="Segoe UI" pitchFamily="34" charset="0"/>
                <a:ea typeface="Segoe UI" pitchFamily="34" charset="-122"/>
                <a:cs typeface="Segoe UI" pitchFamily="34" charset="-120"/>
              </a:rPr>
              <a:t>pad 4 B (32 bits)</a:t>
            </a:r>
            <a:endParaRPr lang="en-US" sz="900" dirty="0"/>
          </a:p>
        </p:txBody>
      </p:sp>
      <p:sp>
        <p:nvSpPr>
          <p:cNvPr id="20" name="Text 18"/>
          <p:cNvSpPr txBox="1"/>
          <p:nvPr/>
        </p:nvSpPr>
        <p:spPr>
          <a:xfrm>
            <a:off x="457200" y="4508500"/>
            <a:ext cx="1397000" cy="177800"/>
          </a:xfrm>
          <a:prstGeom prst="rect">
            <a:avLst/>
          </a:prstGeom>
          <a:noFill/>
          <a:ln/>
        </p:spPr>
        <p:txBody>
          <a:bodyPr wrap="square" lIns="0" tIns="0" rIns="0" bIns="0" rtlCol="0" anchor="t"/>
          <a:lstStyle/>
          <a:p>
            <a:pPr indent="0" marL="0">
              <a:buNone/>
            </a:pPr>
            <a:r>
              <a:rPr lang="en-US" sz="1000" dirty="0">
                <a:solidFill>
                  <a:srgbClr val="1F2430"/>
                </a:solidFill>
                <a:latin typeface="Consolas" pitchFamily="34" charset="0"/>
                <a:ea typeface="Consolas" pitchFamily="34" charset="-122"/>
                <a:cs typeface="Consolas" pitchFamily="34" charset="-120"/>
              </a:rPr>
              <a:t>Node</a:t>
            </a:r>
            <a:pPr indent="0" marL="0">
              <a:buNone/>
            </a:pPr>
            <a:r>
              <a:rPr lang="en-US" sz="1000" dirty="0">
                <a:solidFill>
                  <a:srgbClr val="1F2430"/>
                </a:solidFill>
                <a:latin typeface="Segoe UI" pitchFamily="34" charset="0"/>
                <a:ea typeface="Segoe UI" pitchFamily="34" charset="-122"/>
                <a:cs typeface="Segoe UI" pitchFamily="34" charset="-120"/>
              </a:rPr>
              <a:t> at </a:t>
            </a:r>
            <a:pPr indent="0" marL="0">
              <a:buNone/>
            </a:pPr>
            <a:r>
              <a:rPr lang="en-US" sz="1000" dirty="0">
                <a:solidFill>
                  <a:srgbClr val="1F2430"/>
                </a:solidFill>
                <a:latin typeface="Consolas" pitchFamily="34" charset="0"/>
                <a:ea typeface="Consolas" pitchFamily="34" charset="-122"/>
                <a:cs typeface="Consolas" pitchFamily="34" charset="-120"/>
              </a:rPr>
              <a:t>-Xmx32g</a:t>
            </a:r>
            <a:endParaRPr lang="en-US" sz="1000" dirty="0"/>
          </a:p>
        </p:txBody>
      </p:sp>
      <p:sp>
        <p:nvSpPr>
          <p:cNvPr id="21" name="Text 19"/>
          <p:cNvSpPr/>
          <p:nvPr/>
        </p:nvSpPr>
        <p:spPr>
          <a:xfrm>
            <a:off x="1905000" y="4445000"/>
            <a:ext cx="1676400" cy="2794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header</a:t>
            </a:r>
            <a:endParaRPr lang="en-US" sz="900" dirty="0"/>
          </a:p>
        </p:txBody>
      </p:sp>
      <p:sp>
        <p:nvSpPr>
          <p:cNvPr id="22" name="Text 20"/>
          <p:cNvSpPr/>
          <p:nvPr/>
        </p:nvSpPr>
        <p:spPr>
          <a:xfrm>
            <a:off x="3581400" y="4445000"/>
            <a:ext cx="1117600" cy="2794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next</a:t>
            </a:r>
            <a:endParaRPr lang="en-US" sz="900" dirty="0"/>
          </a:p>
        </p:txBody>
      </p:sp>
      <p:sp>
        <p:nvSpPr>
          <p:cNvPr id="23" name="Text 21"/>
          <p:cNvSpPr/>
          <p:nvPr/>
        </p:nvSpPr>
        <p:spPr>
          <a:xfrm>
            <a:off x="4699000" y="4445000"/>
            <a:ext cx="1117600" cy="2794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value</a:t>
            </a:r>
            <a:endParaRPr lang="en-US" sz="900" dirty="0"/>
          </a:p>
        </p:txBody>
      </p:sp>
      <p:sp>
        <p:nvSpPr>
          <p:cNvPr id="24" name="Text 22"/>
          <p:cNvSpPr/>
          <p:nvPr/>
        </p:nvSpPr>
        <p:spPr>
          <a:xfrm>
            <a:off x="5816600" y="4445000"/>
            <a:ext cx="558800" cy="279400"/>
          </a:xfrm>
          <a:prstGeom prst="rect">
            <a:avLst/>
          </a:prstGeom>
          <a:solidFill>
            <a:srgbClr val="C9CED8"/>
          </a:solidFill>
          <a:ln w="12700">
            <a:solidFill>
              <a:srgbClr val="FFFFFF"/>
            </a:solidFill>
          </a:ln>
        </p:spPr>
        <p:txBody>
          <a:bodyPr wrap="square" lIns="0" tIns="0" rIns="0" bIns="0" rtlCol="0" anchor="ctr"/>
          <a:lstStyle/>
          <a:p>
            <a:pPr algn="ctr" indent="0" marL="0">
              <a:buNone/>
            </a:pPr>
            <a:r>
              <a:rPr lang="en-US" sz="900" b="1" dirty="0">
                <a:solidFill>
                  <a:srgbClr val="5B6475"/>
                </a:solidFill>
                <a:latin typeface="Segoe UI" pitchFamily="34" charset="0"/>
                <a:ea typeface="Segoe UI" pitchFamily="34" charset="-122"/>
                <a:cs typeface="Segoe UI" pitchFamily="34" charset="-120"/>
              </a:rPr>
              <a:t>pad</a:t>
            </a:r>
            <a:endParaRPr lang="en-US" sz="900" dirty="0"/>
          </a:p>
        </p:txBody>
      </p:sp>
      <p:sp>
        <p:nvSpPr>
          <p:cNvPr id="25" name="Text 23"/>
          <p:cNvSpPr txBox="1"/>
          <p:nvPr/>
        </p:nvSpPr>
        <p:spPr>
          <a:xfrm>
            <a:off x="6527800" y="4508500"/>
            <a:ext cx="5207000" cy="177800"/>
          </a:xfrm>
          <a:prstGeom prst="rect">
            <a:avLst/>
          </a:prstGeom>
          <a:noFill/>
          <a:ln/>
        </p:spPr>
        <p:txBody>
          <a:bodyPr wrap="square" lIns="0" tIns="0" rIns="0" bIns="0" rtlCol="0" anchor="t"/>
          <a:lstStyle/>
          <a:p>
            <a:pPr indent="0" marL="0">
              <a:buNone/>
            </a:pPr>
            <a:r>
              <a:rPr lang="en-US" sz="900" b="1" dirty="0">
                <a:solidFill>
                  <a:srgbClr val="C0392B"/>
                </a:solidFill>
                <a:latin typeface="Segoe UI" pitchFamily="34" charset="0"/>
                <a:ea typeface="Segoe UI" pitchFamily="34" charset="-122"/>
                <a:cs typeface="Segoe UI" pitchFamily="34" charset="-120"/>
              </a:rPr>
              <a:t>32 B (256 bits)</a:t>
            </a:r>
            <a:pPr indent="0" marL="0">
              <a:buNone/>
            </a:pPr>
            <a:r>
              <a:rPr lang="en-US" sz="900" dirty="0">
                <a:solidFill>
                  <a:srgbClr val="C0392B"/>
                </a:solidFill>
                <a:latin typeface="Segoe UI" pitchFamily="34" charset="0"/>
                <a:ea typeface="Segoe UI" pitchFamily="34" charset="-122"/>
                <a:cs typeface="Segoe UI" pitchFamily="34" charset="-120"/>
              </a:rPr>
              <a:t> · </a:t>
            </a:r>
            <a:pPr indent="0" marL="0">
              <a:buNone/>
            </a:pPr>
            <a:r>
              <a:rPr lang="en-US" sz="900" dirty="0">
                <a:solidFill>
                  <a:srgbClr val="E76F00"/>
                </a:solidFill>
                <a:latin typeface="Segoe UI" pitchFamily="34" charset="0"/>
                <a:ea typeface="Segoe UI" pitchFamily="34" charset="-122"/>
                <a:cs typeface="Segoe UI" pitchFamily="34" charset="-120"/>
              </a:rPr>
              <a:t>header 12 B (96 bits)</a:t>
            </a:r>
            <a:pPr indent="0" marL="0">
              <a:buNone/>
            </a:pPr>
            <a:r>
              <a:rPr lang="en-US" sz="900" dirty="0">
                <a:solidFill>
                  <a:srgbClr val="C0392B"/>
                </a:solidFill>
                <a:latin typeface="Segoe UI" pitchFamily="34" charset="0"/>
                <a:ea typeface="Segoe UI" pitchFamily="34" charset="-122"/>
                <a:cs typeface="Segoe UI" pitchFamily="34" charset="-120"/>
              </a:rPr>
              <a:t> · </a:t>
            </a:r>
            <a:pPr indent="0" marL="0">
              <a:buNone/>
            </a:pPr>
            <a:r>
              <a:rPr lang="en-US" sz="900" dirty="0">
                <a:solidFill>
                  <a:srgbClr val="2F6FB0"/>
                </a:solidFill>
                <a:latin typeface="Segoe UI" pitchFamily="34" charset="0"/>
                <a:ea typeface="Segoe UI" pitchFamily="34" charset="-122"/>
                <a:cs typeface="Segoe UI" pitchFamily="34" charset="-120"/>
              </a:rPr>
              <a:t>references 8 B (64 bits)</a:t>
            </a:r>
            <a:pPr indent="0" marL="0">
              <a:buNone/>
            </a:pPr>
            <a:r>
              <a:rPr lang="en-US" sz="900" dirty="0">
                <a:solidFill>
                  <a:srgbClr val="C0392B"/>
                </a:solidFill>
                <a:latin typeface="Segoe UI" pitchFamily="34" charset="0"/>
                <a:ea typeface="Segoe UI" pitchFamily="34" charset="-122"/>
                <a:cs typeface="Segoe UI" pitchFamily="34" charset="-120"/>
              </a:rPr>
              <a:t> · </a:t>
            </a:r>
            <a:pPr indent="0" marL="0">
              <a:buNone/>
            </a:pPr>
            <a:r>
              <a:rPr lang="en-US" sz="900" dirty="0">
                <a:solidFill>
                  <a:srgbClr val="4A5160"/>
                </a:solidFill>
                <a:latin typeface="Segoe UI" pitchFamily="34" charset="0"/>
                <a:ea typeface="Segoe UI" pitchFamily="34" charset="-122"/>
                <a:cs typeface="Segoe UI" pitchFamily="34" charset="-120"/>
              </a:rPr>
              <a:t>pad 4 B (32 bits)</a:t>
            </a:r>
            <a:pPr indent="0" marL="0">
              <a:buNone/>
            </a:pPr>
            <a:r>
              <a:rPr lang="en-US" sz="900" dirty="0">
                <a:solidFill>
                  <a:srgbClr val="C0392B"/>
                </a:solidFill>
                <a:latin typeface="Segoe UI" pitchFamily="34" charset="0"/>
                <a:ea typeface="Segoe UI" pitchFamily="34" charset="-122"/>
                <a:cs typeface="Segoe UI" pitchFamily="34" charset="-120"/>
              </a:rPr>
              <a:t> · </a:t>
            </a:r>
            <a:pPr indent="0" marL="0">
              <a:buNone/>
            </a:pPr>
            <a:r>
              <a:rPr lang="en-US" sz="900" b="1" dirty="0">
                <a:solidFill>
                  <a:srgbClr val="C0392B"/>
                </a:solidFill>
                <a:latin typeface="Segoe UI" pitchFamily="34" charset="0"/>
                <a:ea typeface="Segoe UI" pitchFamily="34" charset="-122"/>
                <a:cs typeface="Segoe UI" pitchFamily="34" charset="-120"/>
              </a:rPr>
              <a:t>+33%</a:t>
            </a:r>
            <a:endParaRPr lang="en-US" sz="900" dirty="0"/>
          </a:p>
        </p:txBody>
      </p:sp>
      <p:sp>
        <p:nvSpPr>
          <p:cNvPr id="26" name="Text 24"/>
          <p:cNvSpPr txBox="1"/>
          <p:nvPr/>
        </p:nvSpPr>
        <p:spPr>
          <a:xfrm>
            <a:off x="457200" y="3289300"/>
            <a:ext cx="11277600" cy="152400"/>
          </a:xfrm>
          <a:prstGeom prst="rect">
            <a:avLst/>
          </a:prstGeom>
          <a:noFill/>
          <a:ln/>
        </p:spPr>
        <p:txBody>
          <a:bodyPr wrap="square" lIns="0" tIns="0" rIns="0" bIns="0" rtlCol="0" anchor="t"/>
          <a:lstStyle/>
          <a:p>
            <a:pPr indent="0" marL="0">
              <a:buNone/>
            </a:pPr>
            <a:r>
              <a:rPr lang="en-US" sz="900" b="1" dirty="0">
                <a:solidFill>
                  <a:srgbClr val="2F6FB0"/>
                </a:solidFill>
                <a:latin typeface="Consolas" pitchFamily="34" charset="0"/>
                <a:ea typeface="Consolas" pitchFamily="34" charset="-122"/>
                <a:cs typeface="Consolas" pitchFamily="34" charset="-120"/>
              </a:rPr>
              <a:t>class Node { Object next, value; }</a:t>
            </a:r>
            <a:endParaRPr lang="en-US" sz="900" dirty="0"/>
          </a:p>
        </p:txBody>
      </p:sp>
      <p:sp>
        <p:nvSpPr>
          <p:cNvPr id="27" name="Text 25"/>
          <p:cNvSpPr txBox="1"/>
          <p:nvPr/>
        </p:nvSpPr>
        <p:spPr>
          <a:xfrm>
            <a:off x="457200" y="3644900"/>
            <a:ext cx="11277600" cy="152400"/>
          </a:xfrm>
          <a:prstGeom prst="rect">
            <a:avLst/>
          </a:prstGeom>
          <a:noFill/>
          <a:ln/>
        </p:spPr>
        <p:txBody>
          <a:bodyPr wrap="square" lIns="0" tIns="0" rIns="0" bIns="0" rtlCol="0" anchor="t"/>
          <a:lstStyle/>
          <a:p>
            <a:pPr indent="0" marL="0">
              <a:buNone/>
            </a:pPr>
            <a:r>
              <a:rPr lang="en-US" sz="900" dirty="0">
                <a:solidFill>
                  <a:srgbClr val="5B6475"/>
                </a:solidFill>
                <a:latin typeface="Segoe UI" pitchFamily="34" charset="0"/>
                <a:ea typeface="Segoe UI" pitchFamily="34" charset="-122"/>
                <a:cs typeface="Segoe UI" pitchFamily="34" charset="-120"/>
              </a:rPr>
              <a:t>Also measured: </a:t>
            </a:r>
            <a:pPr indent="0" marL="0">
              <a:buNone/>
            </a:pPr>
            <a:r>
              <a:rPr lang="en-US" sz="900" dirty="0">
                <a:solidFill>
                  <a:srgbClr val="5B6475"/>
                </a:solidFill>
                <a:latin typeface="Consolas" pitchFamily="34" charset="0"/>
                <a:ea typeface="Consolas" pitchFamily="34" charset="-122"/>
                <a:cs typeface="Consolas" pitchFamily="34" charset="-120"/>
              </a:rPr>
              <a:t>Object[100_000]</a:t>
            </a:r>
            <a:pPr indent="0" marL="0">
              <a:buNone/>
            </a:pPr>
            <a:r>
              <a:rPr lang="en-US" sz="900" dirty="0">
                <a:solidFill>
                  <a:srgbClr val="5B6475"/>
                </a:solidFill>
                <a:latin typeface="Segoe UI" pitchFamily="34" charset="0"/>
                <a:ea typeface="Segoe UI" pitchFamily="34" charset="-122"/>
                <a:cs typeface="Segoe UI" pitchFamily="34" charset="-120"/>
              </a:rPr>
              <a:t> is 400,016 B at </a:t>
            </a:r>
            <a:pPr indent="0" marL="0">
              <a:buNone/>
            </a:pPr>
            <a:r>
              <a:rPr lang="en-US" sz="900" dirty="0">
                <a:solidFill>
                  <a:srgbClr val="5B6475"/>
                </a:solidFill>
                <a:latin typeface="Consolas" pitchFamily="34" charset="0"/>
                <a:ea typeface="Consolas" pitchFamily="34" charset="-122"/>
                <a:cs typeface="Consolas" pitchFamily="34" charset="-120"/>
              </a:rPr>
              <a:t>-Xmx31g</a:t>
            </a:r>
            <a:pPr indent="0" marL="0">
              <a:buNone/>
            </a:pPr>
            <a:r>
              <a:rPr lang="en-US" sz="900" dirty="0">
                <a:solidFill>
                  <a:srgbClr val="5B6475"/>
                </a:solidFill>
                <a:latin typeface="Segoe UI" pitchFamily="34" charset="0"/>
                <a:ea typeface="Segoe UI" pitchFamily="34" charset="-122"/>
                <a:cs typeface="Segoe UI" pitchFamily="34" charset="-120"/>
              </a:rPr>
              <a:t> and 800,016 B at </a:t>
            </a:r>
            <a:pPr indent="0" marL="0">
              <a:buNone/>
            </a:pPr>
            <a:r>
              <a:rPr lang="en-US" sz="900" dirty="0">
                <a:solidFill>
                  <a:srgbClr val="5B6475"/>
                </a:solidFill>
                <a:latin typeface="Consolas" pitchFamily="34" charset="0"/>
                <a:ea typeface="Consolas" pitchFamily="34" charset="-122"/>
                <a:cs typeface="Consolas" pitchFamily="34" charset="-120"/>
              </a:rPr>
              <a:t>-Xmx32g</a:t>
            </a:r>
            <a:pPr indent="0" marL="0">
              <a:buNone/>
            </a:pPr>
            <a:r>
              <a:rPr lang="en-US" sz="900" dirty="0">
                <a:solidFill>
                  <a:srgbClr val="5B6475"/>
                </a:solidFill>
                <a:latin typeface="Segoe UI" pitchFamily="34" charset="0"/>
                <a:ea typeface="Segoe UI" pitchFamily="34" charset="-122"/>
                <a:cs typeface="Segoe UI" pitchFamily="34" charset="-120"/>
              </a:rPr>
              <a:t> (2×).</a:t>
            </a:r>
            <a:endParaRPr lang="en-US" sz="900" dirty="0"/>
          </a:p>
        </p:txBody>
      </p:sp>
      <p:sp>
        <p:nvSpPr>
          <p:cNvPr id="28" name="Shape 26"/>
          <p:cNvSpPr/>
          <p:nvPr/>
        </p:nvSpPr>
        <p:spPr>
          <a:xfrm>
            <a:off x="457200" y="5080000"/>
            <a:ext cx="11277600" cy="1066800"/>
          </a:xfrm>
          <a:prstGeom prst="roundRect">
            <a:avLst>
              <a:gd name="adj" fmla="val 7143"/>
            </a:avLst>
          </a:prstGeom>
          <a:solidFill>
            <a:srgbClr val="FDEBDC"/>
          </a:solidFill>
          <a:ln/>
        </p:spPr>
      </p:sp>
      <p:sp>
        <p:nvSpPr>
          <p:cNvPr id="29" name="Text 27"/>
          <p:cNvSpPr txBox="1"/>
          <p:nvPr/>
        </p:nvSpPr>
        <p:spPr>
          <a:xfrm>
            <a:off x="660400" y="5232400"/>
            <a:ext cx="762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WHY IT MATTERS</a:t>
            </a:r>
            <a:endParaRPr lang="en-US" sz="950" dirty="0"/>
          </a:p>
        </p:txBody>
      </p:sp>
      <p:sp>
        <p:nvSpPr>
          <p:cNvPr id="30" name="Text 28"/>
          <p:cNvSpPr txBox="1"/>
          <p:nvPr/>
        </p:nvSpPr>
        <p:spPr>
          <a:xfrm>
            <a:off x="660400" y="5486400"/>
            <a:ext cx="10871200" cy="228600"/>
          </a:xfrm>
          <a:prstGeom prst="rect">
            <a:avLst/>
          </a:prstGeom>
          <a:noFill/>
          <a:ln/>
        </p:spPr>
        <p:txBody>
          <a:bodyPr wrap="square" lIns="0" tIns="0" rIns="0" bIns="0" rtlCol="0" anchor="t"/>
          <a:lstStyle/>
          <a:p>
            <a:pPr indent="0" marL="0">
              <a:buNone/>
            </a:pPr>
            <a:r>
              <a:rPr lang="en-US" sz="1100" dirty="0">
                <a:solidFill>
                  <a:srgbClr val="1F2430"/>
                </a:solidFill>
                <a:latin typeface="Segoe UI" pitchFamily="34" charset="0"/>
                <a:ea typeface="Segoe UI" pitchFamily="34" charset="-122"/>
                <a:cs typeface="Segoe UI" pitchFamily="34" charset="-120"/>
              </a:rPr>
              <a:t>Past the limit the JVM silently switches to 8-byte references, so every reference-heavy object grows. A heap just over 32 GB can hold </a:t>
            </a:r>
            <a:pPr indent="0" marL="0">
              <a:buNone/>
            </a:pPr>
            <a:r>
              <a:rPr lang="en-US" sz="1100" b="1" dirty="0">
                <a:solidFill>
                  <a:srgbClr val="1F2430"/>
                </a:solidFill>
                <a:latin typeface="Segoe UI" pitchFamily="34" charset="0"/>
                <a:ea typeface="Segoe UI" pitchFamily="34" charset="-122"/>
                <a:cs typeface="Segoe UI" pitchFamily="34" charset="-120"/>
              </a:rPr>
              <a:t>less live data than a 31 GB heap</a:t>
            </a:r>
            <a:pPr indent="0" marL="0">
              <a:buNone/>
            </a:pPr>
            <a:r>
              <a:rPr lang="en-US" sz="1100" dirty="0">
                <a:solidFill>
                  <a:srgbClr val="1F2430"/>
                </a:solidFill>
                <a:latin typeface="Segoe UI" pitchFamily="34" charset="0"/>
                <a:ea typeface="Segoe UI" pitchFamily="34" charset="-122"/>
                <a:cs typeface="Segoe UI" pitchFamily="34" charset="-120"/>
              </a:rPr>
              <a:t>.</a:t>
            </a:r>
            <a:endParaRPr lang="en-US" sz="1100" dirty="0"/>
          </a:p>
        </p:txBody>
      </p:sp>
      <p:sp>
        <p:nvSpPr>
          <p:cNvPr id="31" name="Text 29"/>
          <p:cNvSpPr txBox="1"/>
          <p:nvPr/>
        </p:nvSpPr>
        <p:spPr>
          <a:xfrm>
            <a:off x="660400" y="5791200"/>
            <a:ext cx="10871200" cy="228600"/>
          </a:xfrm>
          <a:prstGeom prst="rect">
            <a:avLst/>
          </a:prstGeom>
          <a:noFill/>
          <a:ln/>
        </p:spPr>
        <p:txBody>
          <a:bodyPr wrap="square" lIns="0" tIns="0" rIns="0" bIns="0" rtlCol="0" anchor="t"/>
          <a:lstStyle/>
          <a:p>
            <a:pPr indent="0" marL="0">
              <a:buNone/>
            </a:pPr>
            <a:r>
              <a:rPr lang="en-US" sz="1100" b="1" dirty="0">
                <a:solidFill>
                  <a:srgbClr val="1F2430"/>
                </a:solidFill>
                <a:latin typeface="Segoe UI" pitchFamily="34" charset="0"/>
                <a:ea typeface="Segoe UI" pitchFamily="34" charset="-122"/>
                <a:cs typeface="Segoe UI" pitchFamily="34" charset="-120"/>
              </a:rPr>
              <a:t>Rule of thumb:</a:t>
            </a:r>
            <a:pPr indent="0" marL="0">
              <a:buNone/>
            </a:pPr>
            <a:r>
              <a:rPr lang="en-US" sz="1100" dirty="0">
                <a:solidFill>
                  <a:srgbClr val="1F2430"/>
                </a:solidFill>
                <a:latin typeface="Segoe UI" pitchFamily="34" charset="0"/>
                <a:ea typeface="Segoe UI" pitchFamily="34" charset="-122"/>
                <a:cs typeface="Segoe UI" pitchFamily="34" charset="-120"/>
              </a:rPr>
              <a:t> </a:t>
            </a:r>
            <a:pPr indent="0" marL="0">
              <a:buNone/>
            </a:pPr>
            <a:r>
              <a:rPr lang="en-US" sz="1100" b="1" dirty="0">
                <a:solidFill>
                  <a:srgbClr val="2F6FB0"/>
                </a:solidFill>
                <a:latin typeface="Segoe UI" pitchFamily="34" charset="0"/>
                <a:ea typeface="Segoe UI" pitchFamily="34" charset="-122"/>
                <a:cs typeface="Segoe UI" pitchFamily="34" charset="-120"/>
              </a:rPr>
              <a:t>keep </a:t>
            </a:r>
            <a:pPr indent="0" marL="0">
              <a:buNone/>
            </a:pPr>
            <a:r>
              <a:rPr lang="en-US" sz="1100" b="1" dirty="0">
                <a:solidFill>
                  <a:srgbClr val="2F6FB0"/>
                </a:solidFill>
                <a:latin typeface="Consolas" pitchFamily="34" charset="0"/>
                <a:ea typeface="Consolas" pitchFamily="34" charset="-122"/>
                <a:cs typeface="Consolas" pitchFamily="34" charset="-120"/>
              </a:rPr>
              <a:t>-Xmx</a:t>
            </a:r>
            <a:pPr indent="0" marL="0">
              <a:buNone/>
            </a:pPr>
            <a:r>
              <a:rPr lang="en-US" sz="1100" b="1" dirty="0">
                <a:solidFill>
                  <a:srgbClr val="2F6FB0"/>
                </a:solidFill>
                <a:latin typeface="Segoe UI" pitchFamily="34" charset="0"/>
                <a:ea typeface="Segoe UI" pitchFamily="34" charset="-122"/>
                <a:cs typeface="Segoe UI" pitchFamily="34" charset="-120"/>
              </a:rPr>
              <a:t> at or below about 31 GB, or go well beyond 32 GB</a:t>
            </a:r>
            <a:pPr indent="0" marL="0">
              <a:buNone/>
            </a:pPr>
            <a:r>
              <a:rPr lang="en-US" sz="1100" dirty="0">
                <a:solidFill>
                  <a:srgbClr val="1F2430"/>
                </a:solidFill>
                <a:latin typeface="Segoe UI" pitchFamily="34" charset="0"/>
                <a:ea typeface="Segoe UI" pitchFamily="34" charset="-122"/>
                <a:cs typeface="Segoe UI" pitchFamily="34" charset="-120"/>
              </a:rPr>
              <a:t>. </a:t>
            </a:r>
            <a:pPr indent="0" marL="0">
              <a:buNone/>
            </a:pPr>
            <a:r>
              <a:rPr lang="en-US" sz="1100" dirty="0">
                <a:solidFill>
                  <a:srgbClr val="1F2430"/>
                </a:solidFill>
                <a:latin typeface="Consolas" pitchFamily="34" charset="0"/>
                <a:ea typeface="Consolas" pitchFamily="34" charset="-122"/>
                <a:cs typeface="Consolas" pitchFamily="34" charset="-120"/>
              </a:rPr>
              <a:t>‑XX:ObjectAlignmentInBytes=16</a:t>
            </a:r>
            <a:pPr indent="0" marL="0">
              <a:buNone/>
            </a:pPr>
            <a:r>
              <a:rPr lang="en-US" sz="1100" dirty="0">
                <a:solidFill>
                  <a:srgbClr val="1F2430"/>
                </a:solidFill>
                <a:latin typeface="Segoe UI" pitchFamily="34" charset="0"/>
                <a:ea typeface="Segoe UI" pitchFamily="34" charset="-122"/>
                <a:cs typeface="Segoe UI" pitchFamily="34" charset="-120"/>
              </a:rPr>
              <a:t> raises the limit to 64 GB at the cost of more padding.</a:t>
            </a:r>
            <a:endParaRPr lang="en-US" sz="11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Virtual threads vs. C# async/await</a:t>
            </a:r>
            <a:endParaRPr lang="en-US" sz="2400" dirty="0"/>
          </a:p>
        </p:txBody>
      </p:sp>
      <p:sp>
        <p:nvSpPr>
          <p:cNvPr id="3" name="Text 1"/>
          <p:cNvSpPr/>
          <p:nvPr/>
        </p:nvSpPr>
        <p:spPr>
          <a:xfrm>
            <a:off x="9392920" y="381000"/>
            <a:ext cx="23418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444 · FINAL IN JAVA 21</a:t>
            </a:r>
            <a:endParaRPr lang="en-US" sz="1000" dirty="0"/>
          </a:p>
        </p:txBody>
      </p:sp>
      <p:sp>
        <p:nvSpPr>
          <p:cNvPr id="4" name="Text 2"/>
          <p:cNvSpPr txBox="1"/>
          <p:nvPr/>
        </p:nvSpPr>
        <p:spPr>
          <a:xfrm>
            <a:off x="457200" y="812800"/>
            <a:ext cx="7620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Same goal — millions of concurrent I/O tasks without wasting OS threads — reached in opposite ways: C# changes </a:t>
            </a:r>
            <a:pPr indent="0" marL="0">
              <a:buNone/>
            </a:pPr>
            <a:r>
              <a:rPr lang="en-US" sz="1200" b="1" dirty="0">
                <a:solidFill>
                  <a:srgbClr val="5B6475"/>
                </a:solidFill>
                <a:latin typeface="Segoe UI" pitchFamily="34" charset="0"/>
                <a:ea typeface="Segoe UI" pitchFamily="34" charset="-122"/>
                <a:cs typeface="Segoe UI" pitchFamily="34" charset="-120"/>
              </a:rPr>
              <a:t>your code</a:t>
            </a:r>
            <a:pPr indent="0" marL="0">
              <a:buNone/>
            </a:pPr>
            <a:r>
              <a:rPr lang="en-US" sz="1200" dirty="0">
                <a:solidFill>
                  <a:srgbClr val="5B6475"/>
                </a:solidFill>
                <a:latin typeface="Segoe UI" pitchFamily="34" charset="0"/>
                <a:ea typeface="Segoe UI" pitchFamily="34" charset="-122"/>
                <a:cs typeface="Segoe UI" pitchFamily="34" charset="-120"/>
              </a:rPr>
              <a:t>; Java changes </a:t>
            </a:r>
            <a:pPr indent="0" marL="0">
              <a:buNone/>
            </a:pPr>
            <a:r>
              <a:rPr lang="en-US" sz="1200" b="1" dirty="0">
                <a:solidFill>
                  <a:srgbClr val="5B6475"/>
                </a:solidFill>
                <a:latin typeface="Segoe UI" pitchFamily="34" charset="0"/>
                <a:ea typeface="Segoe UI" pitchFamily="34" charset="-122"/>
                <a:cs typeface="Segoe UI" pitchFamily="34" charset="-120"/>
              </a:rPr>
              <a:t>the runtime</a:t>
            </a:r>
            <a:pPr indent="0" marL="0">
              <a:buNone/>
            </a:pPr>
            <a:r>
              <a:rPr lang="en-US" sz="1200" dirty="0">
                <a:solidFill>
                  <a:srgbClr val="5B6475"/>
                </a:solidFill>
                <a:latin typeface="Segoe UI" pitchFamily="34" charset="0"/>
                <a:ea typeface="Segoe UI" pitchFamily="34" charset="-122"/>
                <a:cs typeface="Segoe UI" pitchFamily="34" charset="-120"/>
              </a:rPr>
              <a:t>.</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WHAT A VIRTUAL THREAD IS</a:t>
            </a:r>
            <a:endParaRPr lang="en-US" sz="950" dirty="0"/>
          </a:p>
        </p:txBody>
      </p:sp>
      <p:sp>
        <p:nvSpPr>
          <p:cNvPr id="6" name="bullets-E76F00-vt"/>
          <p:cNvSpPr txBox="1"/>
          <p:nvPr/>
        </p:nvSpPr>
        <p:spPr>
          <a:xfrm>
            <a:off x="457200" y="1651000"/>
            <a:ext cx="3479800" cy="1905000"/>
          </a:xfrm>
          <a:prstGeom prst="rect">
            <a:avLst/>
          </a:prstGeom>
          <a:noFill/>
          <a:ln/>
        </p:spPr>
        <p:txBody>
          <a:bodyPr wrap="square" lIns="0" tIns="0" rIns="0" bIns="0" rtlCol="0" anchor="t"/>
          <a:lstStyle/>
          <a:p>
            <a:pPr marL="165100" indent="-165100">
              <a:lnSpc>
                <a:spcPct val="105000"/>
              </a:lnSpc>
              <a:spcAft>
                <a:spcPts val="400"/>
              </a:spcAft>
              <a:buClr>
                <a:srgbClr val="E76F00"/>
              </a:buClr>
              <a:buSzPct val="100000"/>
              <a:buChar char="●"/>
            </a:pPr>
            <a:r>
              <a:rPr lang="en-US" sz="1050" dirty="0">
                <a:solidFill>
                  <a:srgbClr val="1F2430"/>
                </a:solidFill>
                <a:latin typeface="Segoe UI" pitchFamily="34" charset="0"/>
                <a:ea typeface="Segoe UI" pitchFamily="34" charset="-122"/>
                <a:cs typeface="Segoe UI" pitchFamily="34" charset="-120"/>
              </a:rPr>
              <a:t>A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java.lang.Thread</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managed by the JVM, not the OS — cheap enough to create one per task.</a:t>
            </a:r>
            <a:endParaRPr lang="en-US" sz="1050" dirty="0"/>
          </a:p>
          <a:p>
            <a:pPr marL="165100" indent="-165100">
              <a:lnSpc>
                <a:spcPct val="105000"/>
              </a:lnSpc>
              <a:spcAft>
                <a:spcPts val="400"/>
              </a:spcAft>
              <a:buClr>
                <a:srgbClr val="E76F00"/>
              </a:buClr>
              <a:buSzPct val="100000"/>
              <a:buChar char="●"/>
            </a:pPr>
            <a:r>
              <a:rPr lang="en-US" sz="1050" dirty="0">
                <a:solidFill>
                  <a:srgbClr val="1F2430"/>
                </a:solidFill>
                <a:latin typeface="Segoe UI" pitchFamily="34" charset="0"/>
                <a:ea typeface="Segoe UI" pitchFamily="34" charset="-122"/>
                <a:cs typeface="Segoe UI" pitchFamily="34" charset="-120"/>
              </a:rPr>
              <a:t>Runs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mounted</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on a small pool of carrier (OS) threads.</a:t>
            </a:r>
            <a:endParaRPr lang="en-US" sz="1050" dirty="0"/>
          </a:p>
          <a:p>
            <a:pPr marL="165100" indent="-165100">
              <a:lnSpc>
                <a:spcPct val="105000"/>
              </a:lnSpc>
              <a:spcAft>
                <a:spcPts val="400"/>
              </a:spcAft>
              <a:buClr>
                <a:srgbClr val="E76F00"/>
              </a:buClr>
              <a:buSzPct val="100000"/>
              <a:buChar char="●"/>
            </a:pPr>
            <a:r>
              <a:rPr lang="en-US" sz="1050" dirty="0">
                <a:solidFill>
                  <a:srgbClr val="1F2430"/>
                </a:solidFill>
                <a:latin typeface="Segoe UI" pitchFamily="34" charset="0"/>
                <a:ea typeface="Segoe UI" pitchFamily="34" charset="-122"/>
                <a:cs typeface="Segoe UI" pitchFamily="34" charset="-120"/>
              </a:rPr>
              <a:t>On blocking I/O, the JVM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unmounts</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it: its stack frames move to the heap and the carrier is free to run another virtual thread.</a:t>
            </a:r>
            <a:endParaRPr lang="en-US" sz="1050" dirty="0"/>
          </a:p>
          <a:p>
            <a:pPr marL="165100" indent="-165100">
              <a:lnSpc>
                <a:spcPct val="105000"/>
              </a:lnSpc>
              <a:spcAft>
                <a:spcPts val="400"/>
              </a:spcAft>
              <a:buClr>
                <a:srgbClr val="E76F00"/>
              </a:buClr>
              <a:buSzPct val="100000"/>
              <a:buChar char="●"/>
            </a:pPr>
            <a:r>
              <a:rPr lang="en-US" sz="1050" dirty="0">
                <a:solidFill>
                  <a:srgbClr val="1F2430"/>
                </a:solidFill>
                <a:latin typeface="Segoe UI" pitchFamily="34" charset="0"/>
                <a:ea typeface="Segoe UI" pitchFamily="34" charset="-122"/>
                <a:cs typeface="Segoe UI" pitchFamily="34" charset="-120"/>
              </a:rPr>
              <a:t>When I/O completes, it is remounted and continues from the same line.</a:t>
            </a:r>
            <a:endParaRPr lang="en-US" sz="1050" dirty="0"/>
          </a:p>
        </p:txBody>
      </p:sp>
      <p:sp>
        <p:nvSpPr>
          <p:cNvPr id="7" name="Text 5"/>
          <p:cNvSpPr txBox="1"/>
          <p:nvPr/>
        </p:nvSpPr>
        <p:spPr>
          <a:xfrm>
            <a:off x="41910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TWO MODELS FOR THE SAME PROBLEM</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91000" y="1600200"/>
          <a:ext cx="7543800" cy="914400"/>
        </p:xfrm>
        <a:graphic>
          <a:graphicData uri="http://schemas.openxmlformats.org/drawingml/2006/table">
            <a:tbl>
              <a:tblPr/>
              <a:tblGrid>
                <a:gridCol w="1219200"/>
                <a:gridCol w="3162300"/>
                <a:gridCol w="3162300"/>
              </a:tblGrid>
              <a:tr h="0">
                <a:tc>
                  <a:txBody>
                    <a:bodyPr/>
                    <a:lstStyle/>
                    <a:p>
                      <a:pPr indent="0" marL="0">
                        <a:buNone/>
                      </a:pP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00" b="1" dirty="0">
                          <a:solidFill>
                            <a:srgbClr val="7A4FB5"/>
                          </a:solidFill>
                          <a:latin typeface="Segoe UI" pitchFamily="34" charset="0"/>
                          <a:ea typeface="Segoe UI" pitchFamily="34" charset="-122"/>
                          <a:cs typeface="Segoe UI" pitchFamily="34" charset="-120"/>
                        </a:rPr>
                        <a:t>C# async / await</a:t>
                      </a:r>
                      <a:endParaRPr lang="en-US" sz="100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00" b="1" dirty="0">
                          <a:solidFill>
                            <a:srgbClr val="2F6FB0"/>
                          </a:solidFill>
                          <a:latin typeface="Segoe UI" pitchFamily="34" charset="0"/>
                          <a:ea typeface="Segoe UI" pitchFamily="34" charset="-122"/>
                          <a:cs typeface="Segoe UI" pitchFamily="34" charset="-120"/>
                        </a:rPr>
                        <a:t>Java virtual threads</a:t>
                      </a:r>
                      <a:endParaRPr lang="en-US" sz="100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Invoking</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Consolas" pitchFamily="34" charset="0"/>
                          <a:ea typeface="Consolas" pitchFamily="34" charset="-122"/>
                          <a:cs typeface="Consolas" pitchFamily="34" charset="-120"/>
                        </a:rPr>
                        <a:t>var o = await LoadAsync(id);</a:t>
                      </a:r>
                      <a:pPr indent="0" marL="0">
                        <a:buNone/>
                      </a:pPr>
                      <a:r>
                        <a:rPr lang="en-US" sz="980" dirty="0">
                          <a:solidFill>
                            <a:srgbClr val="1F2430"/>
                          </a:solidFill>
                          <a:latin typeface="Segoe UI" pitchFamily="34" charset="0"/>
                          <a:ea typeface="Segoe UI" pitchFamily="34" charset="-122"/>
                          <a:cs typeface="Segoe UI" pitchFamily="34" charset="-120"/>
                        </a:rPr>
                        <a:t> The caller must be async too; run many at once with </a:t>
                      </a:r>
                      <a:pPr indent="0" marL="0">
                        <a:buNone/>
                      </a:pPr>
                      <a:r>
                        <a:rPr lang="en-US" sz="980" dirty="0">
                          <a:solidFill>
                            <a:srgbClr val="1F2430"/>
                          </a:solidFill>
                          <a:latin typeface="Consolas" pitchFamily="34" charset="0"/>
                          <a:ea typeface="Consolas" pitchFamily="34" charset="-122"/>
                          <a:cs typeface="Consolas" pitchFamily="34" charset="-120"/>
                        </a:rPr>
                        <a:t>Task.WhenAll(…)</a:t>
                      </a:r>
                      <a:pPr indent="0" marL="0">
                        <a:buNone/>
                      </a:pPr>
                      <a:r>
                        <a:rPr lang="en-US" sz="980" dirty="0">
                          <a:solidFill>
                            <a:srgbClr val="1F2430"/>
                          </a:solidFill>
                          <a:latin typeface="Segoe UI" pitchFamily="34" charset="0"/>
                          <a:ea typeface="Segoe UI" pitchFamily="34" charset="-122"/>
                          <a:cs typeface="Segoe UI" pitchFamily="34" charset="-120"/>
                        </a:rPr>
                        <a:t>.</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Consolas" pitchFamily="34" charset="0"/>
                          <a:ea typeface="Consolas" pitchFamily="34" charset="-122"/>
                          <a:cs typeface="Consolas" pitchFamily="34" charset="-120"/>
                        </a:rPr>
                        <a:t>exec.submit(() -&gt; load(id));</a:t>
                      </a:r>
                      <a:pPr indent="0" marL="0">
                        <a:buNone/>
                      </a:pPr>
                      <a:r>
                        <a:rPr lang="en-US" sz="980" dirty="0">
                          <a:solidFill>
                            <a:srgbClr val="1F2430"/>
                          </a:solidFill>
                          <a:latin typeface="Segoe UI" pitchFamily="34" charset="0"/>
                          <a:ea typeface="Segoe UI" pitchFamily="34" charset="-122"/>
                          <a:cs typeface="Segoe UI" pitchFamily="34" charset="-120"/>
                        </a:rPr>
                        <a:t> on </a:t>
                      </a:r>
                      <a:pPr indent="0" marL="0">
                        <a:buNone/>
                      </a:pPr>
                      <a:r>
                        <a:rPr lang="en-US" sz="980" dirty="0">
                          <a:solidFill>
                            <a:srgbClr val="1F2430"/>
                          </a:solidFill>
                          <a:latin typeface="Consolas" pitchFamily="34" charset="0"/>
                          <a:ea typeface="Consolas" pitchFamily="34" charset="-122"/>
                          <a:cs typeface="Consolas" pitchFamily="34" charset="-120"/>
                        </a:rPr>
                        <a:t>Executors.newVirtualThreadPerTaskExecutor()</a:t>
                      </a:r>
                      <a:pPr indent="0" marL="0">
                        <a:buNone/>
                      </a:pPr>
                      <a:r>
                        <a:rPr lang="en-US" sz="980" dirty="0">
                          <a:solidFill>
                            <a:srgbClr val="1F2430"/>
                          </a:solidFill>
                          <a:latin typeface="Segoe UI" pitchFamily="34" charset="0"/>
                          <a:ea typeface="Segoe UI" pitchFamily="34" charset="-122"/>
                          <a:cs typeface="Segoe UI" pitchFamily="34" charset="-120"/>
                        </a:rPr>
                        <a:t>; inside, call </a:t>
                      </a:r>
                      <a:pPr indent="0" marL="0">
                        <a:buNone/>
                      </a:pPr>
                      <a:r>
                        <a:rPr lang="en-US" sz="980" dirty="0">
                          <a:solidFill>
                            <a:srgbClr val="1F2430"/>
                          </a:solidFill>
                          <a:latin typeface="Consolas" pitchFamily="34" charset="0"/>
                          <a:ea typeface="Consolas" pitchFamily="34" charset="-122"/>
                          <a:cs typeface="Consolas" pitchFamily="34" charset="-120"/>
                        </a:rPr>
                        <a:t>load(id)</a:t>
                      </a:r>
                      <a:pPr indent="0" marL="0">
                        <a:buNone/>
                      </a:pPr>
                      <a:r>
                        <a:rPr lang="en-US" sz="980" dirty="0">
                          <a:solidFill>
                            <a:srgbClr val="1F2430"/>
                          </a:solidFill>
                          <a:latin typeface="Segoe UI" pitchFamily="34" charset="0"/>
                          <a:ea typeface="Segoe UI" pitchFamily="34" charset="-122"/>
                          <a:cs typeface="Segoe UI" pitchFamily="34" charset="-120"/>
                        </a:rPr>
                        <a:t> directly.</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Version and Year</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b="1" dirty="0">
                          <a:solidFill>
                            <a:srgbClr val="1F2430"/>
                          </a:solidFill>
                          <a:latin typeface="Segoe UI" pitchFamily="34" charset="0"/>
                          <a:ea typeface="Segoe UI" pitchFamily="34" charset="-122"/>
                          <a:cs typeface="Segoe UI" pitchFamily="34" charset="-120"/>
                        </a:rPr>
                        <a:t>C# 5.0</a:t>
                      </a:r>
                      <a:pPr indent="0" marL="0">
                        <a:buNone/>
                      </a:pPr>
                      <a:r>
                        <a:rPr lang="en-US" sz="980" dirty="0">
                          <a:solidFill>
                            <a:srgbClr val="1F2430"/>
                          </a:solidFill>
                          <a:latin typeface="Segoe UI" pitchFamily="34" charset="0"/>
                          <a:ea typeface="Segoe UI" pitchFamily="34" charset="-122"/>
                          <a:cs typeface="Segoe UI" pitchFamily="34" charset="-120"/>
                        </a:rPr>
                        <a:t> with .NET Framework 4.5 — </a:t>
                      </a:r>
                      <a:pPr indent="0" marL="0">
                        <a:buNone/>
                      </a:pPr>
                      <a:r>
                        <a:rPr lang="en-US" sz="980" b="1" dirty="0">
                          <a:solidFill>
                            <a:srgbClr val="1F2430"/>
                          </a:solidFill>
                          <a:latin typeface="Segoe UI" pitchFamily="34" charset="0"/>
                          <a:ea typeface="Segoe UI" pitchFamily="34" charset="-122"/>
                          <a:cs typeface="Segoe UI" pitchFamily="34" charset="-120"/>
                        </a:rPr>
                        <a:t>2012</a:t>
                      </a:r>
                      <a:pPr indent="0" marL="0">
                        <a:buNone/>
                      </a:pPr>
                      <a:r>
                        <a:rPr lang="en-US" sz="980" dirty="0">
                          <a:solidFill>
                            <a:srgbClr val="1F2430"/>
                          </a:solidFill>
                          <a:latin typeface="Segoe UI" pitchFamily="34" charset="0"/>
                          <a:ea typeface="Segoe UI" pitchFamily="34" charset="-122"/>
                          <a:cs typeface="Segoe UI" pitchFamily="34" charset="-120"/>
                        </a:rPr>
                        <a:t>.</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b="1" dirty="0">
                          <a:solidFill>
                            <a:srgbClr val="1F2430"/>
                          </a:solidFill>
                          <a:latin typeface="Segoe UI" pitchFamily="34" charset="0"/>
                          <a:ea typeface="Segoe UI" pitchFamily="34" charset="-122"/>
                          <a:cs typeface="Segoe UI" pitchFamily="34" charset="-120"/>
                        </a:rPr>
                        <a:t>Java 21</a:t>
                      </a:r>
                      <a:pPr indent="0" marL="0">
                        <a:buNone/>
                      </a:pPr>
                      <a:r>
                        <a:rPr lang="en-US" sz="980" dirty="0">
                          <a:solidFill>
                            <a:srgbClr val="1F2430"/>
                          </a:solidFill>
                          <a:latin typeface="Segoe UI" pitchFamily="34" charset="0"/>
                          <a:ea typeface="Segoe UI" pitchFamily="34" charset="-122"/>
                          <a:cs typeface="Segoe UI" pitchFamily="34" charset="-120"/>
                        </a:rPr>
                        <a:t> — </a:t>
                      </a:r>
                      <a:pPr indent="0" marL="0">
                        <a:buNone/>
                      </a:pPr>
                      <a:r>
                        <a:rPr lang="en-US" sz="980" b="1" dirty="0">
                          <a:solidFill>
                            <a:srgbClr val="1F2430"/>
                          </a:solidFill>
                          <a:latin typeface="Segoe UI" pitchFamily="34" charset="0"/>
                          <a:ea typeface="Segoe UI" pitchFamily="34" charset="-122"/>
                          <a:cs typeface="Segoe UI" pitchFamily="34" charset="-120"/>
                        </a:rPr>
                        <a:t>2023</a:t>
                      </a:r>
                      <a:pPr indent="0" marL="0">
                        <a:buNone/>
                      </a:pPr>
                      <a:r>
                        <a:rPr lang="en-US" sz="980" dirty="0">
                          <a:solidFill>
                            <a:srgbClr val="1F2430"/>
                          </a:solidFill>
                          <a:latin typeface="Segoe UI" pitchFamily="34" charset="0"/>
                          <a:ea typeface="Segoe UI" pitchFamily="34" charset="-122"/>
                          <a:cs typeface="Segoe UI" pitchFamily="34" charset="-120"/>
                        </a:rPr>
                        <a:t> (preview in Java 19, 2022).</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Mechanism</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Compiler rewrites each async method into a </a:t>
                      </a:r>
                      <a:pPr indent="0" marL="0">
                        <a:buNone/>
                      </a:pPr>
                      <a:r>
                        <a:rPr lang="en-US" sz="980" b="1" dirty="0">
                          <a:solidFill>
                            <a:srgbClr val="1F2430"/>
                          </a:solidFill>
                          <a:latin typeface="Segoe UI" pitchFamily="34" charset="0"/>
                          <a:ea typeface="Segoe UI" pitchFamily="34" charset="-122"/>
                          <a:cs typeface="Segoe UI" pitchFamily="34" charset="-120"/>
                        </a:rPr>
                        <a:t>state machine</a:t>
                      </a:r>
                      <a:pPr indent="0" marL="0">
                        <a:buNone/>
                      </a:pPr>
                      <a:r>
                        <a:rPr lang="en-US" sz="980" dirty="0">
                          <a:solidFill>
                            <a:srgbClr val="1F2430"/>
                          </a:solidFill>
                          <a:latin typeface="Segoe UI" pitchFamily="34" charset="0"/>
                          <a:ea typeface="Segoe UI" pitchFamily="34" charset="-122"/>
                          <a:cs typeface="Segoe UI" pitchFamily="34" charset="-120"/>
                        </a:rPr>
                        <a:t> (stackless).</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JVM suspends the </a:t>
                      </a:r>
                      <a:pPr indent="0" marL="0">
                        <a:buNone/>
                      </a:pPr>
                      <a:r>
                        <a:rPr lang="en-US" sz="980" b="1" dirty="0">
                          <a:solidFill>
                            <a:srgbClr val="1F2430"/>
                          </a:solidFill>
                          <a:latin typeface="Segoe UI" pitchFamily="34" charset="0"/>
                          <a:ea typeface="Segoe UI" pitchFamily="34" charset="-122"/>
                          <a:cs typeface="Segoe UI" pitchFamily="34" charset="-120"/>
                        </a:rPr>
                        <a:t>whole thread stack</a:t>
                      </a:r>
                      <a:pPr indent="0" marL="0">
                        <a:buNone/>
                      </a:pPr>
                      <a:r>
                        <a:rPr lang="en-US" sz="980" dirty="0">
                          <a:solidFill>
                            <a:srgbClr val="1F2430"/>
                          </a:solidFill>
                          <a:latin typeface="Segoe UI" pitchFamily="34" charset="0"/>
                          <a:ea typeface="Segoe UI" pitchFamily="34" charset="-122"/>
                          <a:cs typeface="Segoe UI" pitchFamily="34" charset="-120"/>
                        </a:rPr>
                        <a:t> (stackful continuation).</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Your code</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async/await + Task&lt;T&gt; spread up every caller (“function coloring”).</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Plain blocking code. No new keywords or return types.</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Blocking I/O</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Consolas" pitchFamily="34" charset="0"/>
                          <a:ea typeface="Consolas" pitchFamily="34" charset="-122"/>
                          <a:cs typeface="Consolas" pitchFamily="34" charset="-120"/>
                        </a:rPr>
                        <a:t>await http.GetAsync(url)</a:t>
                      </a:r>
                      <a:pPr indent="0" marL="0">
                        <a:buNone/>
                      </a:pPr>
                      <a:r>
                        <a:rPr lang="en-US" sz="980" dirty="0">
                          <a:solidFill>
                            <a:srgbClr val="1F2430"/>
                          </a:solidFill>
                          <a:latin typeface="Segoe UI" pitchFamily="34" charset="0"/>
                          <a:ea typeface="Segoe UI" pitchFamily="34" charset="-122"/>
                          <a:cs typeface="Segoe UI" pitchFamily="34" charset="-120"/>
                        </a:rPr>
                        <a:t> returns the thread to the pool; the rest of the method runs later as a callback.</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Consolas" pitchFamily="34" charset="0"/>
                          <a:ea typeface="Consolas" pitchFamily="34" charset="-122"/>
                          <a:cs typeface="Consolas" pitchFamily="34" charset="-120"/>
                        </a:rPr>
                        <a:t>http.send(req, …)</a:t>
                      </a:r>
                      <a:pPr indent="0" marL="0">
                        <a:buNone/>
                      </a:pPr>
                      <a:r>
                        <a:rPr lang="en-US" sz="980" dirty="0">
                          <a:solidFill>
                            <a:srgbClr val="1F2430"/>
                          </a:solidFill>
                          <a:latin typeface="Segoe UI" pitchFamily="34" charset="0"/>
                          <a:ea typeface="Segoe UI" pitchFamily="34" charset="-122"/>
                          <a:cs typeface="Segoe UI" pitchFamily="34" charset="-120"/>
                        </a:rPr>
                        <a:t> just blocks; the JVM parks the virtual thread and frees the carrier.</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80" b="1" dirty="0">
                          <a:solidFill>
                            <a:srgbClr val="5B6475"/>
                          </a:solidFill>
                          <a:latin typeface="Segoe UI" pitchFamily="34" charset="0"/>
                          <a:ea typeface="Segoe UI" pitchFamily="34" charset="-122"/>
                          <a:cs typeface="Segoe UI" pitchFamily="34" charset="-120"/>
                        </a:rPr>
                        <a:t>Libraries</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Need separate …Async APIs.</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80" dirty="0">
                          <a:solidFill>
                            <a:srgbClr val="1F2430"/>
                          </a:solidFill>
                          <a:latin typeface="Segoe UI" pitchFamily="34" charset="0"/>
                          <a:ea typeface="Segoe UI" pitchFamily="34" charset="-122"/>
                          <a:cs typeface="Segoe UI" pitchFamily="34" charset="-120"/>
                        </a:rPr>
                        <a:t>Existing JDBC, HTTP, sockets, locks just work.</a:t>
                      </a:r>
                      <a:endParaRPr lang="en-US" sz="98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9" name="Text 6"/>
          <p:cNvSpPr txBox="1"/>
          <p:nvPr/>
        </p:nvSpPr>
        <p:spPr>
          <a:xfrm>
            <a:off x="457200" y="4495800"/>
            <a:ext cx="508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WHY STACK TRACES STAY READABLE</a:t>
            </a:r>
            <a:endParaRPr lang="en-US" sz="950" dirty="0"/>
          </a:p>
        </p:txBody>
      </p:sp>
      <p:sp>
        <p:nvSpPr>
          <p:cNvPr id="10" name="Text 7"/>
          <p:cNvSpPr txBox="1"/>
          <p:nvPr/>
        </p:nvSpPr>
        <p:spPr>
          <a:xfrm>
            <a:off x="457200" y="4699000"/>
            <a:ext cx="11277600" cy="431800"/>
          </a:xfrm>
          <a:prstGeom prst="rect">
            <a:avLst/>
          </a:prstGeom>
          <a:noFill/>
          <a:ln/>
        </p:spPr>
        <p:txBody>
          <a:bodyPr wrap="square" lIns="0" tIns="0" rIns="0" bIns="0" rtlCol="0" anchor="t"/>
          <a:lstStyle/>
          <a:p>
            <a:pPr indent="0" marL="0">
              <a:buNone/>
            </a:pPr>
            <a:r>
              <a:rPr lang="en-US" sz="1050" dirty="0">
                <a:solidFill>
                  <a:srgbClr val="5B6475"/>
                </a:solidFill>
                <a:latin typeface="Segoe UI" pitchFamily="34" charset="0"/>
                <a:ea typeface="Segoe UI" pitchFamily="34" charset="-122"/>
                <a:cs typeface="Segoe UI" pitchFamily="34" charset="-120"/>
              </a:rPr>
              <a:t>An awaiting C# method has </a:t>
            </a:r>
            <a:pPr indent="0" marL="0">
              <a:buNone/>
            </a:pPr>
            <a:r>
              <a:rPr lang="en-US" sz="1050" b="1" dirty="0">
                <a:solidFill>
                  <a:srgbClr val="5B6475"/>
                </a:solidFill>
                <a:latin typeface="Segoe UI" pitchFamily="34" charset="0"/>
                <a:ea typeface="Segoe UI" pitchFamily="34" charset="-122"/>
                <a:cs typeface="Segoe UI" pitchFamily="34" charset="-120"/>
              </a:rPr>
              <a:t>no stack</a:t>
            </a:r>
            <a:pPr indent="0" marL="0">
              <a:buNone/>
            </a:pPr>
            <a:r>
              <a:rPr lang="en-US" sz="1050" dirty="0">
                <a:solidFill>
                  <a:srgbClr val="5B6475"/>
                </a:solidFill>
                <a:latin typeface="Segoe UI" pitchFamily="34" charset="0"/>
                <a:ea typeface="Segoe UI" pitchFamily="34" charset="-122"/>
                <a:cs typeface="Segoe UI" pitchFamily="34" charset="-120"/>
              </a:rPr>
              <a:t> — just a heap object with a continuation. A parked virtual thread </a:t>
            </a:r>
            <a:pPr indent="0" marL="0">
              <a:buNone/>
            </a:pPr>
            <a:r>
              <a:rPr lang="en-US" sz="1050" b="1" dirty="0">
                <a:solidFill>
                  <a:srgbClr val="5B6475"/>
                </a:solidFill>
                <a:latin typeface="Segoe UI" pitchFamily="34" charset="0"/>
                <a:ea typeface="Segoe UI" pitchFamily="34" charset="-122"/>
                <a:cs typeface="Segoe UI" pitchFamily="34" charset="-120"/>
              </a:rPr>
              <a:t>keeps its real stack</a:t>
            </a:r>
            <a:pPr indent="0" marL="0">
              <a:buNone/>
            </a:pPr>
            <a:r>
              <a:rPr lang="en-US" sz="1050" dirty="0">
                <a:solidFill>
                  <a:srgbClr val="5B6475"/>
                </a:solidFill>
                <a:latin typeface="Segoe UI" pitchFamily="34" charset="0"/>
                <a:ea typeface="Segoe UI" pitchFamily="34" charset="-122"/>
                <a:cs typeface="Segoe UI" pitchFamily="34" charset="-120"/>
              </a:rPr>
              <a:t>, so exceptions, debuggers, profilers and thread dumps (</a:t>
            </a:r>
            <a:pPr indent="0" marL="0">
              <a:buNone/>
            </a:pPr>
            <a:r>
              <a:rPr lang="en-US" sz="1050" dirty="0">
                <a:solidFill>
                  <a:srgbClr val="5B6475"/>
                </a:solidFill>
                <a:latin typeface="Consolas" pitchFamily="34" charset="0"/>
                <a:ea typeface="Consolas" pitchFamily="34" charset="-122"/>
                <a:cs typeface="Consolas" pitchFamily="34" charset="-120"/>
              </a:rPr>
              <a:t>jcmd &lt;pid&gt; Thread.dump_to_file</a:t>
            </a:r>
            <a:pPr indent="0" marL="0">
              <a:buNone/>
            </a:pPr>
            <a:r>
              <a:rPr lang="en-US" sz="1050" dirty="0">
                <a:solidFill>
                  <a:srgbClr val="5B6475"/>
                </a:solidFill>
                <a:latin typeface="Segoe UI" pitchFamily="34" charset="0"/>
                <a:ea typeface="Segoe UI" pitchFamily="34" charset="-122"/>
                <a:cs typeface="Segoe UI" pitchFamily="34" charset="-120"/>
              </a:rPr>
              <a:t>) show the true call chain.</a:t>
            </a:r>
            <a:endParaRPr lang="en-US" sz="1050" dirty="0"/>
          </a:p>
        </p:txBody>
      </p:sp>
      <p:sp>
        <p:nvSpPr>
          <p:cNvPr id="11" name="Shape 8"/>
          <p:cNvSpPr/>
          <p:nvPr/>
        </p:nvSpPr>
        <p:spPr>
          <a:xfrm>
            <a:off x="457200" y="5130800"/>
            <a:ext cx="5537200" cy="1301496"/>
          </a:xfrm>
          <a:prstGeom prst="roundRect">
            <a:avLst>
              <a:gd name="adj" fmla="val 5855"/>
            </a:avLst>
          </a:prstGeom>
          <a:solidFill>
            <a:srgbClr val="1E2230"/>
          </a:solidFill>
          <a:ln/>
        </p:spPr>
      </p:sp>
      <p:sp>
        <p:nvSpPr>
          <p:cNvPr id="12" name="Text 9"/>
          <p:cNvSpPr txBox="1"/>
          <p:nvPr/>
        </p:nvSpPr>
        <p:spPr>
          <a:xfrm>
            <a:off x="584200" y="5245100"/>
            <a:ext cx="52832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C# — ASYNC STATE MACHINES</a:t>
            </a:r>
            <a:endParaRPr lang="en-US" sz="900" dirty="0"/>
          </a:p>
        </p:txBody>
      </p:sp>
      <p:sp>
        <p:nvSpPr>
          <p:cNvPr id="13" name="Text 10"/>
          <p:cNvSpPr txBox="1"/>
          <p:nvPr/>
        </p:nvSpPr>
        <p:spPr>
          <a:xfrm>
            <a:off x="584200" y="5486400"/>
            <a:ext cx="5283200" cy="844296"/>
          </a:xfrm>
          <a:prstGeom prst="rect">
            <a:avLst/>
          </a:prstGeom>
          <a:noFill/>
          <a:ln/>
        </p:spPr>
        <p:txBody>
          <a:bodyPr wrap="square" lIns="0" tIns="0" rIns="0" bIns="0" rtlCol="0" anchor="t"/>
          <a:lstStyle/>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HttpRequestException: Connection refused</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Shop.OrderService.</a:t>
            </a:r>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&lt;LoadAsync&gt;d__4.MoveNext()</a:t>
            </a:r>
            <a:endParaRPr lang="en-US" sz="880" dirty="0"/>
          </a:p>
          <a:p>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 End of stack trace from previous location ---</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...ExceptionDispatchInfo.Throw()</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Shop.OrderController.</a:t>
            </a:r>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&lt;Get&gt;d__2.MoveNext()</a:t>
            </a:r>
            <a:endParaRPr lang="en-US" sz="880" dirty="0"/>
          </a:p>
        </p:txBody>
      </p:sp>
      <p:sp>
        <p:nvSpPr>
          <p:cNvPr id="14" name="Shape 11"/>
          <p:cNvSpPr/>
          <p:nvPr/>
        </p:nvSpPr>
        <p:spPr>
          <a:xfrm>
            <a:off x="6197600" y="5130800"/>
            <a:ext cx="5537200" cy="1301496"/>
          </a:xfrm>
          <a:prstGeom prst="roundRect">
            <a:avLst>
              <a:gd name="adj" fmla="val 5855"/>
            </a:avLst>
          </a:prstGeom>
          <a:solidFill>
            <a:srgbClr val="1E2230"/>
          </a:solidFill>
          <a:ln/>
        </p:spPr>
      </p:sp>
      <p:sp>
        <p:nvSpPr>
          <p:cNvPr id="15" name="Text 12"/>
          <p:cNvSpPr txBox="1"/>
          <p:nvPr/>
        </p:nvSpPr>
        <p:spPr>
          <a:xfrm>
            <a:off x="6324600" y="52451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 VIRTUAL THREAD</a:t>
            </a:r>
            <a:endParaRPr lang="en-US" sz="900" dirty="0"/>
          </a:p>
        </p:txBody>
      </p:sp>
      <p:sp>
        <p:nvSpPr>
          <p:cNvPr id="16" name="Text 13"/>
          <p:cNvSpPr txBox="1"/>
          <p:nvPr/>
        </p:nvSpPr>
        <p:spPr>
          <a:xfrm>
            <a:off x="6324600" y="5486400"/>
            <a:ext cx="5283200" cy="844296"/>
          </a:xfrm>
          <a:prstGeom prst="rect">
            <a:avLst/>
          </a:prstGeom>
          <a:noFill/>
          <a:ln/>
        </p:spPr>
        <p:txBody>
          <a:bodyPr wrap="square" lIns="0" tIns="0" rIns="0" bIns="0" rtlCol="0" anchor="t"/>
          <a:lstStyle/>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java.net.ConnectException: Connection refused</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java.net.http/...HttpClient.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send</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shop.OrderService.</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load(OrderService.java:42)</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shop.OrderController.</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get(OrderController.java:18)</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java.base/java.lang.VirtualThread.run(...)</a:t>
            </a:r>
            <a:endParaRPr lang="en-US" sz="88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The function coloring problem</a:t>
            </a:r>
            <a:endParaRPr lang="en-US" sz="2400" dirty="0"/>
          </a:p>
        </p:txBody>
      </p:sp>
      <p:sp>
        <p:nvSpPr>
          <p:cNvPr id="3" name="Text 1"/>
          <p:cNvSpPr/>
          <p:nvPr/>
        </p:nvSpPr>
        <p:spPr>
          <a:xfrm>
            <a:off x="8498840" y="381000"/>
            <a:ext cx="323596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“WHAT COLOR IS YOUR FUNCTION?” · 2015</a:t>
            </a:r>
            <a:endParaRPr lang="en-US" sz="1000" dirty="0"/>
          </a:p>
        </p:txBody>
      </p:sp>
      <p:sp>
        <p:nvSpPr>
          <p:cNvPr id="4" name="Text 2"/>
          <p:cNvSpPr txBox="1"/>
          <p:nvPr/>
        </p:nvSpPr>
        <p:spPr>
          <a:xfrm>
            <a:off x="457200" y="812800"/>
            <a:ext cx="8128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With async/await every function gets a color — </a:t>
            </a:r>
            <a:pPr indent="0" marL="0">
              <a:buNone/>
            </a:pPr>
            <a:r>
              <a:rPr lang="en-US" sz="1200" b="1" dirty="0">
                <a:solidFill>
                  <a:srgbClr val="5B6475"/>
                </a:solidFill>
                <a:latin typeface="Segoe UI" pitchFamily="34" charset="0"/>
                <a:ea typeface="Segoe UI" pitchFamily="34" charset="-122"/>
                <a:cs typeface="Segoe UI" pitchFamily="34" charset="-120"/>
              </a:rPr>
              <a:t>sync</a:t>
            </a:r>
            <a:pPr indent="0" marL="0">
              <a:buNone/>
            </a:pPr>
            <a:r>
              <a:rPr lang="en-US" sz="1200" dirty="0">
                <a:solidFill>
                  <a:srgbClr val="5B6475"/>
                </a:solidFill>
                <a:latin typeface="Segoe UI" pitchFamily="34" charset="0"/>
                <a:ea typeface="Segoe UI" pitchFamily="34" charset="-122"/>
                <a:cs typeface="Segoe UI" pitchFamily="34" charset="-120"/>
              </a:rPr>
              <a:t> or </a:t>
            </a:r>
            <a:pPr indent="0" marL="0">
              <a:buNone/>
            </a:pPr>
            <a:r>
              <a:rPr lang="en-US" sz="1200" b="1" dirty="0">
                <a:solidFill>
                  <a:srgbClr val="5B6475"/>
                </a:solidFill>
                <a:latin typeface="Segoe UI" pitchFamily="34" charset="0"/>
                <a:ea typeface="Segoe UI" pitchFamily="34" charset="-122"/>
                <a:cs typeface="Segoe UI" pitchFamily="34" charset="-120"/>
              </a:rPr>
              <a:t>async</a:t>
            </a:r>
            <a:pPr indent="0" marL="0">
              <a:buNone/>
            </a:pPr>
            <a:r>
              <a:rPr lang="en-US" sz="1200" dirty="0">
                <a:solidFill>
                  <a:srgbClr val="5B6475"/>
                </a:solidFill>
                <a:latin typeface="Segoe UI" pitchFamily="34" charset="0"/>
                <a:ea typeface="Segoe UI" pitchFamily="34" charset="-122"/>
                <a:cs typeface="Segoe UI" pitchFamily="34" charset="-120"/>
              </a:rPr>
              <a:t> — and the colors don't mix freely. Virtual threads remove the second color.</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WHAT IT IS</a:t>
            </a:r>
            <a:endParaRPr lang="en-US" sz="950" dirty="0"/>
          </a:p>
        </p:txBody>
      </p:sp>
      <p:sp>
        <p:nvSpPr>
          <p:cNvPr id="6" name="bullets-C0392B-coloring"/>
          <p:cNvSpPr txBox="1"/>
          <p:nvPr/>
        </p:nvSpPr>
        <p:spPr>
          <a:xfrm>
            <a:off x="457200" y="1651000"/>
            <a:ext cx="5588000" cy="2286000"/>
          </a:xfrm>
          <a:prstGeom prst="rect">
            <a:avLst/>
          </a:prstGeom>
          <a:noFill/>
          <a:ln/>
        </p:spPr>
        <p:txBody>
          <a:bodyPr wrap="square" lIns="0" tIns="0" rIns="0" bIns="0" rtlCol="0" anchor="t"/>
          <a:lstStyle/>
          <a:p>
            <a:pPr marL="165100" indent="-165100">
              <a:lnSpc>
                <a:spcPct val="105000"/>
              </a:lnSpc>
              <a:spcAft>
                <a:spcPts val="400"/>
              </a:spcAft>
              <a:buClr>
                <a:srgbClr val="C0392B"/>
              </a:buClr>
              <a:buSzPct val="100000"/>
              <a:buChar char="●"/>
            </a:pPr>
            <a:r>
              <a:rPr lang="en-US" sz="1050" dirty="0">
                <a:solidFill>
                  <a:srgbClr val="1F2430"/>
                </a:solidFill>
                <a:latin typeface="Segoe UI" pitchFamily="34" charset="0"/>
                <a:ea typeface="Segoe UI" pitchFamily="34" charset="-122"/>
                <a:cs typeface="Segoe UI" pitchFamily="34" charset="-120"/>
              </a:rPr>
              <a:t>An async function returns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Task&lt;T&gt;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not T, so every caller has to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await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it.</a:t>
            </a:r>
            <a:endParaRPr lang="en-US" sz="1050" dirty="0"/>
          </a:p>
          <a:p>
            <a:pPr marL="165100" indent="-165100">
              <a:lnSpc>
                <a:spcPct val="105000"/>
              </a:lnSpc>
              <a:spcAft>
                <a:spcPts val="400"/>
              </a:spcAft>
              <a:buClr>
                <a:srgbClr val="C0392B"/>
              </a:buClr>
              <a:buSzPct val="100000"/>
              <a:buChar char="●"/>
            </a:pPr>
            <a:r>
              <a:rPr lang="en-US" sz="1050" dirty="0">
                <a:solidFill>
                  <a:srgbClr val="1F2430"/>
                </a:solidFill>
                <a:latin typeface="Segoe UI" pitchFamily="34" charset="0"/>
                <a:ea typeface="Segoe UI" pitchFamily="34" charset="-122"/>
                <a:cs typeface="Segoe UI" pitchFamily="34" charset="-120"/>
              </a:rPr>
              <a:t>Only an async function can await. Make one leaf async and its caller must become async, then </a:t>
            </a:r>
            <a:pPr indent="0" marL="0">
              <a:lnSpc>
                <a:spcPct val="105000"/>
              </a:lnSpc>
              <a:buNone/>
            </a:pPr>
            <a:r>
              <a:rPr lang="en-US" sz="1050" b="1" dirty="0">
                <a:solidFill>
                  <a:srgbClr val="1F2430"/>
                </a:solidFill>
                <a:latin typeface="Segoe UI" pitchFamily="34" charset="0"/>
                <a:ea typeface="Segoe UI" pitchFamily="34" charset="-122"/>
                <a:cs typeface="Segoe UI" pitchFamily="34" charset="-120"/>
              </a:rPr>
              <a:t>that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caller's caller — all the way up.</a:t>
            </a:r>
            <a:endParaRPr lang="en-US" sz="1050" dirty="0"/>
          </a:p>
          <a:p>
            <a:pPr marL="165100" indent="-165100">
              <a:lnSpc>
                <a:spcPct val="105000"/>
              </a:lnSpc>
              <a:spcAft>
                <a:spcPts val="400"/>
              </a:spcAft>
              <a:buClr>
                <a:srgbClr val="C0392B"/>
              </a:buClr>
              <a:buSzPct val="100000"/>
              <a:buChar char="●"/>
            </a:pPr>
            <a:r>
              <a:rPr lang="en-US" sz="1050" dirty="0">
                <a:solidFill>
                  <a:srgbClr val="1F2430"/>
                </a:solidFill>
                <a:latin typeface="Segoe UI" pitchFamily="34" charset="0"/>
                <a:ea typeface="Segoe UI" pitchFamily="34" charset="-122"/>
                <a:cs typeface="Segoe UI" pitchFamily="34" charset="-120"/>
              </a:rPr>
              <a:t>Calling async from sync code means blocking on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.Result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.Wait()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(“sync-over-async”): deadlocks and thread-pool starvation.</a:t>
            </a:r>
            <a:endParaRPr lang="en-US" sz="1050" dirty="0"/>
          </a:p>
          <a:p>
            <a:pPr marL="165100" indent="-165100">
              <a:lnSpc>
                <a:spcPct val="105000"/>
              </a:lnSpc>
              <a:spcAft>
                <a:spcPts val="400"/>
              </a:spcAft>
              <a:buClr>
                <a:srgbClr val="C0392B"/>
              </a:buClr>
              <a:buSzPct val="100000"/>
              <a:buChar char="●"/>
            </a:pPr>
            <a:r>
              <a:rPr lang="en-US" sz="1050" dirty="0">
                <a:solidFill>
                  <a:srgbClr val="1F2430"/>
                </a:solidFill>
                <a:latin typeface="Segoe UI" pitchFamily="34" charset="0"/>
                <a:ea typeface="Segoe UI" pitchFamily="34" charset="-122"/>
                <a:cs typeface="Segoe UI" pitchFamily="34" charset="-120"/>
              </a:rPr>
              <a:t>Libraries ship everything twice: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Read</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ReadAsync</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SaveChanges</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SaveChangesAsync</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a:t>
            </a:r>
            <a:endParaRPr lang="en-US" sz="1050" dirty="0"/>
          </a:p>
          <a:p>
            <a:pPr marL="165100" indent="-165100">
              <a:lnSpc>
                <a:spcPct val="105000"/>
              </a:lnSpc>
              <a:spcAft>
                <a:spcPts val="400"/>
              </a:spcAft>
              <a:buClr>
                <a:srgbClr val="C0392B"/>
              </a:buClr>
              <a:buSzPct val="100000"/>
              <a:buChar char="●"/>
            </a:pPr>
            <a:r>
              <a:rPr lang="en-US" sz="1050" dirty="0">
                <a:solidFill>
                  <a:srgbClr val="1F2430"/>
                </a:solidFill>
                <a:latin typeface="Segoe UI" pitchFamily="34" charset="0"/>
                <a:ea typeface="Segoe UI" pitchFamily="34" charset="-122"/>
                <a:cs typeface="Segoe UI" pitchFamily="34" charset="-120"/>
              </a:rPr>
              <a:t>Constructors, property getters,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ToString()</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and many interface and lambda signatures can't simply become async.</a:t>
            </a:r>
            <a:endParaRPr lang="en-US" sz="1050" dirty="0"/>
          </a:p>
        </p:txBody>
      </p:sp>
      <p:sp>
        <p:nvSpPr>
          <p:cNvPr id="7" name="Text 5"/>
          <p:cNvSpPr txBox="1"/>
          <p:nvPr/>
        </p:nvSpPr>
        <p:spPr>
          <a:xfrm>
            <a:off x="6477000" y="1422400"/>
            <a:ext cx="2413000" cy="203200"/>
          </a:xfrm>
          <a:prstGeom prst="rect">
            <a:avLst/>
          </a:prstGeom>
          <a:noFill/>
          <a:ln/>
        </p:spPr>
        <p:txBody>
          <a:bodyPr wrap="square" lIns="0" tIns="0" rIns="0" bIns="0" rtlCol="0" anchor="t"/>
          <a:lstStyle/>
          <a:p>
            <a:pPr indent="0" marL="0">
              <a:buNone/>
            </a:pPr>
            <a:r>
              <a:rPr lang="en-US" sz="1100" b="1" dirty="0">
                <a:solidFill>
                  <a:srgbClr val="7A4FB5"/>
                </a:solidFill>
                <a:latin typeface="Segoe UI" pitchFamily="34" charset="0"/>
                <a:ea typeface="Segoe UI" pitchFamily="34" charset="-122"/>
                <a:cs typeface="Segoe UI" pitchFamily="34" charset="-120"/>
              </a:rPr>
              <a:t>C# — color spreads up</a:t>
            </a:r>
            <a:endParaRPr lang="en-US" sz="1100" dirty="0"/>
          </a:p>
        </p:txBody>
      </p:sp>
      <p:sp>
        <p:nvSpPr>
          <p:cNvPr id="8" name="Text 6"/>
          <p:cNvSpPr/>
          <p:nvPr/>
        </p:nvSpPr>
        <p:spPr>
          <a:xfrm>
            <a:off x="6477000" y="1701800"/>
            <a:ext cx="2413000" cy="355600"/>
          </a:xfrm>
          <a:prstGeom prst="roundRect">
            <a:avLst>
              <a:gd name="adj" fmla="val 17857"/>
            </a:avLst>
          </a:prstGeom>
          <a:solidFill>
            <a:srgbClr val="FDECEA"/>
          </a:solidFill>
          <a:ln w="12700">
            <a:solidFill>
              <a:srgbClr val="C0392B"/>
            </a:solidFill>
          </a:ln>
        </p:spPr>
        <p:txBody>
          <a:bodyPr wrap="square" lIns="0" tIns="0" rIns="0" bIns="0" rtlCol="0" anchor="ctr"/>
          <a:lstStyle/>
          <a:p>
            <a:pPr algn="ctr" indent="0" marL="0">
              <a:buNone/>
            </a:pPr>
            <a:r>
              <a:rPr lang="en-US" sz="950" b="1" dirty="0">
                <a:solidFill>
                  <a:srgbClr val="C0392B"/>
                </a:solidFill>
                <a:latin typeface="Consolas" pitchFamily="34" charset="0"/>
                <a:ea typeface="Consolas" pitchFamily="34" charset="-122"/>
                <a:cs typeface="Consolas" pitchFamily="34" charset="-120"/>
              </a:rPr>
              <a:t>Controller.Get</a:t>
            </a:r>
            <a:endParaRPr lang="en-US" sz="950" dirty="0"/>
          </a:p>
        </p:txBody>
      </p:sp>
      <p:sp>
        <p:nvSpPr>
          <p:cNvPr id="9" name="Shape 7"/>
          <p:cNvSpPr/>
          <p:nvPr/>
        </p:nvSpPr>
        <p:spPr>
          <a:xfrm>
            <a:off x="7683500" y="2057400"/>
            <a:ext cx="0" cy="152400"/>
          </a:xfrm>
          <a:prstGeom prst="line">
            <a:avLst/>
          </a:prstGeom>
          <a:noFill/>
          <a:ln w="12700">
            <a:solidFill>
              <a:srgbClr val="5B6475"/>
            </a:solidFill>
            <a:prstDash val="solid"/>
            <a:tailEnd type="triangle"/>
          </a:ln>
        </p:spPr>
      </p:sp>
      <p:sp>
        <p:nvSpPr>
          <p:cNvPr id="10" name="Text 8"/>
          <p:cNvSpPr/>
          <p:nvPr/>
        </p:nvSpPr>
        <p:spPr>
          <a:xfrm>
            <a:off x="6477000" y="2209800"/>
            <a:ext cx="2413000" cy="355600"/>
          </a:xfrm>
          <a:prstGeom prst="roundRect">
            <a:avLst>
              <a:gd name="adj" fmla="val 17857"/>
            </a:avLst>
          </a:prstGeom>
          <a:solidFill>
            <a:srgbClr val="FDECEA"/>
          </a:solidFill>
          <a:ln w="12700">
            <a:solidFill>
              <a:srgbClr val="C0392B"/>
            </a:solidFill>
          </a:ln>
        </p:spPr>
        <p:txBody>
          <a:bodyPr wrap="square" lIns="0" tIns="0" rIns="0" bIns="0" rtlCol="0" anchor="ctr"/>
          <a:lstStyle/>
          <a:p>
            <a:pPr algn="ctr" indent="0" marL="0">
              <a:buNone/>
            </a:pPr>
            <a:r>
              <a:rPr lang="en-US" sz="950" b="1" dirty="0">
                <a:solidFill>
                  <a:srgbClr val="C0392B"/>
                </a:solidFill>
                <a:latin typeface="Consolas" pitchFamily="34" charset="0"/>
                <a:ea typeface="Consolas" pitchFamily="34" charset="-122"/>
                <a:cs typeface="Consolas" pitchFamily="34" charset="-120"/>
              </a:rPr>
              <a:t>OrderService.Load</a:t>
            </a:r>
            <a:endParaRPr lang="en-US" sz="950" dirty="0"/>
          </a:p>
        </p:txBody>
      </p:sp>
      <p:sp>
        <p:nvSpPr>
          <p:cNvPr id="11" name="Shape 9"/>
          <p:cNvSpPr/>
          <p:nvPr/>
        </p:nvSpPr>
        <p:spPr>
          <a:xfrm>
            <a:off x="7683500" y="2565400"/>
            <a:ext cx="0" cy="152400"/>
          </a:xfrm>
          <a:prstGeom prst="line">
            <a:avLst/>
          </a:prstGeom>
          <a:noFill/>
          <a:ln w="12700">
            <a:solidFill>
              <a:srgbClr val="5B6475"/>
            </a:solidFill>
            <a:prstDash val="solid"/>
            <a:tailEnd type="triangle"/>
          </a:ln>
        </p:spPr>
      </p:sp>
      <p:sp>
        <p:nvSpPr>
          <p:cNvPr id="12" name="Text 10"/>
          <p:cNvSpPr/>
          <p:nvPr/>
        </p:nvSpPr>
        <p:spPr>
          <a:xfrm>
            <a:off x="6477000" y="2717800"/>
            <a:ext cx="2413000" cy="355600"/>
          </a:xfrm>
          <a:prstGeom prst="roundRect">
            <a:avLst>
              <a:gd name="adj" fmla="val 17857"/>
            </a:avLst>
          </a:prstGeom>
          <a:solidFill>
            <a:srgbClr val="FDECEA"/>
          </a:solidFill>
          <a:ln w="12700">
            <a:solidFill>
              <a:srgbClr val="C0392B"/>
            </a:solidFill>
          </a:ln>
        </p:spPr>
        <p:txBody>
          <a:bodyPr wrap="square" lIns="0" tIns="0" rIns="0" bIns="0" rtlCol="0" anchor="ctr"/>
          <a:lstStyle/>
          <a:p>
            <a:pPr algn="ctr" indent="0" marL="0">
              <a:buNone/>
            </a:pPr>
            <a:r>
              <a:rPr lang="en-US" sz="950" b="1" dirty="0">
                <a:solidFill>
                  <a:srgbClr val="C0392B"/>
                </a:solidFill>
                <a:latin typeface="Consolas" pitchFamily="34" charset="0"/>
                <a:ea typeface="Consolas" pitchFamily="34" charset="-122"/>
                <a:cs typeface="Consolas" pitchFamily="34" charset="-120"/>
              </a:rPr>
              <a:t>Repository.Find</a:t>
            </a:r>
            <a:endParaRPr lang="en-US" sz="950" dirty="0"/>
          </a:p>
        </p:txBody>
      </p:sp>
      <p:sp>
        <p:nvSpPr>
          <p:cNvPr id="13" name="Shape 11"/>
          <p:cNvSpPr/>
          <p:nvPr/>
        </p:nvSpPr>
        <p:spPr>
          <a:xfrm>
            <a:off x="7683500" y="3073400"/>
            <a:ext cx="0" cy="152400"/>
          </a:xfrm>
          <a:prstGeom prst="line">
            <a:avLst/>
          </a:prstGeom>
          <a:noFill/>
          <a:ln w="12700">
            <a:solidFill>
              <a:srgbClr val="5B6475"/>
            </a:solidFill>
            <a:prstDash val="solid"/>
            <a:tailEnd type="triangle"/>
          </a:ln>
        </p:spPr>
      </p:sp>
      <p:sp>
        <p:nvSpPr>
          <p:cNvPr id="14" name="Text 12"/>
          <p:cNvSpPr/>
          <p:nvPr/>
        </p:nvSpPr>
        <p:spPr>
          <a:xfrm>
            <a:off x="6477000" y="3225800"/>
            <a:ext cx="2413000" cy="355600"/>
          </a:xfrm>
          <a:prstGeom prst="roundRect">
            <a:avLst>
              <a:gd name="adj" fmla="val 17857"/>
            </a:avLst>
          </a:prstGeom>
          <a:solidFill>
            <a:srgbClr val="C0392B"/>
          </a:solidFill>
          <a:ln w="12700">
            <a:solidFill>
              <a:srgbClr val="C0392B"/>
            </a:solid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db.QueryAsync()</a:t>
            </a:r>
            <a:endParaRPr lang="en-US" sz="950" dirty="0"/>
          </a:p>
        </p:txBody>
      </p:sp>
      <p:sp>
        <p:nvSpPr>
          <p:cNvPr id="15" name="Text 13"/>
          <p:cNvSpPr txBox="1"/>
          <p:nvPr/>
        </p:nvSpPr>
        <p:spPr>
          <a:xfrm>
            <a:off x="6477000" y="3683000"/>
            <a:ext cx="2413000" cy="3556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One async leaf turns every caller async</a:t>
            </a:r>
            <a:endParaRPr lang="en-US" sz="950" dirty="0"/>
          </a:p>
        </p:txBody>
      </p:sp>
      <p:sp>
        <p:nvSpPr>
          <p:cNvPr id="16" name="Text 14"/>
          <p:cNvSpPr txBox="1"/>
          <p:nvPr/>
        </p:nvSpPr>
        <p:spPr>
          <a:xfrm>
            <a:off x="9321800" y="1422400"/>
            <a:ext cx="2413000" cy="203200"/>
          </a:xfrm>
          <a:prstGeom prst="rect">
            <a:avLst/>
          </a:prstGeom>
          <a:noFill/>
          <a:ln/>
        </p:spPr>
        <p:txBody>
          <a:bodyPr wrap="square" lIns="0" tIns="0" rIns="0" bIns="0" rtlCol="0" anchor="t"/>
          <a:lstStyle/>
          <a:p>
            <a:pPr indent="0" marL="0">
              <a:buNone/>
            </a:pPr>
            <a:r>
              <a:rPr lang="en-US" sz="1100" b="1" dirty="0">
                <a:solidFill>
                  <a:srgbClr val="2F6FB0"/>
                </a:solidFill>
                <a:latin typeface="Segoe UI" pitchFamily="34" charset="0"/>
                <a:ea typeface="Segoe UI" pitchFamily="34" charset="-122"/>
                <a:cs typeface="Segoe UI" pitchFamily="34" charset="-120"/>
              </a:rPr>
              <a:t>Java — one color</a:t>
            </a:r>
            <a:endParaRPr lang="en-US" sz="1100" dirty="0"/>
          </a:p>
        </p:txBody>
      </p:sp>
      <p:sp>
        <p:nvSpPr>
          <p:cNvPr id="17" name="Text 15"/>
          <p:cNvSpPr/>
          <p:nvPr/>
        </p:nvSpPr>
        <p:spPr>
          <a:xfrm>
            <a:off x="9321800" y="1701800"/>
            <a:ext cx="2413000" cy="355600"/>
          </a:xfrm>
          <a:prstGeom prst="roundRect">
            <a:avLst>
              <a:gd name="adj" fmla="val 17857"/>
            </a:avLst>
          </a:prstGeom>
          <a:solidFill>
            <a:srgbClr val="F4F6F9"/>
          </a:solidFill>
          <a:ln w="12700">
            <a:solidFill>
              <a:srgbClr val="DDE2EA"/>
            </a:solidFill>
          </a:ln>
        </p:spPr>
        <p:txBody>
          <a:bodyPr wrap="square" lIns="0" tIns="0" rIns="0" bIns="0" rtlCol="0" anchor="ctr"/>
          <a:lstStyle/>
          <a:p>
            <a:pPr algn="ctr" indent="0" marL="0">
              <a:buNone/>
            </a:pPr>
            <a:r>
              <a:rPr lang="en-US" sz="950" b="1" dirty="0">
                <a:solidFill>
                  <a:srgbClr val="1F2430"/>
                </a:solidFill>
                <a:latin typeface="Consolas" pitchFamily="34" charset="0"/>
                <a:ea typeface="Consolas" pitchFamily="34" charset="-122"/>
                <a:cs typeface="Consolas" pitchFamily="34" charset="-120"/>
              </a:rPr>
              <a:t>Controller.get</a:t>
            </a:r>
            <a:endParaRPr lang="en-US" sz="950" dirty="0"/>
          </a:p>
        </p:txBody>
      </p:sp>
      <p:sp>
        <p:nvSpPr>
          <p:cNvPr id="18" name="Shape 16"/>
          <p:cNvSpPr/>
          <p:nvPr/>
        </p:nvSpPr>
        <p:spPr>
          <a:xfrm>
            <a:off x="10528300" y="2057400"/>
            <a:ext cx="0" cy="152400"/>
          </a:xfrm>
          <a:prstGeom prst="line">
            <a:avLst/>
          </a:prstGeom>
          <a:noFill/>
          <a:ln w="12700">
            <a:solidFill>
              <a:srgbClr val="5B6475"/>
            </a:solidFill>
            <a:prstDash val="solid"/>
            <a:tailEnd type="triangle"/>
          </a:ln>
        </p:spPr>
      </p:sp>
      <p:sp>
        <p:nvSpPr>
          <p:cNvPr id="19" name="Text 17"/>
          <p:cNvSpPr/>
          <p:nvPr/>
        </p:nvSpPr>
        <p:spPr>
          <a:xfrm>
            <a:off x="9321800" y="2209800"/>
            <a:ext cx="2413000" cy="355600"/>
          </a:xfrm>
          <a:prstGeom prst="roundRect">
            <a:avLst>
              <a:gd name="adj" fmla="val 17857"/>
            </a:avLst>
          </a:prstGeom>
          <a:solidFill>
            <a:srgbClr val="F4F6F9"/>
          </a:solidFill>
          <a:ln w="12700">
            <a:solidFill>
              <a:srgbClr val="DDE2EA"/>
            </a:solidFill>
          </a:ln>
        </p:spPr>
        <p:txBody>
          <a:bodyPr wrap="square" lIns="0" tIns="0" rIns="0" bIns="0" rtlCol="0" anchor="ctr"/>
          <a:lstStyle/>
          <a:p>
            <a:pPr algn="ctr" indent="0" marL="0">
              <a:buNone/>
            </a:pPr>
            <a:r>
              <a:rPr lang="en-US" sz="950" b="1" dirty="0">
                <a:solidFill>
                  <a:srgbClr val="1F2430"/>
                </a:solidFill>
                <a:latin typeface="Consolas" pitchFamily="34" charset="0"/>
                <a:ea typeface="Consolas" pitchFamily="34" charset="-122"/>
                <a:cs typeface="Consolas" pitchFamily="34" charset="-120"/>
              </a:rPr>
              <a:t>OrderService.load</a:t>
            </a:r>
            <a:endParaRPr lang="en-US" sz="950" dirty="0"/>
          </a:p>
        </p:txBody>
      </p:sp>
      <p:sp>
        <p:nvSpPr>
          <p:cNvPr id="20" name="Shape 18"/>
          <p:cNvSpPr/>
          <p:nvPr/>
        </p:nvSpPr>
        <p:spPr>
          <a:xfrm>
            <a:off x="10528300" y="2565400"/>
            <a:ext cx="0" cy="152400"/>
          </a:xfrm>
          <a:prstGeom prst="line">
            <a:avLst/>
          </a:prstGeom>
          <a:noFill/>
          <a:ln w="12700">
            <a:solidFill>
              <a:srgbClr val="5B6475"/>
            </a:solidFill>
            <a:prstDash val="solid"/>
            <a:tailEnd type="triangle"/>
          </a:ln>
        </p:spPr>
      </p:sp>
      <p:sp>
        <p:nvSpPr>
          <p:cNvPr id="21" name="Text 19"/>
          <p:cNvSpPr/>
          <p:nvPr/>
        </p:nvSpPr>
        <p:spPr>
          <a:xfrm>
            <a:off x="9321800" y="2717800"/>
            <a:ext cx="2413000" cy="355600"/>
          </a:xfrm>
          <a:prstGeom prst="roundRect">
            <a:avLst>
              <a:gd name="adj" fmla="val 17857"/>
            </a:avLst>
          </a:prstGeom>
          <a:solidFill>
            <a:srgbClr val="F4F6F9"/>
          </a:solidFill>
          <a:ln w="12700">
            <a:solidFill>
              <a:srgbClr val="DDE2EA"/>
            </a:solidFill>
          </a:ln>
        </p:spPr>
        <p:txBody>
          <a:bodyPr wrap="square" lIns="0" tIns="0" rIns="0" bIns="0" rtlCol="0" anchor="ctr"/>
          <a:lstStyle/>
          <a:p>
            <a:pPr algn="ctr" indent="0" marL="0">
              <a:buNone/>
            </a:pPr>
            <a:r>
              <a:rPr lang="en-US" sz="950" b="1" dirty="0">
                <a:solidFill>
                  <a:srgbClr val="1F2430"/>
                </a:solidFill>
                <a:latin typeface="Consolas" pitchFamily="34" charset="0"/>
                <a:ea typeface="Consolas" pitchFamily="34" charset="-122"/>
                <a:cs typeface="Consolas" pitchFamily="34" charset="-120"/>
              </a:rPr>
              <a:t>Repository.find</a:t>
            </a:r>
            <a:endParaRPr lang="en-US" sz="950" dirty="0"/>
          </a:p>
        </p:txBody>
      </p:sp>
      <p:sp>
        <p:nvSpPr>
          <p:cNvPr id="22" name="Shape 20"/>
          <p:cNvSpPr/>
          <p:nvPr/>
        </p:nvSpPr>
        <p:spPr>
          <a:xfrm>
            <a:off x="10528300" y="3073400"/>
            <a:ext cx="0" cy="152400"/>
          </a:xfrm>
          <a:prstGeom prst="line">
            <a:avLst/>
          </a:prstGeom>
          <a:noFill/>
          <a:ln w="12700">
            <a:solidFill>
              <a:srgbClr val="5B6475"/>
            </a:solidFill>
            <a:prstDash val="solid"/>
            <a:tailEnd type="triangle"/>
          </a:ln>
        </p:spPr>
      </p:sp>
      <p:sp>
        <p:nvSpPr>
          <p:cNvPr id="23" name="Text 21"/>
          <p:cNvSpPr/>
          <p:nvPr/>
        </p:nvSpPr>
        <p:spPr>
          <a:xfrm>
            <a:off x="9321800" y="3225800"/>
            <a:ext cx="2413000" cy="355600"/>
          </a:xfrm>
          <a:prstGeom prst="roundRect">
            <a:avLst>
              <a:gd name="adj" fmla="val 17857"/>
            </a:avLst>
          </a:prstGeom>
          <a:solidFill>
            <a:srgbClr val="E3F0FB"/>
          </a:solidFill>
          <a:ln w="12700">
            <a:solidFill>
              <a:srgbClr val="2F6FB0"/>
            </a:solidFill>
          </a:ln>
        </p:spPr>
        <p:txBody>
          <a:bodyPr wrap="square" lIns="0" tIns="0" rIns="0" bIns="0" rtlCol="0" anchor="ctr"/>
          <a:lstStyle/>
          <a:p>
            <a:pPr algn="ctr" indent="0" marL="0">
              <a:buNone/>
            </a:pPr>
            <a:r>
              <a:rPr lang="en-US" sz="950" b="1" dirty="0">
                <a:solidFill>
                  <a:srgbClr val="2F6FB0"/>
                </a:solidFill>
                <a:latin typeface="Consolas" pitchFamily="34" charset="0"/>
                <a:ea typeface="Consolas" pitchFamily="34" charset="-122"/>
                <a:cs typeface="Consolas" pitchFamily="34" charset="-120"/>
              </a:rPr>
              <a:t>db.query()  · blocks</a:t>
            </a:r>
            <a:endParaRPr lang="en-US" sz="950" dirty="0"/>
          </a:p>
        </p:txBody>
      </p:sp>
      <p:sp>
        <p:nvSpPr>
          <p:cNvPr id="24" name="Text 22"/>
          <p:cNvSpPr txBox="1"/>
          <p:nvPr/>
        </p:nvSpPr>
        <p:spPr>
          <a:xfrm>
            <a:off x="9321800" y="3683000"/>
            <a:ext cx="2413000" cy="3556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Leaf blocks; callers stay unchanged</a:t>
            </a:r>
            <a:endParaRPr lang="en-US" sz="950" dirty="0"/>
          </a:p>
        </p:txBody>
      </p:sp>
      <p:sp>
        <p:nvSpPr>
          <p:cNvPr id="25" name="Shape 23"/>
          <p:cNvSpPr/>
          <p:nvPr/>
        </p:nvSpPr>
        <p:spPr>
          <a:xfrm>
            <a:off x="457200" y="4089400"/>
            <a:ext cx="5537200" cy="1301496"/>
          </a:xfrm>
          <a:prstGeom prst="roundRect">
            <a:avLst>
              <a:gd name="adj" fmla="val 5855"/>
            </a:avLst>
          </a:prstGeom>
          <a:solidFill>
            <a:srgbClr val="1E2230"/>
          </a:solidFill>
          <a:ln/>
        </p:spPr>
      </p:sp>
      <p:sp>
        <p:nvSpPr>
          <p:cNvPr id="26" name="Text 24"/>
          <p:cNvSpPr txBox="1"/>
          <p:nvPr/>
        </p:nvSpPr>
        <p:spPr>
          <a:xfrm>
            <a:off x="584200" y="4203700"/>
            <a:ext cx="52832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C# — ASYNC ALL THE WAY UP</a:t>
            </a:r>
            <a:endParaRPr lang="en-US" sz="900" dirty="0"/>
          </a:p>
        </p:txBody>
      </p:sp>
      <p:sp>
        <p:nvSpPr>
          <p:cNvPr id="27" name="Text 25"/>
          <p:cNvSpPr txBox="1"/>
          <p:nvPr/>
        </p:nvSpPr>
        <p:spPr>
          <a:xfrm>
            <a:off x="584200" y="4445000"/>
            <a:ext cx="5283200" cy="844296"/>
          </a:xfrm>
          <a:prstGeom prst="rect">
            <a:avLst/>
          </a:prstGeom>
          <a:noFill/>
          <a:ln/>
        </p:spPr>
        <p:txBody>
          <a:bodyPr wrap="square" lIns="0" tIns="0" rIns="0" bIns="0" rtlCol="0" anchor="t"/>
          <a:lstStyle/>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one leaf goes async…</a:t>
            </a:r>
            <a:endParaRPr lang="en-US" sz="880" dirty="0"/>
          </a:p>
          <a:p>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async Task&lt;Order&gt;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FindAsync(int id) =&gt; await db.QueryAsync(id);</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…so every caller's signature changes</a:t>
            </a:r>
            <a:endParaRPr lang="en-US" sz="880" dirty="0"/>
          </a:p>
          <a:p>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async Task&lt;Order&gt;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LoadAsync(int id) =&gt; await repo.FindAsync(id);</a:t>
            </a:r>
            <a:endParaRPr lang="en-US" sz="880" dirty="0"/>
          </a:p>
          <a:p>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async Task&lt;IActionResult&gt;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Get(int id) =&gt; Ok(await svc.LoadAsync(id));</a:t>
            </a:r>
            <a:endParaRPr lang="en-US" sz="880" dirty="0"/>
          </a:p>
        </p:txBody>
      </p:sp>
      <p:sp>
        <p:nvSpPr>
          <p:cNvPr id="28" name="Shape 26"/>
          <p:cNvSpPr/>
          <p:nvPr/>
        </p:nvSpPr>
        <p:spPr>
          <a:xfrm>
            <a:off x="6197600" y="4089400"/>
            <a:ext cx="5537200" cy="1301496"/>
          </a:xfrm>
          <a:prstGeom prst="roundRect">
            <a:avLst>
              <a:gd name="adj" fmla="val 5855"/>
            </a:avLst>
          </a:prstGeom>
          <a:solidFill>
            <a:srgbClr val="1E2230"/>
          </a:solidFill>
          <a:ln/>
        </p:spPr>
      </p:sp>
      <p:sp>
        <p:nvSpPr>
          <p:cNvPr id="29" name="Text 27"/>
          <p:cNvSpPr txBox="1"/>
          <p:nvPr/>
        </p:nvSpPr>
        <p:spPr>
          <a:xfrm>
            <a:off x="6324600" y="42037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 PLAIN METHODS ON A VIRTUAL THREAD</a:t>
            </a:r>
            <a:endParaRPr lang="en-US" sz="900" dirty="0"/>
          </a:p>
        </p:txBody>
      </p:sp>
      <p:sp>
        <p:nvSpPr>
          <p:cNvPr id="30" name="Text 28"/>
          <p:cNvSpPr txBox="1"/>
          <p:nvPr/>
        </p:nvSpPr>
        <p:spPr>
          <a:xfrm>
            <a:off x="6324600" y="4445000"/>
            <a:ext cx="5283200" cy="844296"/>
          </a:xfrm>
          <a:prstGeom prst="rect">
            <a:avLst/>
          </a:prstGeom>
          <a:noFill/>
          <a:ln/>
        </p:spPr>
        <p:txBody>
          <a:bodyPr wrap="square" lIns="0" tIns="0" rIns="0" bIns="0" rtlCol="0" anchor="t"/>
          <a:lstStyle/>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leaf just blocks — cheap on a virtual thread</a:t>
            </a:r>
            <a:endParaRPr lang="en-US" sz="880" dirty="0"/>
          </a:p>
          <a:p>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Order</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find(int id)   { return db.query(id); }</a:t>
            </a: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callers stay plain methods</a:t>
            </a:r>
            <a:endParaRPr lang="en-US" sz="880" dirty="0"/>
          </a:p>
          <a:p>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Order</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load(int id)   { return repo.find(id); }</a:t>
            </a:r>
            <a:endParaRPr lang="en-US" sz="880" dirty="0"/>
          </a:p>
          <a:p>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Response</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get(int id) { return ok(svc.load(id)); }</a:t>
            </a:r>
            <a:endParaRPr lang="en-US" sz="880" dirty="0"/>
          </a:p>
        </p:txBody>
      </p:sp>
      <p:sp>
        <p:nvSpPr>
          <p:cNvPr id="31" name="Shape 29"/>
          <p:cNvSpPr/>
          <p:nvPr/>
        </p:nvSpPr>
        <p:spPr>
          <a:xfrm>
            <a:off x="457200" y="5689600"/>
            <a:ext cx="11277600" cy="635000"/>
          </a:xfrm>
          <a:prstGeom prst="roundRect">
            <a:avLst>
              <a:gd name="adj" fmla="val 12000"/>
            </a:avLst>
          </a:prstGeom>
          <a:solidFill>
            <a:srgbClr val="E8F4EE"/>
          </a:solidFill>
          <a:ln/>
        </p:spPr>
      </p:sp>
      <p:sp>
        <p:nvSpPr>
          <p:cNvPr id="32" name="Text 30"/>
          <p:cNvSpPr txBox="1"/>
          <p:nvPr/>
        </p:nvSpPr>
        <p:spPr>
          <a:xfrm>
            <a:off x="660400" y="57912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WHY VIRTUAL THREADS FIX IT</a:t>
            </a:r>
            <a:endParaRPr lang="en-US" sz="950" dirty="0"/>
          </a:p>
        </p:txBody>
      </p:sp>
      <p:sp>
        <p:nvSpPr>
          <p:cNvPr id="33" name="Text 31"/>
          <p:cNvSpPr txBox="1"/>
          <p:nvPr/>
        </p:nvSpPr>
        <p:spPr>
          <a:xfrm>
            <a:off x="660400" y="5994400"/>
            <a:ext cx="10871200" cy="355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Blocking is cheap again, so any function can call any other. No async variants, no signature churn up the call chain — and existing JDBC, HTTP and file APIs work without being rewritten.</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What the C# compiler generates for await</a:t>
            </a:r>
            <a:endParaRPr lang="en-US" sz="2400" dirty="0"/>
          </a:p>
        </p:txBody>
      </p:sp>
      <p:sp>
        <p:nvSpPr>
          <p:cNvPr id="3" name="Text 1"/>
          <p:cNvSpPr/>
          <p:nvPr/>
        </p:nvSpPr>
        <p:spPr>
          <a:xfrm>
            <a:off x="9067800" y="381000"/>
            <a:ext cx="26670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IL FROM A .NET 9 RELEASE BUILD</a:t>
            </a:r>
            <a:endParaRPr lang="en-US" sz="1000" dirty="0"/>
          </a:p>
        </p:txBody>
      </p:sp>
      <p:sp>
        <p:nvSpPr>
          <p:cNvPr id="4" name="Text 2"/>
          <p:cNvSpPr txBox="1"/>
          <p:nvPr/>
        </p:nvSpPr>
        <p:spPr>
          <a:xfrm>
            <a:off x="457200" y="812800"/>
            <a:ext cx="8636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The same method compiled twice. Without await it is plain IL; with await the compiler adds a hidden state machine. IL is abridged where marked, with type names shortened.</a:t>
            </a:r>
            <a:endParaRPr lang="en-US" sz="1200" dirty="0"/>
          </a:p>
        </p:txBody>
      </p:sp>
      <p:sp>
        <p:nvSpPr>
          <p:cNvPr id="5" name="Shape 3"/>
          <p:cNvSpPr/>
          <p:nvPr/>
        </p:nvSpPr>
        <p:spPr>
          <a:xfrm>
            <a:off x="457200" y="1320800"/>
            <a:ext cx="4572000" cy="1301191"/>
          </a:xfrm>
          <a:prstGeom prst="roundRect">
            <a:avLst>
              <a:gd name="adj" fmla="val 5856"/>
            </a:avLst>
          </a:prstGeom>
          <a:solidFill>
            <a:srgbClr val="1E2230"/>
          </a:solidFill>
          <a:ln/>
        </p:spPr>
      </p:sp>
      <p:sp>
        <p:nvSpPr>
          <p:cNvPr id="6" name="Text 4"/>
          <p:cNvSpPr txBox="1"/>
          <p:nvPr/>
        </p:nvSpPr>
        <p:spPr>
          <a:xfrm>
            <a:off x="558800" y="1409700"/>
            <a:ext cx="43688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Without await · C# source</a:t>
            </a:r>
            <a:endParaRPr lang="en-US" sz="900" dirty="0"/>
          </a:p>
        </p:txBody>
      </p:sp>
      <p:sp>
        <p:nvSpPr>
          <p:cNvPr id="7" name="Text 5"/>
          <p:cNvSpPr txBox="1"/>
          <p:nvPr/>
        </p:nvSpPr>
        <p:spPr>
          <a:xfrm>
            <a:off x="558800" y="1651000"/>
            <a:ext cx="4368800" cy="894791"/>
          </a:xfrm>
          <a:prstGeom prst="rect">
            <a:avLst/>
          </a:prstGeom>
          <a:noFill/>
          <a:ln/>
        </p:spPr>
        <p:txBody>
          <a:bodyPr wrap="square" lIns="0" tIns="0" rIns="0" bIns="0" rtlCol="0" anchor="t"/>
          <a:lstStyle/>
          <a:p>
            <a:pPr indent="0" marL="0">
              <a:lnSpc>
                <a:spcPts val="1108"/>
              </a:lnSpc>
              <a:buNone/>
            </a:pPr>
            <a:r>
              <a:rPr lang="en-US" sz="780" dirty="0">
                <a:solidFill>
                  <a:srgbClr val="C792EA"/>
                </a:solidFill>
                <a:latin typeface="Consolas" pitchFamily="34" charset="0"/>
                <a:ea typeface="Consolas" pitchFamily="34" charset="-122"/>
                <a:cs typeface="Consolas" pitchFamily="34" charset="-120"/>
              </a:rPr>
              <a:t>public int</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GetLength(string url)</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var resp = http.</a:t>
            </a:r>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Send</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(new HttpRequestMessage(HttpMethod.Get, url));</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string body = new StreamReader(resp.Content.ReadAsStream()).ReadToEnd();</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return body.Length;</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t>
            </a:r>
            <a:endParaRPr lang="en-US" sz="780" dirty="0"/>
          </a:p>
        </p:txBody>
      </p:sp>
      <p:sp>
        <p:nvSpPr>
          <p:cNvPr id="8" name="Text 6"/>
          <p:cNvSpPr txBox="1"/>
          <p:nvPr/>
        </p:nvSpPr>
        <p:spPr>
          <a:xfrm>
            <a:off x="457200" y="2717800"/>
            <a:ext cx="4572000" cy="381000"/>
          </a:xfrm>
          <a:prstGeom prst="rect">
            <a:avLst/>
          </a:prstGeom>
          <a:noFill/>
          <a:ln/>
        </p:spPr>
        <p:txBody>
          <a:bodyPr wrap="square" lIns="0" tIns="0" rIns="0" bIns="0" rtlCol="0" anchor="t"/>
          <a:lstStyle/>
          <a:p>
            <a:pPr indent="0" marL="0">
              <a:buNone/>
            </a:pPr>
            <a:r>
              <a:rPr lang="en-US" sz="900" b="1" dirty="0">
                <a:solidFill>
                  <a:srgbClr val="5B6475"/>
                </a:solidFill>
                <a:latin typeface="Segoe UI" pitchFamily="34" charset="0"/>
                <a:ea typeface="Segoe UI" pitchFamily="34" charset="-122"/>
                <a:cs typeface="Segoe UI" pitchFamily="34" charset="-120"/>
              </a:rPr>
              <a:t>48 bytes</a:t>
            </a:r>
            <a:pPr indent="0" marL="0">
              <a:buNone/>
            </a:pPr>
            <a:r>
              <a:rPr lang="en-US" sz="900" dirty="0">
                <a:solidFill>
                  <a:srgbClr val="5B6475"/>
                </a:solidFill>
                <a:latin typeface="Segoe UI" pitchFamily="34" charset="0"/>
                <a:ea typeface="Segoe UI" pitchFamily="34" charset="-122"/>
                <a:cs typeface="Segoe UI" pitchFamily="34" charset="-120"/>
              </a:rPr>
              <a:t> of straight-line IL and no extra types. </a:t>
            </a:r>
            <a:pPr indent="0" marL="0">
              <a:buNone/>
            </a:pPr>
            <a:r>
              <a:rPr lang="en-US" sz="900" dirty="0">
                <a:solidFill>
                  <a:srgbClr val="5B6475"/>
                </a:solidFill>
                <a:latin typeface="Consolas" pitchFamily="34" charset="0"/>
                <a:ea typeface="Consolas" pitchFamily="34" charset="-122"/>
                <a:cs typeface="Consolas" pitchFamily="34" charset="-120"/>
              </a:rPr>
              <a:t>Send</a:t>
            </a:r>
            <a:pPr indent="0" marL="0">
              <a:buNone/>
            </a:pPr>
            <a:r>
              <a:rPr lang="en-US" sz="900" dirty="0">
                <a:solidFill>
                  <a:srgbClr val="5B6475"/>
                </a:solidFill>
                <a:latin typeface="Segoe UI" pitchFamily="34" charset="0"/>
                <a:ea typeface="Segoe UI" pitchFamily="34" charset="-122"/>
                <a:cs typeface="Segoe UI" pitchFamily="34" charset="-120"/>
              </a:rPr>
              <a:t> simply blocks the thread until the response arrives.</a:t>
            </a:r>
            <a:endParaRPr lang="en-US" sz="900" dirty="0"/>
          </a:p>
        </p:txBody>
      </p:sp>
      <p:sp>
        <p:nvSpPr>
          <p:cNvPr id="9" name="Shape 7"/>
          <p:cNvSpPr/>
          <p:nvPr/>
        </p:nvSpPr>
        <p:spPr>
          <a:xfrm>
            <a:off x="5232400" y="1320800"/>
            <a:ext cx="6502400" cy="2145182"/>
          </a:xfrm>
          <a:prstGeom prst="roundRect">
            <a:avLst>
              <a:gd name="adj" fmla="val 3552"/>
            </a:avLst>
          </a:prstGeom>
          <a:solidFill>
            <a:srgbClr val="1E2230"/>
          </a:solidFill>
          <a:ln/>
        </p:spPr>
      </p:sp>
      <p:sp>
        <p:nvSpPr>
          <p:cNvPr id="10" name="Text 8"/>
          <p:cNvSpPr txBox="1"/>
          <p:nvPr/>
        </p:nvSpPr>
        <p:spPr>
          <a:xfrm>
            <a:off x="5334000" y="1409700"/>
            <a:ext cx="62992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GetLength · 48 bytes, complete</a:t>
            </a:r>
            <a:endParaRPr lang="en-US" sz="900" dirty="0"/>
          </a:p>
        </p:txBody>
      </p:sp>
      <p:sp>
        <p:nvSpPr>
          <p:cNvPr id="11" name="Text 9"/>
          <p:cNvSpPr txBox="1"/>
          <p:nvPr/>
        </p:nvSpPr>
        <p:spPr>
          <a:xfrm>
            <a:off x="5334000" y="1651000"/>
            <a:ext cx="6299200" cy="1738782"/>
          </a:xfrm>
          <a:prstGeom prst="rect">
            <a:avLst/>
          </a:prstGeom>
          <a:noFill/>
          <a:ln/>
        </p:spPr>
        <p:txBody>
          <a:bodyPr wrap="square" lIns="0" tIns="0" rIns="0" bIns="0" rtlCol="0" anchor="t"/>
          <a:lstStyle/>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IL_0000: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ldarg.0</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IL_0001: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ldfld    http</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IL_0006: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     HttpMethod::get_Get()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IL_000b: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ldarg.1</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IL_000c: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newobj   HttpRequestMessage::.ctor</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IL_0011: </a:t>
            </a:r>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callvirt HttpClient::Send</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blocks this thread</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IL_0016: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callvirt HttpResponseMessage::get_Content()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IL_001b: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callvirt HttpContent::ReadAsStream()</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IL_0020: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newobj   StreamReader::.ctor</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IL_0025: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callvirt TextReader::ReadToEnd()</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IL_002a: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callvirt String::get_Length()</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IL_002f: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ret</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a normal return</a:t>
            </a:r>
            <a:endParaRPr lang="en-US" sz="780" dirty="0"/>
          </a:p>
        </p:txBody>
      </p:sp>
      <p:sp>
        <p:nvSpPr>
          <p:cNvPr id="12" name="Shape 10"/>
          <p:cNvSpPr/>
          <p:nvPr/>
        </p:nvSpPr>
        <p:spPr>
          <a:xfrm>
            <a:off x="457200" y="3556000"/>
            <a:ext cx="4572000" cy="1160526"/>
          </a:xfrm>
          <a:prstGeom prst="roundRect">
            <a:avLst>
              <a:gd name="adj" fmla="val 6566"/>
            </a:avLst>
          </a:prstGeom>
          <a:solidFill>
            <a:srgbClr val="1E2230"/>
          </a:solidFill>
          <a:ln/>
        </p:spPr>
      </p:sp>
      <p:sp>
        <p:nvSpPr>
          <p:cNvPr id="13" name="Text 11"/>
          <p:cNvSpPr txBox="1"/>
          <p:nvPr/>
        </p:nvSpPr>
        <p:spPr>
          <a:xfrm>
            <a:off x="558800" y="3644900"/>
            <a:ext cx="43688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With await · C# source</a:t>
            </a:r>
            <a:endParaRPr lang="en-US" sz="900" dirty="0"/>
          </a:p>
        </p:txBody>
      </p:sp>
      <p:sp>
        <p:nvSpPr>
          <p:cNvPr id="14" name="Text 12"/>
          <p:cNvSpPr txBox="1"/>
          <p:nvPr/>
        </p:nvSpPr>
        <p:spPr>
          <a:xfrm>
            <a:off x="558800" y="3886200"/>
            <a:ext cx="4368800" cy="754126"/>
          </a:xfrm>
          <a:prstGeom prst="rect">
            <a:avLst/>
          </a:prstGeom>
          <a:noFill/>
          <a:ln/>
        </p:spPr>
        <p:txBody>
          <a:bodyPr wrap="square" lIns="0" tIns="0" rIns="0" bIns="0" rtlCol="0" anchor="t"/>
          <a:lstStyle/>
          <a:p>
            <a:pPr indent="0" marL="0">
              <a:lnSpc>
                <a:spcPts val="1108"/>
              </a:lnSpc>
              <a:buNone/>
            </a:pPr>
            <a:r>
              <a:rPr lang="en-US" sz="780" dirty="0">
                <a:solidFill>
                  <a:srgbClr val="C792EA"/>
                </a:solidFill>
                <a:latin typeface="Consolas" pitchFamily="34" charset="0"/>
                <a:ea typeface="Consolas" pitchFamily="34" charset="-122"/>
                <a:cs typeface="Consolas" pitchFamily="34" charset="-120"/>
              </a:rPr>
              <a:t>public async</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Task&lt;int&gt; GetLengthAsync(string url)</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string body = </a:t>
            </a:r>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await</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http.GetStringAsync(url);</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    return body.Length;</a:t>
            </a:r>
            <a:endParaRPr lang="en-US" sz="780" dirty="0"/>
          </a:p>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t>
            </a:r>
            <a:endParaRPr lang="en-US" sz="780" dirty="0"/>
          </a:p>
        </p:txBody>
      </p:sp>
      <p:sp>
        <p:nvSpPr>
          <p:cNvPr id="15" name="bullets-7A4FB5-il"/>
          <p:cNvSpPr txBox="1"/>
          <p:nvPr/>
        </p:nvSpPr>
        <p:spPr>
          <a:xfrm>
            <a:off x="457200" y="4826000"/>
            <a:ext cx="4572000" cy="1574800"/>
          </a:xfrm>
          <a:prstGeom prst="rect">
            <a:avLst/>
          </a:prstGeom>
          <a:noFill/>
          <a:ln/>
        </p:spPr>
        <p:txBody>
          <a:bodyPr wrap="square" lIns="0" tIns="0" rIns="0" bIns="0" rtlCol="0" anchor="t"/>
          <a:lstStyle/>
          <a:p>
            <a:pPr marL="165100" indent="-165100">
              <a:lnSpc>
                <a:spcPct val="105000"/>
              </a:lnSpc>
              <a:spcAft>
                <a:spcPts val="400"/>
              </a:spcAft>
              <a:buClr>
                <a:srgbClr val="7A4FB5"/>
              </a:buClr>
              <a:buSzPct val="100000"/>
              <a:buChar char="●"/>
            </a:pPr>
            <a:r>
              <a:rPr lang="en-US" sz="900" b="1" dirty="0">
                <a:solidFill>
                  <a:srgbClr val="1F2430"/>
                </a:solidFill>
                <a:latin typeface="Segoe UI" pitchFamily="34" charset="0"/>
                <a:ea typeface="Segoe UI" pitchFamily="34" charset="-122"/>
                <a:cs typeface="Segoe UI" pitchFamily="34" charset="-120"/>
              </a:rPr>
              <a:t>The body moves</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into </a:t>
            </a:r>
            <a:pPr indent="0" marL="0">
              <a:lnSpc>
                <a:spcPct val="105000"/>
              </a:lnSpc>
              <a:buNone/>
            </a:pPr>
            <a:r>
              <a:rPr lang="en-US" sz="900" dirty="0">
                <a:solidFill>
                  <a:srgbClr val="1F2430"/>
                </a:solidFill>
                <a:latin typeface="Consolas" pitchFamily="34" charset="0"/>
                <a:ea typeface="Consolas" pitchFamily="34" charset="-122"/>
                <a:cs typeface="Consolas" pitchFamily="34" charset="-120"/>
              </a:rPr>
              <a:t>MoveNext()</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on a generated struct, </a:t>
            </a:r>
            <a:pPr indent="0" marL="0">
              <a:lnSpc>
                <a:spcPct val="105000"/>
              </a:lnSpc>
              <a:buNone/>
            </a:pPr>
            <a:r>
              <a:rPr lang="en-US" sz="900" dirty="0">
                <a:solidFill>
                  <a:srgbClr val="1F2430"/>
                </a:solidFill>
                <a:latin typeface="Consolas" pitchFamily="34" charset="0"/>
                <a:ea typeface="Consolas" pitchFamily="34" charset="-122"/>
                <a:cs typeface="Consolas" pitchFamily="34" charset="-120"/>
              </a:rPr>
              <a:t>&lt;GetLengthAsync&gt;d__2</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the method itself becomes a 63-byte stub.</a:t>
            </a:r>
            <a:endParaRPr lang="en-US" sz="900" dirty="0"/>
          </a:p>
          <a:p>
            <a:pPr marL="165100" indent="-165100">
              <a:lnSpc>
                <a:spcPct val="105000"/>
              </a:lnSpc>
              <a:spcAft>
                <a:spcPts val="400"/>
              </a:spcAft>
              <a:buClr>
                <a:srgbClr val="7A4FB5"/>
              </a:buClr>
              <a:buSzPct val="100000"/>
              <a:buChar char="●"/>
            </a:pPr>
            <a:r>
              <a:rPr lang="en-US" sz="900" b="1" dirty="0">
                <a:solidFill>
                  <a:srgbClr val="1F2430"/>
                </a:solidFill>
                <a:latin typeface="Segoe UI" pitchFamily="34" charset="0"/>
                <a:ea typeface="Segoe UI" pitchFamily="34" charset="-122"/>
                <a:cs typeface="Segoe UI" pitchFamily="34" charset="-120"/>
              </a:rPr>
              <a:t>Locals become fields</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00" dirty="0">
                <a:solidFill>
                  <a:srgbClr val="1F2430"/>
                </a:solidFill>
                <a:latin typeface="Consolas" pitchFamily="34" charset="0"/>
                <a:ea typeface="Consolas" pitchFamily="34" charset="-122"/>
                <a:cs typeface="Consolas" pitchFamily="34" charset="-120"/>
              </a:rPr>
              <a:t>&lt;&gt;1__state</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00" dirty="0">
                <a:solidFill>
                  <a:srgbClr val="1F2430"/>
                </a:solidFill>
                <a:latin typeface="Consolas" pitchFamily="34" charset="0"/>
                <a:ea typeface="Consolas" pitchFamily="34" charset="-122"/>
                <a:cs typeface="Consolas" pitchFamily="34" charset="-120"/>
              </a:rPr>
              <a:t>&lt;&gt;u__1</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so they survive across the await.</a:t>
            </a:r>
            <a:endParaRPr lang="en-US" sz="900" dirty="0"/>
          </a:p>
          <a:p>
            <a:pPr marL="165100" indent="-165100">
              <a:lnSpc>
                <a:spcPct val="105000"/>
              </a:lnSpc>
              <a:spcAft>
                <a:spcPts val="400"/>
              </a:spcAft>
              <a:buClr>
                <a:srgbClr val="7A4FB5"/>
              </a:buClr>
              <a:buSzPct val="100000"/>
              <a:buChar char="●"/>
            </a:pPr>
            <a:r>
              <a:rPr lang="en-US" sz="900" b="1" dirty="0">
                <a:solidFill>
                  <a:srgbClr val="1F2430"/>
                </a:solidFill>
                <a:latin typeface="Segoe UI" pitchFamily="34" charset="0"/>
                <a:ea typeface="Segoe UI" pitchFamily="34" charset="-122"/>
                <a:cs typeface="Segoe UI" pitchFamily="34" charset="-120"/>
              </a:rPr>
              <a:t>At IL_004f it returns</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 and the thread goes back to the pool. No frame stays on any thread, which is why traces show </a:t>
            </a:r>
            <a:pPr indent="0" marL="0">
              <a:lnSpc>
                <a:spcPct val="105000"/>
              </a:lnSpc>
              <a:buNone/>
            </a:pPr>
            <a:r>
              <a:rPr lang="en-US" sz="900" dirty="0">
                <a:solidFill>
                  <a:srgbClr val="1F2430"/>
                </a:solidFill>
                <a:latin typeface="Consolas" pitchFamily="34" charset="0"/>
                <a:ea typeface="Consolas" pitchFamily="34" charset="-122"/>
                <a:cs typeface="Consolas" pitchFamily="34" charset="-120"/>
              </a:rPr>
              <a:t>MoveNext()</a:t>
            </a:r>
            <a:pPr indent="0" marL="0">
              <a:lnSpc>
                <a:spcPct val="105000"/>
              </a:lnSpc>
              <a:buNone/>
            </a:pPr>
            <a:r>
              <a:rPr lang="en-US" sz="900" dirty="0">
                <a:solidFill>
                  <a:srgbClr val="1F2430"/>
                </a:solidFill>
                <a:latin typeface="Segoe UI" pitchFamily="34" charset="0"/>
                <a:ea typeface="Segoe UI" pitchFamily="34" charset="-122"/>
                <a:cs typeface="Segoe UI" pitchFamily="34" charset="-120"/>
              </a:rPr>
              <a:t>.</a:t>
            </a:r>
            <a:endParaRPr lang="en-US" sz="900" dirty="0"/>
          </a:p>
        </p:txBody>
      </p:sp>
      <p:sp>
        <p:nvSpPr>
          <p:cNvPr id="16" name="Shape 14"/>
          <p:cNvSpPr/>
          <p:nvPr/>
        </p:nvSpPr>
        <p:spPr>
          <a:xfrm>
            <a:off x="5232400" y="3556000"/>
            <a:ext cx="6502400" cy="879196"/>
          </a:xfrm>
          <a:prstGeom prst="roundRect">
            <a:avLst>
              <a:gd name="adj" fmla="val 8667"/>
            </a:avLst>
          </a:prstGeom>
          <a:solidFill>
            <a:srgbClr val="1E2230"/>
          </a:solidFill>
          <a:ln/>
        </p:spPr>
      </p:sp>
      <p:sp>
        <p:nvSpPr>
          <p:cNvPr id="17" name="Text 15"/>
          <p:cNvSpPr txBox="1"/>
          <p:nvPr/>
        </p:nvSpPr>
        <p:spPr>
          <a:xfrm>
            <a:off x="5334000" y="3644900"/>
            <a:ext cx="62992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GetLengthAsync · 63-byte stub, abridged</a:t>
            </a:r>
            <a:endParaRPr lang="en-US" sz="900" dirty="0"/>
          </a:p>
        </p:txBody>
      </p:sp>
      <p:sp>
        <p:nvSpPr>
          <p:cNvPr id="18" name="Text 16"/>
          <p:cNvSpPr txBox="1"/>
          <p:nvPr/>
        </p:nvSpPr>
        <p:spPr>
          <a:xfrm>
            <a:off x="5334000" y="3886200"/>
            <a:ext cx="6299200" cy="472796"/>
          </a:xfrm>
          <a:prstGeom prst="rect">
            <a:avLst/>
          </a:prstGeom>
          <a:noFill/>
          <a:ln/>
        </p:spPr>
        <p:txBody>
          <a:bodyPr wrap="square" lIns="0" tIns="0" rIns="0" bIns="0" rtlCol="0" anchor="t"/>
          <a:lstStyle/>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IL_001f: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stfld    '&lt;&gt;1__state'</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state = -1</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IL_002d: </a:t>
            </a:r>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call     ...::Start&lt;'&lt;GetLengthAsync&gt;d__2'&gt;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IL_0039: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     ...::get_Task()</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return Task&lt;int&gt;</a:t>
            </a:r>
            <a:endParaRPr lang="en-US" sz="780" dirty="0"/>
          </a:p>
        </p:txBody>
      </p:sp>
      <p:sp>
        <p:nvSpPr>
          <p:cNvPr id="19" name="Shape 17"/>
          <p:cNvSpPr/>
          <p:nvPr/>
        </p:nvSpPr>
        <p:spPr>
          <a:xfrm>
            <a:off x="5232400" y="4511396"/>
            <a:ext cx="6502400" cy="1863852"/>
          </a:xfrm>
          <a:prstGeom prst="roundRect">
            <a:avLst>
              <a:gd name="adj" fmla="val 4088"/>
            </a:avLst>
          </a:prstGeom>
          <a:solidFill>
            <a:srgbClr val="1E2230"/>
          </a:solidFill>
          <a:ln/>
        </p:spPr>
      </p:sp>
      <p:sp>
        <p:nvSpPr>
          <p:cNvPr id="20" name="Text 18"/>
          <p:cNvSpPr txBox="1"/>
          <p:nvPr/>
        </p:nvSpPr>
        <p:spPr>
          <a:xfrm>
            <a:off x="5334000" y="4600296"/>
            <a:ext cx="6299200" cy="177800"/>
          </a:xfrm>
          <a:prstGeom prst="rect">
            <a:avLst/>
          </a:prstGeom>
          <a:noFill/>
          <a:ln/>
        </p:spPr>
        <p:txBody>
          <a:bodyPr wrap="square" lIns="0" tIns="0" rIns="0" bIns="0" rtlCol="0" anchor="t"/>
          <a:lstStyle/>
          <a:p>
            <a:pPr indent="0" marL="0">
              <a:buNone/>
            </a:pPr>
            <a:r>
              <a:rPr lang="en-US" sz="900" b="1" dirty="0">
                <a:solidFill>
                  <a:srgbClr val="B794F4"/>
                </a:solidFill>
                <a:latin typeface="Segoe UI" pitchFamily="34" charset="0"/>
                <a:ea typeface="Segoe UI" pitchFamily="34" charset="-122"/>
                <a:cs typeface="Segoe UI" pitchFamily="34" charset="-120"/>
              </a:rPr>
              <a:t>&lt;GetLengthAsync&gt;d__2::MoveNext · 170 bytes, abridged</a:t>
            </a:r>
            <a:endParaRPr lang="en-US" sz="900" dirty="0"/>
          </a:p>
        </p:txBody>
      </p:sp>
      <p:sp>
        <p:nvSpPr>
          <p:cNvPr id="21" name="Text 19"/>
          <p:cNvSpPr txBox="1"/>
          <p:nvPr/>
        </p:nvSpPr>
        <p:spPr>
          <a:xfrm>
            <a:off x="5334000" y="4841596"/>
            <a:ext cx="6299200" cy="1457452"/>
          </a:xfrm>
          <a:prstGeom prst="rect">
            <a:avLst/>
          </a:prstGeom>
          <a:noFill/>
          <a:ln/>
        </p:spPr>
        <p:txBody>
          <a:bodyPr wrap="square" lIns="0" tIns="0" rIns="0" bIns="0" rtlCol="0" anchor="t"/>
          <a:lstStyle/>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IL_000f: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brfalse.s IL_0051</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state 0 → resume point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IL_001d: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callvirt HttpClient::GetStringAsync(string)</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IL_002f: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brtrue.s IL_006d</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already done → continue</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IL_0035: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stfld    '&lt;&gt;1__state'</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state = 0</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IL_003c: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stfld    '&lt;&gt;u__1'</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save awaiter in a field</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IL_004a: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     ...::AwaitUnsafeOnCompleted&lt;…&gt;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IL_004f: </a:t>
            </a:r>
            <a:pPr indent="0" marL="0">
              <a:lnSpc>
                <a:spcPts val="1108"/>
              </a:lnSpc>
              <a:buNone/>
            </a:pPr>
            <a:r>
              <a:rPr lang="en-US" sz="780" b="1" dirty="0">
                <a:solidFill>
                  <a:srgbClr val="FF7B72"/>
                </a:solidFill>
                <a:latin typeface="Consolas" pitchFamily="34" charset="0"/>
                <a:ea typeface="Consolas" pitchFamily="34" charset="-122"/>
                <a:cs typeface="Consolas" pitchFamily="34" charset="-120"/>
              </a:rPr>
              <a:t>leave.s  IL_00a9</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RETURN: thread back to pool</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IL_0051: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ldfld    '&lt;&gt;u__1'</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resumed: reload awaiter</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IL_006f: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     TaskAwaiter`1&lt;string&gt;::GetResult()</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IL_00a4: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call     ...::SetResult(!0)</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state = -2, done</a:t>
            </a:r>
            <a:endParaRPr lang="en-US" sz="78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What javac generates for the same code</a:t>
            </a:r>
            <a:endParaRPr lang="en-US" sz="2400" dirty="0"/>
          </a:p>
        </p:txBody>
      </p:sp>
      <p:sp>
        <p:nvSpPr>
          <p:cNvPr id="3" name="Text 1"/>
          <p:cNvSpPr/>
          <p:nvPr/>
        </p:nvSpPr>
        <p:spPr>
          <a:xfrm>
            <a:off x="8905240" y="381000"/>
            <a:ext cx="282956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BYTECODE FROM JAVAC · JDK 25 LTS</a:t>
            </a:r>
            <a:endParaRPr lang="en-US" sz="1000" dirty="0"/>
          </a:p>
        </p:txBody>
      </p:sp>
      <p:sp>
        <p:nvSpPr>
          <p:cNvPr id="4" name="Text 2"/>
          <p:cNvSpPr txBox="1"/>
          <p:nvPr/>
        </p:nvSpPr>
        <p:spPr>
          <a:xfrm>
            <a:off x="457200" y="812800"/>
            <a:ext cx="8128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The Java version compiles to plain bytecode with no state machine. The suspension happens at runtime inside the JVM, so the method itself never knows it paused.</a:t>
            </a:r>
            <a:endParaRPr lang="en-US" sz="1200" dirty="0"/>
          </a:p>
        </p:txBody>
      </p:sp>
      <p:sp>
        <p:nvSpPr>
          <p:cNvPr id="5" name="Shape 3"/>
          <p:cNvSpPr/>
          <p:nvPr/>
        </p:nvSpPr>
        <p:spPr>
          <a:xfrm>
            <a:off x="457200" y="1397000"/>
            <a:ext cx="4572000" cy="1301496"/>
          </a:xfrm>
          <a:prstGeom prst="roundRect">
            <a:avLst>
              <a:gd name="adj" fmla="val 5855"/>
            </a:avLst>
          </a:prstGeom>
          <a:solidFill>
            <a:srgbClr val="1E2230"/>
          </a:solidFill>
          <a:ln/>
        </p:spPr>
      </p:sp>
      <p:sp>
        <p:nvSpPr>
          <p:cNvPr id="6" name="Text 4"/>
          <p:cNvSpPr txBox="1"/>
          <p:nvPr/>
        </p:nvSpPr>
        <p:spPr>
          <a:xfrm>
            <a:off x="584200" y="1511300"/>
            <a:ext cx="43180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SOURCE</a:t>
            </a:r>
            <a:endParaRPr lang="en-US" sz="900" dirty="0"/>
          </a:p>
        </p:txBody>
      </p:sp>
      <p:sp>
        <p:nvSpPr>
          <p:cNvPr id="7" name="Text 5"/>
          <p:cNvSpPr txBox="1"/>
          <p:nvPr/>
        </p:nvSpPr>
        <p:spPr>
          <a:xfrm>
            <a:off x="584200" y="1752600"/>
            <a:ext cx="4318000" cy="844296"/>
          </a:xfrm>
          <a:prstGeom prst="rect">
            <a:avLst/>
          </a:prstGeom>
          <a:noFill/>
          <a:ln/>
        </p:spPr>
        <p:txBody>
          <a:bodyPr wrap="square" lIns="0" tIns="0" rIns="0" bIns="0" rtlCol="0" anchor="t"/>
          <a:lstStyle/>
          <a:p>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public int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getLength(String url)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throws</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Exception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var req = HttpRequest.newBuilder(URI.create(url)).build();</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String body = http.</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send</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(req, ofString()).body();</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return body.length();</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a:t>
            </a:r>
            <a:endParaRPr lang="en-US" sz="880" dirty="0"/>
          </a:p>
        </p:txBody>
      </p:sp>
      <p:sp>
        <p:nvSpPr>
          <p:cNvPr id="8" name="bullets-2F6FB0-bc"/>
          <p:cNvSpPr txBox="1"/>
          <p:nvPr/>
        </p:nvSpPr>
        <p:spPr>
          <a:xfrm>
            <a:off x="457200" y="2844800"/>
            <a:ext cx="4572000" cy="2616200"/>
          </a:xfrm>
          <a:prstGeom prst="rect">
            <a:avLst/>
          </a:prstGeom>
          <a:noFill/>
          <a:ln/>
        </p:spPr>
        <p:txBody>
          <a:bodyPr wrap="square" lIns="0" tIns="0" rIns="0" bIns="0" rtlCol="0" anchor="t"/>
          <a:lstStyle/>
          <a:p>
            <a:pPr marL="165100" indent="-165100">
              <a:lnSpc>
                <a:spcPct val="105000"/>
              </a:lnSpc>
              <a:spcAft>
                <a:spcPts val="400"/>
              </a:spcAft>
              <a:buClr>
                <a:srgbClr val="2F6FB0"/>
              </a:buClr>
              <a:buSzPct val="100000"/>
              <a:buChar char="●"/>
            </a:pPr>
            <a:r>
              <a:rPr lang="en-US" sz="1000" b="1" dirty="0">
                <a:solidFill>
                  <a:srgbClr val="1F2430"/>
                </a:solidFill>
                <a:latin typeface="Segoe UI" pitchFamily="34" charset="0"/>
                <a:ea typeface="Segoe UI" pitchFamily="34" charset="-122"/>
                <a:cs typeface="Segoe UI" pitchFamily="34" charset="-120"/>
              </a:rPr>
              <a:t>No rewrite.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getLength compiles to 38 bytes of ordinary bytecode.</a:t>
            </a:r>
            <a:endParaRPr lang="en-US" sz="1000" dirty="0"/>
          </a:p>
          <a:p>
            <a:pPr marL="165100" indent="-165100">
              <a:lnSpc>
                <a:spcPct val="105000"/>
              </a:lnSpc>
              <a:spcAft>
                <a:spcPts val="400"/>
              </a:spcAft>
              <a:buClr>
                <a:srgbClr val="2F6FB0"/>
              </a:buClr>
              <a:buSzPct val="100000"/>
              <a:buChar char="●"/>
            </a:pPr>
            <a:r>
              <a:rPr lang="en-US" sz="1000" b="1" dirty="0">
                <a:solidFill>
                  <a:srgbClr val="2F6FB0"/>
                </a:solidFill>
                <a:latin typeface="Segoe UI" pitchFamily="34" charset="0"/>
                <a:ea typeface="Segoe UI" pitchFamily="34" charset="-122"/>
                <a:cs typeface="Segoe UI" pitchFamily="34" charset="-120"/>
              </a:rPr>
              <a:t>Same bytecode for Thread and virtual thread.</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javac doesn't know how the method will run: the same class file works with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new Thread(…)</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or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Thread.ofVirtual()</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Only the JVM's handling of the blocking call differs.</a:t>
            </a:r>
            <a:endParaRPr lang="en-US" sz="1000" dirty="0"/>
          </a:p>
          <a:p>
            <a:pPr marL="165100" indent="-165100">
              <a:lnSpc>
                <a:spcPct val="105000"/>
              </a:lnSpc>
              <a:spcAft>
                <a:spcPts val="400"/>
              </a:spcAft>
              <a:buClr>
                <a:srgbClr val="2F6FB0"/>
              </a:buClr>
              <a:buSzPct val="100000"/>
              <a:buChar char="●"/>
            </a:pPr>
            <a:r>
              <a:rPr lang="en-US" sz="1000" b="1" dirty="0">
                <a:solidFill>
                  <a:srgbClr val="1F2430"/>
                </a:solidFill>
                <a:latin typeface="Segoe UI" pitchFamily="34" charset="0"/>
                <a:ea typeface="Segoe UI" pitchFamily="34" charset="-122"/>
                <a:cs typeface="Segoe UI" pitchFamily="34" charset="-120"/>
              </a:rPr>
              <a:t>No generated class, state field or awaiter.</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req</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and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body</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stay locals (slots 2 and 3) in the stack frame.</a:t>
            </a:r>
            <a:endParaRPr lang="en-US" sz="1000" dirty="0"/>
          </a:p>
          <a:p>
            <a:pPr marL="165100" indent="-165100">
              <a:lnSpc>
                <a:spcPct val="105000"/>
              </a:lnSpc>
              <a:spcAft>
                <a:spcPts val="400"/>
              </a:spcAft>
              <a:buClr>
                <a:srgbClr val="2F6FB0"/>
              </a:buClr>
              <a:buSzPct val="100000"/>
              <a:buChar char="●"/>
            </a:pPr>
            <a:r>
              <a:rPr lang="en-US" sz="1000" b="1" dirty="0">
                <a:solidFill>
                  <a:srgbClr val="1F2430"/>
                </a:solidFill>
                <a:latin typeface="Segoe UI" pitchFamily="34" charset="0"/>
                <a:ea typeface="Segoe UI" pitchFamily="34" charset="-122"/>
                <a:cs typeface="Segoe UI" pitchFamily="34" charset="-120"/>
              </a:rPr>
              <a:t>Suspension happens in the JDK.</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send</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waits on a future;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VirtualThread.park()</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yields the continuation and the JVM moves the frames to the heap.</a:t>
            </a:r>
            <a:endParaRPr lang="en-US" sz="1000" dirty="0"/>
          </a:p>
          <a:p>
            <a:pPr marL="165100" indent="-165100">
              <a:lnSpc>
                <a:spcPct val="105000"/>
              </a:lnSpc>
              <a:spcAft>
                <a:spcPts val="400"/>
              </a:spcAft>
              <a:buClr>
                <a:srgbClr val="2F6FB0"/>
              </a:buClr>
              <a:buSzPct val="100000"/>
              <a:buChar char="●"/>
            </a:pPr>
            <a:r>
              <a:rPr lang="en-US" sz="1000" b="1" dirty="0">
                <a:solidFill>
                  <a:srgbClr val="1F2430"/>
                </a:solidFill>
                <a:latin typeface="Segoe UI" pitchFamily="34" charset="0"/>
                <a:ea typeface="Segoe UI" pitchFamily="34" charset="-122"/>
                <a:cs typeface="Segoe UI" pitchFamily="34" charset="-120"/>
              </a:rPr>
              <a:t>On resume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the frames are mounted on a carrier again and execution continues right after the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invokevirtual</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at offset 21.</a:t>
            </a:r>
            <a:endParaRPr lang="en-US" sz="1000" dirty="0"/>
          </a:p>
        </p:txBody>
      </p:sp>
      <p:sp>
        <p:nvSpPr>
          <p:cNvPr id="9" name="Shape 7"/>
          <p:cNvSpPr/>
          <p:nvPr/>
        </p:nvSpPr>
        <p:spPr>
          <a:xfrm>
            <a:off x="5232400" y="1397000"/>
            <a:ext cx="6502400" cy="2707843"/>
          </a:xfrm>
          <a:prstGeom prst="roundRect">
            <a:avLst>
              <a:gd name="adj" fmla="val 2814"/>
            </a:avLst>
          </a:prstGeom>
          <a:solidFill>
            <a:srgbClr val="1E2230"/>
          </a:solidFill>
          <a:ln/>
        </p:spPr>
      </p:sp>
      <p:sp>
        <p:nvSpPr>
          <p:cNvPr id="10" name="Text 8"/>
          <p:cNvSpPr txBox="1"/>
          <p:nvPr/>
        </p:nvSpPr>
        <p:spPr>
          <a:xfrm>
            <a:off x="5334000" y="1485900"/>
            <a:ext cx="6299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OrderService.getLength — 38 bytes, complete</a:t>
            </a:r>
            <a:endParaRPr lang="en-US" sz="900" dirty="0"/>
          </a:p>
        </p:txBody>
      </p:sp>
      <p:sp>
        <p:nvSpPr>
          <p:cNvPr id="11" name="Text 9"/>
          <p:cNvSpPr txBox="1"/>
          <p:nvPr/>
        </p:nvSpPr>
        <p:spPr>
          <a:xfrm>
            <a:off x="5334000" y="1727200"/>
            <a:ext cx="6299200" cy="2301443"/>
          </a:xfrm>
          <a:prstGeom prst="rect">
            <a:avLst/>
          </a:prstGeom>
          <a:noFill/>
          <a:ln/>
        </p:spPr>
        <p:txBody>
          <a:bodyPr wrap="square" lIns="0" tIns="0" rIns="0" bIns="0" rtlCol="0" anchor="t"/>
          <a:lstStyle/>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0: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aload_1</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1: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invokestatic    URI.create</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4: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invokestatic    HttpRequest.newBuilder</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7: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invokeinterface Builder.build</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12: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astore_2</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req: a normal local</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13: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aload_0</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14: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getfield        http</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17: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aload_2</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18: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invokestatic    BodyHandlers.ofString</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21: </a:t>
            </a:r>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invokevirtual   HttpClient.send</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just a call: may park here</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24: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invokeinterface HttpResponse.body</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29: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checkcast       String</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32: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astore_3</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body: a normal local</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33: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aload_3</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34: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invokevirtual   String.length</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37: </a:t>
            </a:r>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ireturn</a:t>
            </a:r>
            <a:endParaRPr lang="en-US" sz="780" dirty="0"/>
          </a:p>
        </p:txBody>
      </p:sp>
      <p:sp>
        <p:nvSpPr>
          <p:cNvPr id="12" name="Shape 10"/>
          <p:cNvSpPr/>
          <p:nvPr/>
        </p:nvSpPr>
        <p:spPr>
          <a:xfrm>
            <a:off x="5232400" y="4241800"/>
            <a:ext cx="6502400" cy="1160526"/>
          </a:xfrm>
          <a:prstGeom prst="roundRect">
            <a:avLst>
              <a:gd name="adj" fmla="val 6566"/>
            </a:avLst>
          </a:prstGeom>
          <a:solidFill>
            <a:srgbClr val="1E2230"/>
          </a:solidFill>
          <a:ln/>
        </p:spPr>
      </p:sp>
      <p:sp>
        <p:nvSpPr>
          <p:cNvPr id="13" name="Text 11"/>
          <p:cNvSpPr txBox="1"/>
          <p:nvPr/>
        </p:nvSpPr>
        <p:spPr>
          <a:xfrm>
            <a:off x="5334000" y="4330700"/>
            <a:ext cx="6299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Live stack of the parked virtual thread (state=WAITING), abridged</a:t>
            </a:r>
            <a:endParaRPr lang="en-US" sz="900" dirty="0"/>
          </a:p>
        </p:txBody>
      </p:sp>
      <p:sp>
        <p:nvSpPr>
          <p:cNvPr id="14" name="Text 12"/>
          <p:cNvSpPr txBox="1"/>
          <p:nvPr/>
        </p:nvSpPr>
        <p:spPr>
          <a:xfrm>
            <a:off x="5334000" y="4572000"/>
            <a:ext cx="6299200" cy="754126"/>
          </a:xfrm>
          <a:prstGeom prst="rect">
            <a:avLst/>
          </a:prstGeom>
          <a:noFill/>
          <a:ln/>
        </p:spPr>
        <p:txBody>
          <a:bodyPr wrap="square" lIns="0" tIns="0" rIns="0" bIns="0" rtlCol="0" anchor="t"/>
          <a:lstStyle/>
          <a:p>
            <a:pPr indent="0" marL="0">
              <a:lnSpc>
                <a:spcPts val="1108"/>
              </a:lnSpc>
              <a:buNone/>
            </a:pPr>
            <a:r>
              <a:rPr lang="en-US" sz="780" dirty="0">
                <a:solidFill>
                  <a:srgbClr val="E6E9EF"/>
                </a:solidFill>
                <a:latin typeface="Consolas" pitchFamily="34" charset="0"/>
                <a:ea typeface="Consolas" pitchFamily="34" charset="-122"/>
                <a:cs typeface="Consolas" pitchFamily="34" charset="-120"/>
              </a:rPr>
              <a:t>VirtualThread.park(VirtualThread.java:742)</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yields the continuation</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CompletableFuture.get(CompletableFuture.java:2093)</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HttpClientImpl.send(HttpClientImpl.java:902)</a:t>
            </a:r>
            <a:endParaRPr lang="en-US" sz="780" dirty="0"/>
          </a:p>
          <a:p>
            <a:pPr indent="0" marL="0">
              <a:lnSpc>
                <a:spcPts val="1108"/>
              </a:lnSpc>
              <a:buNone/>
            </a:pPr>
            <a:r>
              <a:rPr lang="en-US" sz="780" b="1" dirty="0">
                <a:solidFill>
                  <a:srgbClr val="FFB86C"/>
                </a:solidFill>
                <a:latin typeface="Consolas" pitchFamily="34" charset="0"/>
                <a:ea typeface="Consolas" pitchFamily="34" charset="-122"/>
                <a:cs typeface="Consolas" pitchFamily="34" charset="-120"/>
              </a:rPr>
              <a:t>OrderService.getLength(OrderService.java:11)</a:t>
            </a:r>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     // your frame, still there</a:t>
            </a:r>
            <a:endParaRPr lang="en-US" sz="780" dirty="0"/>
          </a:p>
          <a:p>
            <a:pPr indent="0" marL="0">
              <a:lnSpc>
                <a:spcPts val="1108"/>
              </a:lnSpc>
              <a:buNone/>
            </a:pPr>
            <a:r>
              <a:rPr lang="en-US" sz="780" dirty="0">
                <a:solidFill>
                  <a:srgbClr val="8A93A6"/>
                </a:solidFill>
                <a:latin typeface="Consolas" pitchFamily="34" charset="0"/>
                <a:ea typeface="Consolas" pitchFamily="34" charset="-122"/>
                <a:cs typeface="Consolas" pitchFamily="34" charset="-120"/>
              </a:rPr>
              <a:t>VirtualThread.run(VirtualThread.java:460)</a:t>
            </a:r>
            <a:endParaRPr lang="en-US" sz="780" dirty="0"/>
          </a:p>
        </p:txBody>
      </p:sp>
      <p:sp>
        <p:nvSpPr>
          <p:cNvPr id="15" name="Shape 13"/>
          <p:cNvSpPr/>
          <p:nvPr/>
        </p:nvSpPr>
        <p:spPr>
          <a:xfrm>
            <a:off x="457200" y="5537200"/>
            <a:ext cx="11277600" cy="812800"/>
          </a:xfrm>
          <a:prstGeom prst="roundRect">
            <a:avLst>
              <a:gd name="adj" fmla="val 9375"/>
            </a:avLst>
          </a:prstGeom>
          <a:solidFill>
            <a:srgbClr val="E3F0FB"/>
          </a:solidFill>
          <a:ln/>
        </p:spPr>
      </p:sp>
      <p:sp>
        <p:nvSpPr>
          <p:cNvPr id="16" name="Text 14"/>
          <p:cNvSpPr txBox="1"/>
          <p:nvPr/>
        </p:nvSpPr>
        <p:spPr>
          <a:xfrm>
            <a:off x="660400" y="5664200"/>
            <a:ext cx="762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COMPARED WITH C#</a:t>
            </a:r>
            <a:endParaRPr lang="en-US" sz="950" dirty="0"/>
          </a:p>
        </p:txBody>
      </p:sp>
      <p:sp>
        <p:nvSpPr>
          <p:cNvPr id="17" name="Text 15"/>
          <p:cNvSpPr txBox="1"/>
          <p:nvPr/>
        </p:nvSpPr>
        <p:spPr>
          <a:xfrm>
            <a:off x="660400" y="5880100"/>
            <a:ext cx="10871200" cy="355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C# emits a 63-byte stub, a 170-byte </a:t>
            </a:r>
            <a:pPr indent="0" marL="0">
              <a:buNone/>
            </a:pPr>
            <a:r>
              <a:rPr lang="en-US" sz="1000" dirty="0">
                <a:solidFill>
                  <a:srgbClr val="1F2430"/>
                </a:solidFill>
                <a:latin typeface="Consolas" pitchFamily="34" charset="0"/>
                <a:ea typeface="Consolas" pitchFamily="34" charset="-122"/>
                <a:cs typeface="Consolas" pitchFamily="34" charset="-120"/>
              </a:rPr>
              <a:t>MoveNext()</a:t>
            </a:r>
            <a:pPr indent="0" marL="0">
              <a:buNone/>
            </a:pPr>
            <a:r>
              <a:rPr lang="en-US" sz="1000" dirty="0">
                <a:solidFill>
                  <a:srgbClr val="1F2430"/>
                </a:solidFill>
                <a:latin typeface="Segoe UI" pitchFamily="34" charset="0"/>
                <a:ea typeface="Segoe UI" pitchFamily="34" charset="-122"/>
                <a:cs typeface="Segoe UI" pitchFamily="34" charset="-120"/>
              </a:rPr>
              <a:t> and a generated struct for </a:t>
            </a:r>
            <a:pPr indent="0" marL="0">
              <a:buNone/>
            </a:pPr>
            <a:r>
              <a:rPr lang="en-US" sz="1000" b="1" dirty="0">
                <a:solidFill>
                  <a:srgbClr val="1F2430"/>
                </a:solidFill>
                <a:latin typeface="Segoe UI" pitchFamily="34" charset="0"/>
                <a:ea typeface="Segoe UI" pitchFamily="34" charset="-122"/>
                <a:cs typeface="Segoe UI" pitchFamily="34" charset="-120"/>
              </a:rPr>
              <a:t>every</a:t>
            </a:r>
            <a:pPr indent="0" marL="0">
              <a:buNone/>
            </a:pPr>
            <a:r>
              <a:rPr lang="en-US" sz="1000" dirty="0">
                <a:solidFill>
                  <a:srgbClr val="1F2430"/>
                </a:solidFill>
                <a:latin typeface="Segoe UI" pitchFamily="34" charset="0"/>
                <a:ea typeface="Segoe UI" pitchFamily="34" charset="-122"/>
                <a:cs typeface="Segoe UI" pitchFamily="34" charset="-120"/>
              </a:rPr>
              <a:t> async method. Java emits 38 bytes of plain bytecode: the state machine is the JVM's single continuation mechanism, shared by all code.</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The pinning problem is fixed</a:t>
            </a:r>
            <a:endParaRPr lang="en-US" sz="2400" dirty="0"/>
          </a:p>
        </p:txBody>
      </p:sp>
      <p:sp>
        <p:nvSpPr>
          <p:cNvPr id="3" name="Text 1"/>
          <p:cNvSpPr/>
          <p:nvPr/>
        </p:nvSpPr>
        <p:spPr>
          <a:xfrm>
            <a:off x="9230360" y="381000"/>
            <a:ext cx="250444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491 · JAVA 24, IN 25 LTS</a:t>
            </a:r>
            <a:endParaRPr lang="en-US" sz="1000" dirty="0"/>
          </a:p>
        </p:txBody>
      </p:sp>
      <p:sp>
        <p:nvSpPr>
          <p:cNvPr id="4" name="Text 2"/>
          <p:cNvSpPr txBox="1"/>
          <p:nvPr/>
        </p:nvSpPr>
        <p:spPr>
          <a:xfrm>
            <a:off x="457200" y="812800"/>
            <a:ext cx="8128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Since Java 24, a virtual thread can block </a:t>
            </a:r>
            <a:pPr indent="0" marL="0">
              <a:buNone/>
            </a:pPr>
            <a:r>
              <a:rPr lang="en-US" sz="1200" b="1" dirty="0">
                <a:solidFill>
                  <a:srgbClr val="5B6475"/>
                </a:solidFill>
                <a:latin typeface="Segoe UI" pitchFamily="34" charset="0"/>
                <a:ea typeface="Segoe UI" pitchFamily="34" charset="-122"/>
                <a:cs typeface="Segoe UI" pitchFamily="34" charset="-120"/>
              </a:rPr>
              <a:t>inside synchronized</a:t>
            </a:r>
            <a:pPr indent="0" marL="0">
              <a:buNone/>
            </a:pPr>
            <a:r>
              <a:rPr lang="en-US" sz="1200" dirty="0">
                <a:solidFill>
                  <a:srgbClr val="5B6475"/>
                </a:solidFill>
                <a:latin typeface="Segoe UI" pitchFamily="34" charset="0"/>
                <a:ea typeface="Segoe UI" pitchFamily="34" charset="-122"/>
                <a:cs typeface="Segoe UI" pitchFamily="34" charset="-120"/>
              </a:rPr>
              <a:t> and still release its carrier — so ordinary, lock-heavy code scales without rewrites.</a:t>
            </a:r>
            <a:endParaRPr lang="en-US" sz="1200" dirty="0"/>
          </a:p>
        </p:txBody>
      </p:sp>
      <p:sp>
        <p:nvSpPr>
          <p:cNvPr id="5" name="Text 3"/>
          <p:cNvSpPr txBox="1"/>
          <p:nvPr/>
        </p:nvSpPr>
        <p:spPr>
          <a:xfrm>
            <a:off x="457200" y="1371600"/>
            <a:ext cx="5486400" cy="254000"/>
          </a:xfrm>
          <a:prstGeom prst="rect">
            <a:avLst/>
          </a:prstGeom>
          <a:noFill/>
          <a:ln/>
        </p:spPr>
        <p:txBody>
          <a:bodyPr wrap="square" lIns="0" tIns="0" rIns="0" bIns="0" rtlCol="0" anchor="t"/>
          <a:lstStyle/>
          <a:p>
            <a:pPr indent="0" marL="0">
              <a:buNone/>
            </a:pPr>
            <a:r>
              <a:rPr lang="en-US" sz="1300" b="1" dirty="0">
                <a:solidFill>
                  <a:srgbClr val="C0392B"/>
                </a:solidFill>
                <a:latin typeface="Segoe UI" pitchFamily="34" charset="0"/>
                <a:ea typeface="Segoe UI" pitchFamily="34" charset="-122"/>
                <a:cs typeface="Segoe UI" pitchFamily="34" charset="-120"/>
              </a:rPr>
              <a:t>Before — Java 21 to 23</a:t>
            </a:r>
            <a:endParaRPr lang="en-US" sz="1300" dirty="0"/>
          </a:p>
        </p:txBody>
      </p:sp>
      <p:sp>
        <p:nvSpPr>
          <p:cNvPr id="6" name="Text 4"/>
          <p:cNvSpPr txBox="1"/>
          <p:nvPr/>
        </p:nvSpPr>
        <p:spPr>
          <a:xfrm>
            <a:off x="6248400" y="1371600"/>
            <a:ext cx="5486400" cy="254000"/>
          </a:xfrm>
          <a:prstGeom prst="rect">
            <a:avLst/>
          </a:prstGeom>
          <a:noFill/>
          <a:ln/>
        </p:spPr>
        <p:txBody>
          <a:bodyPr wrap="square" lIns="0" tIns="0" rIns="0" bIns="0" rtlCol="0" anchor="t"/>
          <a:lstStyle/>
          <a:p>
            <a:pPr indent="0" marL="0">
              <a:buNone/>
            </a:pPr>
            <a:r>
              <a:rPr lang="en-US" sz="1300" b="1" dirty="0">
                <a:solidFill>
                  <a:srgbClr val="2E8B57"/>
                </a:solidFill>
                <a:latin typeface="Segoe UI" pitchFamily="34" charset="0"/>
                <a:ea typeface="Segoe UI" pitchFamily="34" charset="-122"/>
                <a:cs typeface="Segoe UI" pitchFamily="34" charset="-120"/>
              </a:rPr>
              <a:t>After — Java 24+</a:t>
            </a:r>
            <a:endParaRPr lang="en-US" sz="1300" dirty="0"/>
          </a:p>
        </p:txBody>
      </p:sp>
      <p:sp>
        <p:nvSpPr>
          <p:cNvPr id="7" name="bullets-C0392B-before"/>
          <p:cNvSpPr txBox="1"/>
          <p:nvPr/>
        </p:nvSpPr>
        <p:spPr>
          <a:xfrm>
            <a:off x="457200" y="1701800"/>
            <a:ext cx="5486400" cy="1219200"/>
          </a:xfrm>
          <a:prstGeom prst="rect">
            <a:avLst/>
          </a:prstGeom>
          <a:noFill/>
          <a:ln/>
        </p:spPr>
        <p:txBody>
          <a:bodyPr wrap="square" lIns="0" tIns="0" rIns="0" bIns="0" rtlCol="0" anchor="t"/>
          <a:lstStyle/>
          <a:p>
            <a:pPr marL="165100" indent="-165100">
              <a:lnSpc>
                <a:spcPct val="105000"/>
              </a:lnSpc>
              <a:spcAft>
                <a:spcPts val="400"/>
              </a:spcAft>
              <a:buClr>
                <a:srgbClr val="C0392B"/>
              </a:buClr>
              <a:buSzPct val="100000"/>
              <a:buChar char="●"/>
            </a:pPr>
            <a:r>
              <a:rPr lang="en-US" sz="1030" dirty="0">
                <a:solidFill>
                  <a:srgbClr val="1F2430"/>
                </a:solidFill>
                <a:latin typeface="Segoe UI" pitchFamily="34" charset="0"/>
                <a:ea typeface="Segoe UI" pitchFamily="34" charset="-122"/>
                <a:cs typeface="Segoe UI" pitchFamily="34" charset="-120"/>
              </a:rPr>
              <a:t>Monitors (synchronized) were owned by the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carrier OS thread</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so the JVM could not unmount a virtual thread holding or waiting for one.</a:t>
            </a:r>
            <a:endParaRPr lang="en-US" sz="1030" dirty="0"/>
          </a:p>
          <a:p>
            <a:pPr marL="165100" indent="-165100">
              <a:lnSpc>
                <a:spcPct val="105000"/>
              </a:lnSpc>
              <a:spcAft>
                <a:spcPts val="400"/>
              </a:spcAft>
              <a:buClr>
                <a:srgbClr val="C0392B"/>
              </a:buClr>
              <a:buSzPct val="100000"/>
              <a:buChar char="●"/>
            </a:pPr>
            <a:r>
              <a:rPr lang="en-US" sz="1030" dirty="0">
                <a:solidFill>
                  <a:srgbClr val="1F2430"/>
                </a:solidFill>
                <a:latin typeface="Segoe UI" pitchFamily="34" charset="0"/>
                <a:ea typeface="Segoe UI" pitchFamily="34" charset="-122"/>
                <a:cs typeface="Segoe UI" pitchFamily="34" charset="-120"/>
              </a:rPr>
              <a:t>Blocking inside synchronized or in Object.wait()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pinned</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the carrier. A few pinned threads could use up the whole carrier pool and stall the app, or deadlock it.</a:t>
            </a:r>
            <a:endParaRPr lang="en-US" sz="1030" dirty="0"/>
          </a:p>
          <a:p>
            <a:pPr marL="165100" indent="-165100">
              <a:lnSpc>
                <a:spcPct val="105000"/>
              </a:lnSpc>
              <a:spcAft>
                <a:spcPts val="400"/>
              </a:spcAft>
              <a:buClr>
                <a:srgbClr val="C0392B"/>
              </a:buClr>
              <a:buSzPct val="100000"/>
              <a:buChar char="●"/>
            </a:pPr>
            <a:r>
              <a:rPr lang="en-US" sz="1030" dirty="0">
                <a:solidFill>
                  <a:srgbClr val="1F2430"/>
                </a:solidFill>
                <a:latin typeface="Segoe UI" pitchFamily="34" charset="0"/>
                <a:ea typeface="Segoe UI" pitchFamily="34" charset="-122"/>
                <a:cs typeface="Segoe UI" pitchFamily="34" charset="-120"/>
              </a:rPr>
              <a:t>Workaround: rewrite hot paths with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ReentrantLock</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trace with </a:t>
            </a:r>
            <a:pPr indent="0" marL="0">
              <a:lnSpc>
                <a:spcPct val="105000"/>
              </a:lnSpc>
              <a:buNone/>
            </a:pPr>
            <a:r>
              <a:rPr lang="en-US" sz="1030" dirty="0">
                <a:solidFill>
                  <a:srgbClr val="1F2430"/>
                </a:solidFill>
                <a:latin typeface="Consolas" pitchFamily="34" charset="0"/>
                <a:ea typeface="Consolas" pitchFamily="34" charset="-122"/>
                <a:cs typeface="Consolas" pitchFamily="34" charset="-120"/>
              </a:rPr>
              <a:t>‑Djdk.tracePinnedThreads</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a:t>
            </a:r>
            <a:endParaRPr lang="en-US" sz="1030" dirty="0"/>
          </a:p>
        </p:txBody>
      </p:sp>
      <p:sp>
        <p:nvSpPr>
          <p:cNvPr id="8" name="bullets-2E8B57-after"/>
          <p:cNvSpPr txBox="1"/>
          <p:nvPr/>
        </p:nvSpPr>
        <p:spPr>
          <a:xfrm>
            <a:off x="6248400" y="1701800"/>
            <a:ext cx="5486400" cy="1219200"/>
          </a:xfrm>
          <a:prstGeom prst="rect">
            <a:avLst/>
          </a:prstGeom>
          <a:noFill/>
          <a:ln/>
        </p:spPr>
        <p:txBody>
          <a:bodyPr wrap="square" lIns="0" tIns="0" rIns="0" bIns="0" rtlCol="0" anchor="t"/>
          <a:lstStyle/>
          <a:p>
            <a:pPr marL="165100" indent="-165100">
              <a:lnSpc>
                <a:spcPct val="105000"/>
              </a:lnSpc>
              <a:spcAft>
                <a:spcPts val="400"/>
              </a:spcAft>
              <a:buClr>
                <a:srgbClr val="2E8B57"/>
              </a:buClr>
              <a:buSzPct val="100000"/>
              <a:buChar char="●"/>
            </a:pPr>
            <a:r>
              <a:rPr lang="en-US" sz="1030" dirty="0">
                <a:solidFill>
                  <a:srgbClr val="1F2430"/>
                </a:solidFill>
                <a:latin typeface="Segoe UI" pitchFamily="34" charset="0"/>
                <a:ea typeface="Segoe UI" pitchFamily="34" charset="-122"/>
                <a:cs typeface="Segoe UI" pitchFamily="34" charset="-120"/>
              </a:rPr>
              <a:t>Monitors are now owned by the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virtual thread itself</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not its carrier.</a:t>
            </a:r>
            <a:endParaRPr lang="en-US" sz="1030" dirty="0"/>
          </a:p>
          <a:p>
            <a:pPr marL="165100" indent="-165100">
              <a:lnSpc>
                <a:spcPct val="105000"/>
              </a:lnSpc>
              <a:spcAft>
                <a:spcPts val="400"/>
              </a:spcAft>
              <a:buClr>
                <a:srgbClr val="2E8B57"/>
              </a:buClr>
              <a:buSzPct val="100000"/>
              <a:buChar char="●"/>
            </a:pPr>
            <a:r>
              <a:rPr lang="en-US" sz="1030" dirty="0">
                <a:solidFill>
                  <a:srgbClr val="1F2430"/>
                </a:solidFill>
                <a:latin typeface="Segoe UI" pitchFamily="34" charset="0"/>
                <a:ea typeface="Segoe UI" pitchFamily="34" charset="-122"/>
                <a:cs typeface="Segoe UI" pitchFamily="34" charset="-120"/>
              </a:rPr>
              <a:t>A virtual thread now unmounts when it blocks while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holding</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a monitor, while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waiting to enter</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 one, and inside </a:t>
            </a:r>
            <a:pPr indent="0" marL="0">
              <a:lnSpc>
                <a:spcPct val="105000"/>
              </a:lnSpc>
              <a:buNone/>
            </a:pPr>
            <a:r>
              <a:rPr lang="en-US" sz="1030" b="1" dirty="0">
                <a:solidFill>
                  <a:srgbClr val="1F2430"/>
                </a:solidFill>
                <a:latin typeface="Segoe UI" pitchFamily="34" charset="0"/>
                <a:ea typeface="Segoe UI" pitchFamily="34" charset="-122"/>
                <a:cs typeface="Segoe UI" pitchFamily="34" charset="-120"/>
              </a:rPr>
              <a:t>Object.wait()</a:t>
            </a:r>
            <a:pPr indent="0" marL="0">
              <a:lnSpc>
                <a:spcPct val="105000"/>
              </a:lnSpc>
              <a:buNone/>
            </a:pPr>
            <a:r>
              <a:rPr lang="en-US" sz="1030" dirty="0">
                <a:solidFill>
                  <a:srgbClr val="1F2430"/>
                </a:solidFill>
                <a:latin typeface="Segoe UI" pitchFamily="34" charset="0"/>
                <a:ea typeface="Segoe UI" pitchFamily="34" charset="-122"/>
                <a:cs typeface="Segoe UI" pitchFamily="34" charset="-120"/>
              </a:rPr>
              <a:t>.</a:t>
            </a:r>
            <a:endParaRPr lang="en-US" sz="1030" dirty="0"/>
          </a:p>
          <a:p>
            <a:pPr marL="165100" indent="-165100">
              <a:lnSpc>
                <a:spcPct val="105000"/>
              </a:lnSpc>
              <a:spcAft>
                <a:spcPts val="400"/>
              </a:spcAft>
              <a:buClr>
                <a:srgbClr val="2E8B57"/>
              </a:buClr>
              <a:buSzPct val="100000"/>
              <a:buChar char="●"/>
            </a:pPr>
            <a:r>
              <a:rPr lang="en-US" sz="1030" dirty="0">
                <a:solidFill>
                  <a:srgbClr val="1F2430"/>
                </a:solidFill>
                <a:latin typeface="Segoe UI" pitchFamily="34" charset="0"/>
                <a:ea typeface="Segoe UI" pitchFamily="34" charset="-122"/>
                <a:cs typeface="Segoe UI" pitchFamily="34" charset="-120"/>
              </a:rPr>
              <a:t>No code changes: the same synchronized block now frees its carrier. You no longer need to switch to ReentrantLock for this.</a:t>
            </a:r>
            <a:endParaRPr lang="en-US" sz="1030" dirty="0"/>
          </a:p>
        </p:txBody>
      </p:sp>
      <p:sp>
        <p:nvSpPr>
          <p:cNvPr id="9" name="Shape 7"/>
          <p:cNvSpPr/>
          <p:nvPr/>
        </p:nvSpPr>
        <p:spPr>
          <a:xfrm>
            <a:off x="457200" y="2997200"/>
            <a:ext cx="5486400" cy="903224"/>
          </a:xfrm>
          <a:prstGeom prst="roundRect">
            <a:avLst>
              <a:gd name="adj" fmla="val 8436"/>
            </a:avLst>
          </a:prstGeom>
          <a:solidFill>
            <a:srgbClr val="1E2230"/>
          </a:solidFill>
          <a:ln/>
        </p:spPr>
      </p:sp>
      <p:sp>
        <p:nvSpPr>
          <p:cNvPr id="10" name="Text 8"/>
          <p:cNvSpPr txBox="1"/>
          <p:nvPr/>
        </p:nvSpPr>
        <p:spPr>
          <a:xfrm>
            <a:off x="584200" y="3098800"/>
            <a:ext cx="5232400" cy="700024"/>
          </a:xfrm>
          <a:prstGeom prst="rect">
            <a:avLst/>
          </a:prstGeom>
          <a:noFill/>
          <a:ln/>
        </p:spPr>
        <p:txBody>
          <a:bodyPr wrap="square" lIns="0" tIns="0" rIns="0" bIns="0" rtlCol="0" anchor="t"/>
          <a:lstStyle/>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synchronized (cache) {</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var r = http.</a:t>
            </a:r>
            <a:pPr indent="0" marL="0">
              <a:lnSpc>
                <a:spcPts val="1278"/>
              </a:lnSpc>
              <a:buNone/>
            </a:pPr>
            <a:r>
              <a:rPr lang="en-US" sz="900" b="1" dirty="0">
                <a:solidFill>
                  <a:srgbClr val="FF7B72"/>
                </a:solidFill>
                <a:latin typeface="Consolas" pitchFamily="34" charset="0"/>
                <a:ea typeface="Consolas" pitchFamily="34" charset="-122"/>
                <a:cs typeface="Consolas" pitchFamily="34" charset="-120"/>
              </a:rPr>
              <a:t>send</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(req, ofString());</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blocks</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cache.put(key, r.body());</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carrier stuck for the whole I/O wait</a:t>
            </a:r>
            <a:endParaRPr lang="en-US" sz="900" dirty="0"/>
          </a:p>
        </p:txBody>
      </p:sp>
      <p:sp>
        <p:nvSpPr>
          <p:cNvPr id="11" name="Shape 9"/>
          <p:cNvSpPr/>
          <p:nvPr/>
        </p:nvSpPr>
        <p:spPr>
          <a:xfrm>
            <a:off x="6248400" y="2997200"/>
            <a:ext cx="5486400" cy="903224"/>
          </a:xfrm>
          <a:prstGeom prst="roundRect">
            <a:avLst>
              <a:gd name="adj" fmla="val 8436"/>
            </a:avLst>
          </a:prstGeom>
          <a:solidFill>
            <a:srgbClr val="1E2230"/>
          </a:solidFill>
          <a:ln/>
        </p:spPr>
      </p:sp>
      <p:sp>
        <p:nvSpPr>
          <p:cNvPr id="12" name="Text 10"/>
          <p:cNvSpPr txBox="1"/>
          <p:nvPr/>
        </p:nvSpPr>
        <p:spPr>
          <a:xfrm>
            <a:off x="6375400" y="3098800"/>
            <a:ext cx="5232400" cy="700024"/>
          </a:xfrm>
          <a:prstGeom prst="rect">
            <a:avLst/>
          </a:prstGeom>
          <a:noFill/>
          <a:ln/>
        </p:spPr>
        <p:txBody>
          <a:bodyPr wrap="square" lIns="0" tIns="0" rIns="0" bIns="0" rtlCol="0" anchor="t"/>
          <a:lstStyle/>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synchronized (cache) {</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var r = http.</a:t>
            </a:r>
            <a:pPr indent="0" marL="0">
              <a:lnSpc>
                <a:spcPts val="1278"/>
              </a:lnSpc>
              <a:buNone/>
            </a:pPr>
            <a:r>
              <a:rPr lang="en-US" sz="900" b="1" dirty="0">
                <a:solidFill>
                  <a:srgbClr val="FFB86C"/>
                </a:solidFill>
                <a:latin typeface="Consolas" pitchFamily="34" charset="0"/>
                <a:ea typeface="Consolas" pitchFamily="34" charset="-122"/>
                <a:cs typeface="Consolas" pitchFamily="34" charset="-120"/>
              </a:rPr>
              <a:t>send</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(req, ofString());</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unmounts</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cache.put(key, r.body());</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carrier runs other virtual threads meanwhile</a:t>
            </a:r>
            <a:endParaRPr lang="en-US" sz="900" dirty="0"/>
          </a:p>
        </p:txBody>
      </p:sp>
      <p:sp>
        <p:nvSpPr>
          <p:cNvPr id="13" name="Text 11"/>
          <p:cNvSpPr txBox="1"/>
          <p:nvPr/>
        </p:nvSpPr>
        <p:spPr>
          <a:xfrm>
            <a:off x="457200" y="4052824"/>
            <a:ext cx="54864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Carrier pool: every carrier pinned → other virtual threads wait</a:t>
            </a:r>
            <a:endParaRPr lang="en-US" sz="950" dirty="0"/>
          </a:p>
        </p:txBody>
      </p:sp>
      <p:sp>
        <p:nvSpPr>
          <p:cNvPr id="14" name="Shape 12"/>
          <p:cNvSpPr/>
          <p:nvPr/>
        </p:nvSpPr>
        <p:spPr>
          <a:xfrm>
            <a:off x="457200" y="4332224"/>
            <a:ext cx="762000" cy="508000"/>
          </a:xfrm>
          <a:prstGeom prst="roundRect">
            <a:avLst>
              <a:gd name="adj" fmla="val 12500"/>
            </a:avLst>
          </a:prstGeom>
          <a:solidFill>
            <a:srgbClr val="F4F6F9"/>
          </a:solidFill>
          <a:ln w="10160">
            <a:solidFill>
              <a:srgbClr val="DDE2EA"/>
            </a:solidFill>
            <a:prstDash val="solid"/>
          </a:ln>
        </p:spPr>
      </p:sp>
      <p:sp>
        <p:nvSpPr>
          <p:cNvPr id="15" name="Text 13"/>
          <p:cNvSpPr txBox="1"/>
          <p:nvPr/>
        </p:nvSpPr>
        <p:spPr>
          <a:xfrm>
            <a:off x="4572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1</a:t>
            </a:r>
            <a:endParaRPr lang="en-US" sz="750" dirty="0"/>
          </a:p>
        </p:txBody>
      </p:sp>
      <p:sp>
        <p:nvSpPr>
          <p:cNvPr id="16" name="Text 14"/>
          <p:cNvSpPr/>
          <p:nvPr/>
        </p:nvSpPr>
        <p:spPr>
          <a:xfrm>
            <a:off x="533400" y="4535424"/>
            <a:ext cx="609600" cy="228600"/>
          </a:xfrm>
          <a:prstGeom prst="roundRect">
            <a:avLst>
              <a:gd name="adj" fmla="val 22222"/>
            </a:avLst>
          </a:prstGeom>
          <a:solidFill>
            <a:srgbClr val="C0392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pinned</a:t>
            </a:r>
            <a:endParaRPr lang="en-US" sz="800" dirty="0"/>
          </a:p>
        </p:txBody>
      </p:sp>
      <p:sp>
        <p:nvSpPr>
          <p:cNvPr id="17" name="Shape 15"/>
          <p:cNvSpPr/>
          <p:nvPr/>
        </p:nvSpPr>
        <p:spPr>
          <a:xfrm>
            <a:off x="1295400" y="4332224"/>
            <a:ext cx="762000" cy="508000"/>
          </a:xfrm>
          <a:prstGeom prst="roundRect">
            <a:avLst>
              <a:gd name="adj" fmla="val 12500"/>
            </a:avLst>
          </a:prstGeom>
          <a:solidFill>
            <a:srgbClr val="F4F6F9"/>
          </a:solidFill>
          <a:ln w="10160">
            <a:solidFill>
              <a:srgbClr val="DDE2EA"/>
            </a:solidFill>
            <a:prstDash val="solid"/>
          </a:ln>
        </p:spPr>
      </p:sp>
      <p:sp>
        <p:nvSpPr>
          <p:cNvPr id="18" name="Text 16"/>
          <p:cNvSpPr txBox="1"/>
          <p:nvPr/>
        </p:nvSpPr>
        <p:spPr>
          <a:xfrm>
            <a:off x="12954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2</a:t>
            </a:r>
            <a:endParaRPr lang="en-US" sz="750" dirty="0"/>
          </a:p>
        </p:txBody>
      </p:sp>
      <p:sp>
        <p:nvSpPr>
          <p:cNvPr id="19" name="Text 17"/>
          <p:cNvSpPr/>
          <p:nvPr/>
        </p:nvSpPr>
        <p:spPr>
          <a:xfrm>
            <a:off x="1371600" y="4535424"/>
            <a:ext cx="609600" cy="228600"/>
          </a:xfrm>
          <a:prstGeom prst="roundRect">
            <a:avLst>
              <a:gd name="adj" fmla="val 22222"/>
            </a:avLst>
          </a:prstGeom>
          <a:solidFill>
            <a:srgbClr val="C0392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pinned</a:t>
            </a:r>
            <a:endParaRPr lang="en-US" sz="800" dirty="0"/>
          </a:p>
        </p:txBody>
      </p:sp>
      <p:sp>
        <p:nvSpPr>
          <p:cNvPr id="20" name="Shape 18"/>
          <p:cNvSpPr/>
          <p:nvPr/>
        </p:nvSpPr>
        <p:spPr>
          <a:xfrm>
            <a:off x="2133600" y="4332224"/>
            <a:ext cx="762000" cy="508000"/>
          </a:xfrm>
          <a:prstGeom prst="roundRect">
            <a:avLst>
              <a:gd name="adj" fmla="val 12500"/>
            </a:avLst>
          </a:prstGeom>
          <a:solidFill>
            <a:srgbClr val="F4F6F9"/>
          </a:solidFill>
          <a:ln w="10160">
            <a:solidFill>
              <a:srgbClr val="DDE2EA"/>
            </a:solidFill>
            <a:prstDash val="solid"/>
          </a:ln>
        </p:spPr>
      </p:sp>
      <p:sp>
        <p:nvSpPr>
          <p:cNvPr id="21" name="Text 19"/>
          <p:cNvSpPr txBox="1"/>
          <p:nvPr/>
        </p:nvSpPr>
        <p:spPr>
          <a:xfrm>
            <a:off x="21336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3</a:t>
            </a:r>
            <a:endParaRPr lang="en-US" sz="750" dirty="0"/>
          </a:p>
        </p:txBody>
      </p:sp>
      <p:sp>
        <p:nvSpPr>
          <p:cNvPr id="22" name="Text 20"/>
          <p:cNvSpPr/>
          <p:nvPr/>
        </p:nvSpPr>
        <p:spPr>
          <a:xfrm>
            <a:off x="2209800" y="4535424"/>
            <a:ext cx="609600" cy="228600"/>
          </a:xfrm>
          <a:prstGeom prst="roundRect">
            <a:avLst>
              <a:gd name="adj" fmla="val 22222"/>
            </a:avLst>
          </a:prstGeom>
          <a:solidFill>
            <a:srgbClr val="C0392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pinned</a:t>
            </a:r>
            <a:endParaRPr lang="en-US" sz="800" dirty="0"/>
          </a:p>
        </p:txBody>
      </p:sp>
      <p:sp>
        <p:nvSpPr>
          <p:cNvPr id="23" name="Shape 21"/>
          <p:cNvSpPr/>
          <p:nvPr/>
        </p:nvSpPr>
        <p:spPr>
          <a:xfrm>
            <a:off x="2971800" y="4332224"/>
            <a:ext cx="762000" cy="508000"/>
          </a:xfrm>
          <a:prstGeom prst="roundRect">
            <a:avLst>
              <a:gd name="adj" fmla="val 12500"/>
            </a:avLst>
          </a:prstGeom>
          <a:solidFill>
            <a:srgbClr val="F4F6F9"/>
          </a:solidFill>
          <a:ln w="10160">
            <a:solidFill>
              <a:srgbClr val="DDE2EA"/>
            </a:solidFill>
            <a:prstDash val="solid"/>
          </a:ln>
        </p:spPr>
      </p:sp>
      <p:sp>
        <p:nvSpPr>
          <p:cNvPr id="24" name="Text 22"/>
          <p:cNvSpPr txBox="1"/>
          <p:nvPr/>
        </p:nvSpPr>
        <p:spPr>
          <a:xfrm>
            <a:off x="29718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4</a:t>
            </a:r>
            <a:endParaRPr lang="en-US" sz="750" dirty="0"/>
          </a:p>
        </p:txBody>
      </p:sp>
      <p:sp>
        <p:nvSpPr>
          <p:cNvPr id="25" name="Text 23"/>
          <p:cNvSpPr/>
          <p:nvPr/>
        </p:nvSpPr>
        <p:spPr>
          <a:xfrm>
            <a:off x="3048000" y="4535424"/>
            <a:ext cx="609600" cy="228600"/>
          </a:xfrm>
          <a:prstGeom prst="roundRect">
            <a:avLst>
              <a:gd name="adj" fmla="val 22222"/>
            </a:avLst>
          </a:prstGeom>
          <a:solidFill>
            <a:srgbClr val="C0392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pinned</a:t>
            </a:r>
            <a:endParaRPr lang="en-US" sz="800" dirty="0"/>
          </a:p>
        </p:txBody>
      </p:sp>
      <p:sp>
        <p:nvSpPr>
          <p:cNvPr id="26" name="Text 24"/>
          <p:cNvSpPr txBox="1"/>
          <p:nvPr/>
        </p:nvSpPr>
        <p:spPr>
          <a:xfrm>
            <a:off x="6248400" y="4052824"/>
            <a:ext cx="54864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Carrier pool: blocked threads park on the heap, carriers keep working</a:t>
            </a:r>
            <a:endParaRPr lang="en-US" sz="950" dirty="0"/>
          </a:p>
        </p:txBody>
      </p:sp>
      <p:sp>
        <p:nvSpPr>
          <p:cNvPr id="27" name="Shape 25"/>
          <p:cNvSpPr/>
          <p:nvPr/>
        </p:nvSpPr>
        <p:spPr>
          <a:xfrm>
            <a:off x="6248400" y="4332224"/>
            <a:ext cx="762000" cy="508000"/>
          </a:xfrm>
          <a:prstGeom prst="roundRect">
            <a:avLst>
              <a:gd name="adj" fmla="val 12500"/>
            </a:avLst>
          </a:prstGeom>
          <a:solidFill>
            <a:srgbClr val="F4F6F9"/>
          </a:solidFill>
          <a:ln w="10160">
            <a:solidFill>
              <a:srgbClr val="DDE2EA"/>
            </a:solidFill>
            <a:prstDash val="solid"/>
          </a:ln>
        </p:spPr>
      </p:sp>
      <p:sp>
        <p:nvSpPr>
          <p:cNvPr id="28" name="Text 26"/>
          <p:cNvSpPr txBox="1"/>
          <p:nvPr/>
        </p:nvSpPr>
        <p:spPr>
          <a:xfrm>
            <a:off x="62484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1</a:t>
            </a:r>
            <a:endParaRPr lang="en-US" sz="750" dirty="0"/>
          </a:p>
        </p:txBody>
      </p:sp>
      <p:sp>
        <p:nvSpPr>
          <p:cNvPr id="29" name="Text 27"/>
          <p:cNvSpPr/>
          <p:nvPr/>
        </p:nvSpPr>
        <p:spPr>
          <a:xfrm>
            <a:off x="6324600" y="4535424"/>
            <a:ext cx="609600" cy="228600"/>
          </a:xfrm>
          <a:prstGeom prst="roundRect">
            <a:avLst>
              <a:gd name="adj" fmla="val 22222"/>
            </a:avLst>
          </a:prstGeom>
          <a:solidFill>
            <a:srgbClr val="2E8B57"/>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VT #812</a:t>
            </a:r>
            <a:endParaRPr lang="en-US" sz="800" dirty="0"/>
          </a:p>
        </p:txBody>
      </p:sp>
      <p:sp>
        <p:nvSpPr>
          <p:cNvPr id="30" name="Shape 28"/>
          <p:cNvSpPr/>
          <p:nvPr/>
        </p:nvSpPr>
        <p:spPr>
          <a:xfrm>
            <a:off x="7086600" y="4332224"/>
            <a:ext cx="762000" cy="508000"/>
          </a:xfrm>
          <a:prstGeom prst="roundRect">
            <a:avLst>
              <a:gd name="adj" fmla="val 12500"/>
            </a:avLst>
          </a:prstGeom>
          <a:solidFill>
            <a:srgbClr val="F4F6F9"/>
          </a:solidFill>
          <a:ln w="10160">
            <a:solidFill>
              <a:srgbClr val="DDE2EA"/>
            </a:solidFill>
            <a:prstDash val="solid"/>
          </a:ln>
        </p:spPr>
      </p:sp>
      <p:sp>
        <p:nvSpPr>
          <p:cNvPr id="31" name="Text 29"/>
          <p:cNvSpPr txBox="1"/>
          <p:nvPr/>
        </p:nvSpPr>
        <p:spPr>
          <a:xfrm>
            <a:off x="70866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2</a:t>
            </a:r>
            <a:endParaRPr lang="en-US" sz="750" dirty="0"/>
          </a:p>
        </p:txBody>
      </p:sp>
      <p:sp>
        <p:nvSpPr>
          <p:cNvPr id="32" name="Text 30"/>
          <p:cNvSpPr/>
          <p:nvPr/>
        </p:nvSpPr>
        <p:spPr>
          <a:xfrm>
            <a:off x="7162800" y="4535424"/>
            <a:ext cx="609600" cy="228600"/>
          </a:xfrm>
          <a:prstGeom prst="roundRect">
            <a:avLst>
              <a:gd name="adj" fmla="val 22222"/>
            </a:avLst>
          </a:prstGeom>
          <a:solidFill>
            <a:srgbClr val="2E8B57"/>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VT #47</a:t>
            </a:r>
            <a:endParaRPr lang="en-US" sz="800" dirty="0"/>
          </a:p>
        </p:txBody>
      </p:sp>
      <p:sp>
        <p:nvSpPr>
          <p:cNvPr id="33" name="Shape 31"/>
          <p:cNvSpPr/>
          <p:nvPr/>
        </p:nvSpPr>
        <p:spPr>
          <a:xfrm>
            <a:off x="7924800" y="4332224"/>
            <a:ext cx="762000" cy="508000"/>
          </a:xfrm>
          <a:prstGeom prst="roundRect">
            <a:avLst>
              <a:gd name="adj" fmla="val 12500"/>
            </a:avLst>
          </a:prstGeom>
          <a:solidFill>
            <a:srgbClr val="F4F6F9"/>
          </a:solidFill>
          <a:ln w="10160">
            <a:solidFill>
              <a:srgbClr val="DDE2EA"/>
            </a:solidFill>
            <a:prstDash val="solid"/>
          </a:ln>
        </p:spPr>
      </p:sp>
      <p:sp>
        <p:nvSpPr>
          <p:cNvPr id="34" name="Text 32"/>
          <p:cNvSpPr txBox="1"/>
          <p:nvPr/>
        </p:nvSpPr>
        <p:spPr>
          <a:xfrm>
            <a:off x="79248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3</a:t>
            </a:r>
            <a:endParaRPr lang="en-US" sz="750" dirty="0"/>
          </a:p>
        </p:txBody>
      </p:sp>
      <p:sp>
        <p:nvSpPr>
          <p:cNvPr id="35" name="Text 33"/>
          <p:cNvSpPr/>
          <p:nvPr/>
        </p:nvSpPr>
        <p:spPr>
          <a:xfrm>
            <a:off x="8001000" y="4535424"/>
            <a:ext cx="609600" cy="228600"/>
          </a:xfrm>
          <a:prstGeom prst="roundRect">
            <a:avLst>
              <a:gd name="adj" fmla="val 22222"/>
            </a:avLst>
          </a:prstGeom>
          <a:solidFill>
            <a:srgbClr val="2E8B57"/>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VT #3301</a:t>
            </a:r>
            <a:endParaRPr lang="en-US" sz="800" dirty="0"/>
          </a:p>
        </p:txBody>
      </p:sp>
      <p:sp>
        <p:nvSpPr>
          <p:cNvPr id="36" name="Shape 34"/>
          <p:cNvSpPr/>
          <p:nvPr/>
        </p:nvSpPr>
        <p:spPr>
          <a:xfrm>
            <a:off x="8763000" y="4332224"/>
            <a:ext cx="762000" cy="508000"/>
          </a:xfrm>
          <a:prstGeom prst="roundRect">
            <a:avLst>
              <a:gd name="adj" fmla="val 12500"/>
            </a:avLst>
          </a:prstGeom>
          <a:solidFill>
            <a:srgbClr val="F4F6F9"/>
          </a:solidFill>
          <a:ln w="10160">
            <a:solidFill>
              <a:srgbClr val="DDE2EA"/>
            </a:solidFill>
            <a:prstDash val="solid"/>
          </a:ln>
        </p:spPr>
      </p:sp>
      <p:sp>
        <p:nvSpPr>
          <p:cNvPr id="37" name="Text 35"/>
          <p:cNvSpPr txBox="1"/>
          <p:nvPr/>
        </p:nvSpPr>
        <p:spPr>
          <a:xfrm>
            <a:off x="8763000" y="4370324"/>
            <a:ext cx="762000" cy="1397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carrier 4</a:t>
            </a:r>
            <a:endParaRPr lang="en-US" sz="750" dirty="0"/>
          </a:p>
        </p:txBody>
      </p:sp>
      <p:sp>
        <p:nvSpPr>
          <p:cNvPr id="38" name="Text 36"/>
          <p:cNvSpPr/>
          <p:nvPr/>
        </p:nvSpPr>
        <p:spPr>
          <a:xfrm>
            <a:off x="8839200" y="4535424"/>
            <a:ext cx="609600" cy="228600"/>
          </a:xfrm>
          <a:prstGeom prst="roundRect">
            <a:avLst>
              <a:gd name="adj" fmla="val 22222"/>
            </a:avLst>
          </a:prstGeom>
          <a:solidFill>
            <a:srgbClr val="9AA3B2"/>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free</a:t>
            </a:r>
            <a:endParaRPr lang="en-US" sz="800" dirty="0"/>
          </a:p>
        </p:txBody>
      </p:sp>
      <p:sp>
        <p:nvSpPr>
          <p:cNvPr id="39" name="Shape 37"/>
          <p:cNvSpPr/>
          <p:nvPr/>
        </p:nvSpPr>
        <p:spPr>
          <a:xfrm>
            <a:off x="457200" y="5511800"/>
            <a:ext cx="11277600" cy="838200"/>
          </a:xfrm>
          <a:prstGeom prst="roundRect">
            <a:avLst>
              <a:gd name="adj" fmla="val 9091"/>
            </a:avLst>
          </a:prstGeom>
          <a:solidFill>
            <a:srgbClr val="F4F6F9"/>
          </a:solidFill>
          <a:ln/>
        </p:spPr>
      </p:sp>
      <p:sp>
        <p:nvSpPr>
          <p:cNvPr id="40" name="Text 38"/>
          <p:cNvSpPr txBox="1"/>
          <p:nvPr/>
        </p:nvSpPr>
        <p:spPr>
          <a:xfrm>
            <a:off x="660400" y="5638800"/>
            <a:ext cx="5080000" cy="177800"/>
          </a:xfrm>
          <a:prstGeom prst="rect">
            <a:avLst/>
          </a:prstGeom>
          <a:noFill/>
          <a:ln/>
        </p:spPr>
        <p:txBody>
          <a:bodyPr wrap="square" lIns="0" tIns="0" rIns="0" bIns="0" rtlCol="0" anchor="t"/>
          <a:lstStyle/>
          <a:p>
            <a:pPr indent="0" marL="0">
              <a:buNone/>
            </a:pPr>
            <a:r>
              <a:rPr lang="en-US" sz="950" b="1" dirty="0">
                <a:solidFill>
                  <a:srgbClr val="5B6475"/>
                </a:solidFill>
                <a:latin typeface="Segoe UI" pitchFamily="34" charset="0"/>
                <a:ea typeface="Segoe UI" pitchFamily="34" charset="-122"/>
                <a:cs typeface="Segoe UI" pitchFamily="34" charset="-120"/>
              </a:rPr>
              <a:t>STILL PINS (RARE)</a:t>
            </a:r>
            <a:endParaRPr lang="en-US" sz="950" dirty="0"/>
          </a:p>
        </p:txBody>
      </p:sp>
      <p:sp>
        <p:nvSpPr>
          <p:cNvPr id="41" name="Text 39"/>
          <p:cNvSpPr txBox="1"/>
          <p:nvPr/>
        </p:nvSpPr>
        <p:spPr>
          <a:xfrm>
            <a:off x="660400" y="5854700"/>
            <a:ext cx="5181600" cy="4318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Blocking inside </a:t>
            </a:r>
            <a:pPr indent="0" marL="0">
              <a:buNone/>
            </a:pPr>
            <a:r>
              <a:rPr lang="en-US" sz="1000" b="1" dirty="0">
                <a:solidFill>
                  <a:srgbClr val="1F2430"/>
                </a:solidFill>
                <a:latin typeface="Segoe UI" pitchFamily="34" charset="0"/>
                <a:ea typeface="Segoe UI" pitchFamily="34" charset="-122"/>
                <a:cs typeface="Segoe UI" pitchFamily="34" charset="-120"/>
              </a:rPr>
              <a:t>native code</a:t>
            </a:r>
            <a:pPr indent="0" marL="0">
              <a:buNone/>
            </a:pPr>
            <a:r>
              <a:rPr lang="en-US" sz="1000" dirty="0">
                <a:solidFill>
                  <a:srgbClr val="1F2430"/>
                </a:solidFill>
                <a:latin typeface="Segoe UI" pitchFamily="34" charset="0"/>
                <a:ea typeface="Segoe UI" pitchFamily="34" charset="-122"/>
                <a:cs typeface="Segoe UI" pitchFamily="34" charset="-120"/>
              </a:rPr>
              <a:t> (JNI, or FFM upcalls), and blocking during </a:t>
            </a:r>
            <a:pPr indent="0" marL="0">
              <a:buNone/>
            </a:pPr>
            <a:r>
              <a:rPr lang="en-US" sz="1000" b="1" dirty="0">
                <a:solidFill>
                  <a:srgbClr val="1F2430"/>
                </a:solidFill>
                <a:latin typeface="Segoe UI" pitchFamily="34" charset="0"/>
                <a:ea typeface="Segoe UI" pitchFamily="34" charset="-122"/>
                <a:cs typeface="Segoe UI" pitchFamily="34" charset="-120"/>
              </a:rPr>
              <a:t>class initialization</a:t>
            </a:r>
            <a:pPr indent="0" marL="0">
              <a:buNone/>
            </a:pPr>
            <a:r>
              <a:rPr lang="en-US" sz="1000" dirty="0">
                <a:solidFill>
                  <a:srgbClr val="1F2430"/>
                </a:solidFill>
                <a:latin typeface="Segoe UI" pitchFamily="34" charset="0"/>
                <a:ea typeface="Segoe UI" pitchFamily="34" charset="-122"/>
                <a:cs typeface="Segoe UI" pitchFamily="34" charset="-120"/>
              </a:rPr>
              <a:t> or class loading.</a:t>
            </a:r>
            <a:endParaRPr lang="en-US" sz="1000" dirty="0"/>
          </a:p>
        </p:txBody>
      </p:sp>
      <p:sp>
        <p:nvSpPr>
          <p:cNvPr id="42" name="Text 40"/>
          <p:cNvSpPr txBox="1"/>
          <p:nvPr/>
        </p:nvSpPr>
        <p:spPr>
          <a:xfrm>
            <a:off x="6350000" y="5638800"/>
            <a:ext cx="5080000" cy="177800"/>
          </a:xfrm>
          <a:prstGeom prst="rect">
            <a:avLst/>
          </a:prstGeom>
          <a:noFill/>
          <a:ln/>
        </p:spPr>
        <p:txBody>
          <a:bodyPr wrap="square" lIns="0" tIns="0" rIns="0" bIns="0" rtlCol="0" anchor="t"/>
          <a:lstStyle/>
          <a:p>
            <a:pPr indent="0" marL="0">
              <a:buNone/>
            </a:pPr>
            <a:r>
              <a:rPr lang="en-US" sz="950" b="1" dirty="0">
                <a:solidFill>
                  <a:srgbClr val="5B6475"/>
                </a:solidFill>
                <a:latin typeface="Segoe UI" pitchFamily="34" charset="0"/>
                <a:ea typeface="Segoe UI" pitchFamily="34" charset="-122"/>
                <a:cs typeface="Segoe UI" pitchFamily="34" charset="-120"/>
              </a:rPr>
              <a:t>HOW TO SPOT IT</a:t>
            </a:r>
            <a:endParaRPr lang="en-US" sz="950" dirty="0"/>
          </a:p>
        </p:txBody>
      </p:sp>
      <p:sp>
        <p:nvSpPr>
          <p:cNvPr id="43" name="Text 41"/>
          <p:cNvSpPr txBox="1"/>
          <p:nvPr/>
        </p:nvSpPr>
        <p:spPr>
          <a:xfrm>
            <a:off x="6350000" y="5854700"/>
            <a:ext cx="5181600" cy="4318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JFR event </a:t>
            </a:r>
            <a:pPr indent="0" marL="0">
              <a:buNone/>
            </a:pPr>
            <a:r>
              <a:rPr lang="en-US" sz="1000" dirty="0">
                <a:solidFill>
                  <a:srgbClr val="1F2430"/>
                </a:solidFill>
                <a:latin typeface="Consolas" pitchFamily="34" charset="0"/>
                <a:ea typeface="Consolas" pitchFamily="34" charset="-122"/>
                <a:cs typeface="Consolas" pitchFamily="34" charset="-120"/>
              </a:rPr>
              <a:t>jdk.VirtualThreadPinned</a:t>
            </a:r>
            <a:pPr indent="0" marL="0">
              <a:buNone/>
            </a:pPr>
            <a:r>
              <a:rPr lang="en-US" sz="1000" dirty="0">
                <a:solidFill>
                  <a:srgbClr val="1F2430"/>
                </a:solidFill>
                <a:latin typeface="Segoe UI" pitchFamily="34" charset="0"/>
                <a:ea typeface="Segoe UI" pitchFamily="34" charset="-122"/>
                <a:cs typeface="Segoe UI" pitchFamily="34" charset="-120"/>
              </a:rPr>
              <a:t> (on by default, 20 ms threshold) now reports why and where. </a:t>
            </a:r>
            <a:pPr indent="0" marL="0">
              <a:buNone/>
            </a:pPr>
            <a:r>
              <a:rPr lang="en-US" sz="1000" dirty="0">
                <a:solidFill>
                  <a:srgbClr val="1F2430"/>
                </a:solidFill>
                <a:latin typeface="Consolas" pitchFamily="34" charset="0"/>
                <a:ea typeface="Consolas" pitchFamily="34" charset="-122"/>
                <a:cs typeface="Consolas" pitchFamily="34" charset="-120"/>
              </a:rPr>
              <a:t>‑Djdk.tracePinnedThreads</a:t>
            </a:r>
            <a:pPr indent="0" marL="0">
              <a:buNone/>
            </a:pPr>
            <a:r>
              <a:rPr lang="en-US" sz="1000" dirty="0">
                <a:solidFill>
                  <a:srgbClr val="1F2430"/>
                </a:solidFill>
                <a:latin typeface="Segoe UI" pitchFamily="34" charset="0"/>
                <a:ea typeface="Segoe UI" pitchFamily="34" charset="-122"/>
                <a:cs typeface="Segoe UI" pitchFamily="34" charset="-120"/>
              </a:rPr>
              <a:t> was removed.</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Thread-local variables vs scoped values</a:t>
            </a:r>
            <a:endParaRPr lang="en-US" sz="2400" dirty="0"/>
          </a:p>
        </p:txBody>
      </p:sp>
      <p:sp>
        <p:nvSpPr>
          <p:cNvPr id="3" name="Text 1"/>
          <p:cNvSpPr/>
          <p:nvPr/>
        </p:nvSpPr>
        <p:spPr>
          <a:xfrm>
            <a:off x="9392920" y="381000"/>
            <a:ext cx="23418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506 · FINAL IN JAVA 25</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Consolas" pitchFamily="34" charset="0"/>
                <a:ea typeface="Consolas" pitchFamily="34" charset="-122"/>
                <a:cs typeface="Consolas" pitchFamily="34" charset="-120"/>
              </a:rPr>
              <a:t>ThreadLocal</a:t>
            </a:r>
            <a:pPr indent="0" marL="0">
              <a:buNone/>
            </a:pPr>
            <a:r>
              <a:rPr lang="en-US" sz="1200" dirty="0">
                <a:solidFill>
                  <a:srgbClr val="5B6475"/>
                </a:solidFill>
                <a:latin typeface="Segoe UI" pitchFamily="34" charset="0"/>
                <a:ea typeface="Segoe UI" pitchFamily="34" charset="-122"/>
                <a:cs typeface="Segoe UI" pitchFamily="34" charset="-120"/>
              </a:rPr>
              <a:t> still works on virtual threads, but it was designed for a few long-lived, pooled threads. </a:t>
            </a:r>
            <a:pPr indent="0" marL="0">
              <a:buNone/>
            </a:pPr>
            <a:r>
              <a:rPr lang="en-US" sz="1200" b="1" dirty="0">
                <a:solidFill>
                  <a:srgbClr val="5B6475"/>
                </a:solidFill>
                <a:latin typeface="Segoe UI" pitchFamily="34" charset="0"/>
                <a:ea typeface="Segoe UI" pitchFamily="34" charset="-122"/>
                <a:cs typeface="Segoe UI" pitchFamily="34" charset="-120"/>
              </a:rPr>
              <a:t>Scoped values</a:t>
            </a:r>
            <a:pPr indent="0" marL="0">
              <a:buNone/>
            </a:pPr>
            <a:r>
              <a:rPr lang="en-US" sz="1200" dirty="0">
                <a:solidFill>
                  <a:srgbClr val="5B6475"/>
                </a:solidFill>
                <a:latin typeface="Segoe UI" pitchFamily="34" charset="0"/>
                <a:ea typeface="Segoe UI" pitchFamily="34" charset="-122"/>
                <a:cs typeface="Segoe UI" pitchFamily="34" charset="-120"/>
              </a:rPr>
              <a:t> share </a:t>
            </a:r>
            <a:pPr indent="0" marL="0">
              <a:buNone/>
            </a:pPr>
            <a:r>
              <a:rPr lang="en-US" sz="1200" b="1" dirty="0">
                <a:solidFill>
                  <a:srgbClr val="5B6475"/>
                </a:solidFill>
                <a:latin typeface="Segoe UI" pitchFamily="34" charset="0"/>
                <a:ea typeface="Segoe UI" pitchFamily="34" charset="-122"/>
                <a:cs typeface="Segoe UI" pitchFamily="34" charset="-120"/>
              </a:rPr>
              <a:t>immutable</a:t>
            </a:r>
            <a:pPr indent="0" marL="0">
              <a:buNone/>
            </a:pPr>
            <a:r>
              <a:rPr lang="en-US" sz="1200" dirty="0">
                <a:solidFill>
                  <a:srgbClr val="5B6475"/>
                </a:solidFill>
                <a:latin typeface="Segoe UI" pitchFamily="34" charset="0"/>
                <a:ea typeface="Segoe UI" pitchFamily="34" charset="-122"/>
                <a:cs typeface="Segoe UI" pitchFamily="34" charset="-120"/>
              </a:rPr>
              <a:t> data for a bounded part of the call stack instead.</a:t>
            </a:r>
            <a:endParaRPr lang="en-US" sz="1200" dirty="0"/>
          </a:p>
        </p:txBody>
      </p:sp>
      <p:sp>
        <p:nvSpPr>
          <p:cNvPr id="5" name="Text 3"/>
          <p:cNvSpPr txBox="1"/>
          <p:nvPr/>
        </p:nvSpPr>
        <p:spPr>
          <a:xfrm>
            <a:off x="457200" y="1397000"/>
            <a:ext cx="54610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WHY THREADLOCAL FITS VIRTUAL THREADS POORLY</a:t>
            </a:r>
            <a:endParaRPr lang="en-US" sz="950" dirty="0"/>
          </a:p>
        </p:txBody>
      </p:sp>
      <p:sp>
        <p:nvSpPr>
          <p:cNvPr id="6" name="bullets-C0392B-tl"/>
          <p:cNvSpPr txBox="1"/>
          <p:nvPr/>
        </p:nvSpPr>
        <p:spPr>
          <a:xfrm>
            <a:off x="457200" y="1625600"/>
            <a:ext cx="5461000" cy="1778000"/>
          </a:xfrm>
          <a:prstGeom prst="rect">
            <a:avLst/>
          </a:prstGeom>
          <a:noFill/>
          <a:ln/>
        </p:spPr>
        <p:txBody>
          <a:bodyPr wrap="square" lIns="0" tIns="0" rIns="0" bIns="0" rtlCol="0" anchor="t"/>
          <a:lstStyle/>
          <a:p>
            <a:pPr marL="165100" indent="-165100">
              <a:lnSpc>
                <a:spcPct val="105000"/>
              </a:lnSpc>
              <a:spcAft>
                <a:spcPts val="400"/>
              </a:spcAft>
              <a:buClr>
                <a:srgbClr val="C0392B"/>
              </a:buClr>
              <a:buSzPct val="100000"/>
              <a:buChar char="●"/>
            </a:pPr>
            <a:r>
              <a:rPr lang="en-US" sz="950" b="1" dirty="0">
                <a:solidFill>
                  <a:srgbClr val="1F2430"/>
                </a:solidFill>
                <a:latin typeface="Segoe UI" pitchFamily="34" charset="0"/>
                <a:ea typeface="Segoe UI" pitchFamily="34" charset="-122"/>
                <a:cs typeface="Segoe UI" pitchFamily="34" charset="-120"/>
              </a:rPr>
              <a:t>Unconstrained mutability:</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any code can call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set()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any time, so data flow is hard to follow.</a:t>
            </a:r>
            <a:endParaRPr lang="en-US" sz="950" dirty="0"/>
          </a:p>
          <a:p>
            <a:pPr marL="165100" indent="-165100">
              <a:lnSpc>
                <a:spcPct val="105000"/>
              </a:lnSpc>
              <a:spcAft>
                <a:spcPts val="400"/>
              </a:spcAft>
              <a:buClr>
                <a:srgbClr val="C0392B"/>
              </a:buClr>
              <a:buSzPct val="100000"/>
              <a:buChar char="●"/>
            </a:pPr>
            <a:r>
              <a:rPr lang="en-US" sz="950" b="1" dirty="0">
                <a:solidFill>
                  <a:srgbClr val="1F2430"/>
                </a:solidFill>
                <a:latin typeface="Segoe UI" pitchFamily="34" charset="0"/>
                <a:ea typeface="Segoe UI" pitchFamily="34" charset="-122"/>
                <a:cs typeface="Segoe UI" pitchFamily="34" charset="-120"/>
              </a:rPr>
              <a:t>Unbounded lifetime: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the value stays until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remove()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or the thread ends.</a:t>
            </a:r>
            <a:endParaRPr lang="en-US" sz="950" dirty="0"/>
          </a:p>
          <a:p>
            <a:pPr marL="165100" indent="-165100">
              <a:lnSpc>
                <a:spcPct val="105000"/>
              </a:lnSpc>
              <a:spcAft>
                <a:spcPts val="400"/>
              </a:spcAft>
              <a:buClr>
                <a:srgbClr val="C0392B"/>
              </a:buClr>
              <a:buSzPct val="100000"/>
              <a:buChar char="●"/>
            </a:pPr>
            <a:r>
              <a:rPr lang="en-US" sz="950" b="1" dirty="0">
                <a:solidFill>
                  <a:srgbClr val="1F2430"/>
                </a:solidFill>
                <a:latin typeface="Segoe UI" pitchFamily="34" charset="0"/>
                <a:ea typeface="Segoe UI" pitchFamily="34" charset="-122"/>
                <a:cs typeface="Segoe UI" pitchFamily="34" charset="-120"/>
              </a:rPr>
              <a:t>Expensive inheritance: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InheritableThreadLocal</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copies values into every child thread.</a:t>
            </a:r>
            <a:endParaRPr lang="en-US" sz="950" dirty="0"/>
          </a:p>
          <a:p>
            <a:pPr marL="165100" indent="-165100">
              <a:lnSpc>
                <a:spcPct val="105000"/>
              </a:lnSpc>
              <a:spcAft>
                <a:spcPts val="400"/>
              </a:spcAft>
              <a:buClr>
                <a:srgbClr val="C0392B"/>
              </a:buClr>
              <a:buSzPct val="100000"/>
              <a:buChar char="●"/>
            </a:pPr>
            <a:r>
              <a:rPr lang="en-US" sz="950" b="1" dirty="0">
                <a:solidFill>
                  <a:srgbClr val="1F2430"/>
                </a:solidFill>
                <a:latin typeface="Segoe UI" pitchFamily="34" charset="0"/>
                <a:ea typeface="Segoe UI" pitchFamily="34" charset="-122"/>
                <a:cs typeface="Segoe UI" pitchFamily="34" charset="-120"/>
              </a:rPr>
              <a:t>Per-thread caches stop working:</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virtual threads are not pooled, so each task builds its own copy, and a million threads hold a million copies.</a:t>
            </a:r>
            <a:endParaRPr lang="en-US" sz="950" dirty="0"/>
          </a:p>
        </p:txBody>
      </p:sp>
      <p:sp>
        <p:nvSpPr>
          <p:cNvPr id="7" name="Text 5"/>
          <p:cNvSpPr txBox="1"/>
          <p:nvPr/>
        </p:nvSpPr>
        <p:spPr>
          <a:xfrm>
            <a:off x="457200" y="2794000"/>
            <a:ext cx="5461000" cy="3302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Measured on JDK 25: 10,000 tasks, each calling </a:t>
            </a:r>
            <a:pPr indent="0" marL="0">
              <a:buNone/>
            </a:pPr>
            <a:r>
              <a:rPr lang="en-US" sz="850" dirty="0">
                <a:solidFill>
                  <a:srgbClr val="5B6475"/>
                </a:solidFill>
                <a:latin typeface="Consolas" pitchFamily="34" charset="0"/>
                <a:ea typeface="Consolas" pitchFamily="34" charset="-122"/>
                <a:cs typeface="Consolas" pitchFamily="34" charset="-120"/>
              </a:rPr>
              <a:t>BUF.get()</a:t>
            </a:r>
            <a:pPr indent="0" marL="0">
              <a:buNone/>
            </a:pPr>
            <a:r>
              <a:rPr lang="en-US" sz="850" dirty="0">
                <a:solidFill>
                  <a:srgbClr val="5B6475"/>
                </a:solidFill>
                <a:latin typeface="Segoe UI" pitchFamily="34" charset="0"/>
                <a:ea typeface="Segoe UI" pitchFamily="34" charset="-122"/>
                <a:cs typeface="Segoe UI" pitchFamily="34" charset="-120"/>
              </a:rPr>
              <a:t> on a </a:t>
            </a:r>
            <a:pPr indent="0" marL="0">
              <a:buNone/>
            </a:pPr>
            <a:r>
              <a:rPr lang="en-US" sz="850" dirty="0">
                <a:solidFill>
                  <a:srgbClr val="5B6475"/>
                </a:solidFill>
                <a:latin typeface="Consolas" pitchFamily="34" charset="0"/>
                <a:ea typeface="Consolas" pitchFamily="34" charset="-122"/>
                <a:cs typeface="Consolas" pitchFamily="34" charset="-120"/>
              </a:rPr>
              <a:t>ThreadLocal.withInitial(StringBuilder::new)</a:t>
            </a:r>
            <a:endParaRPr lang="en-US" sz="850" dirty="0"/>
          </a:p>
        </p:txBody>
      </p:sp>
      <p:sp>
        <p:nvSpPr>
          <p:cNvPr id="8" name="Shape 6"/>
          <p:cNvSpPr/>
          <p:nvPr/>
        </p:nvSpPr>
        <p:spPr>
          <a:xfrm>
            <a:off x="457200" y="3175000"/>
            <a:ext cx="2667000" cy="685800"/>
          </a:xfrm>
          <a:prstGeom prst="roundRect">
            <a:avLst>
              <a:gd name="adj" fmla="val 9259"/>
            </a:avLst>
          </a:prstGeom>
          <a:solidFill>
            <a:srgbClr val="F4F6F9"/>
          </a:solidFill>
          <a:ln/>
        </p:spPr>
      </p:sp>
      <p:sp>
        <p:nvSpPr>
          <p:cNvPr id="9" name="Text 7"/>
          <p:cNvSpPr txBox="1"/>
          <p:nvPr/>
        </p:nvSpPr>
        <p:spPr>
          <a:xfrm>
            <a:off x="609600" y="3225800"/>
            <a:ext cx="2362200" cy="304800"/>
          </a:xfrm>
          <a:prstGeom prst="rect">
            <a:avLst/>
          </a:prstGeom>
          <a:noFill/>
          <a:ln/>
        </p:spPr>
        <p:txBody>
          <a:bodyPr wrap="square" lIns="0" tIns="0" rIns="0" bIns="0" rtlCol="0" anchor="t"/>
          <a:lstStyle/>
          <a:p>
            <a:pPr indent="0" marL="0">
              <a:buNone/>
            </a:pPr>
            <a:r>
              <a:rPr lang="en-US" sz="1800" b="1" dirty="0">
                <a:solidFill>
                  <a:srgbClr val="2F6FB0"/>
                </a:solidFill>
                <a:latin typeface="Segoe UI" pitchFamily="34" charset="0"/>
                <a:ea typeface="Segoe UI" pitchFamily="34" charset="-122"/>
                <a:cs typeface="Segoe UI" pitchFamily="34" charset="-120"/>
              </a:rPr>
              <a:t>8</a:t>
            </a:r>
            <a:endParaRPr lang="en-US" sz="1800" dirty="0"/>
          </a:p>
        </p:txBody>
      </p:sp>
      <p:sp>
        <p:nvSpPr>
          <p:cNvPr id="10" name="Text 8"/>
          <p:cNvSpPr txBox="1"/>
          <p:nvPr/>
        </p:nvSpPr>
        <p:spPr>
          <a:xfrm>
            <a:off x="609600" y="3606800"/>
            <a:ext cx="23622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values created · </a:t>
            </a:r>
            <a:pPr indent="0" marL="0">
              <a:buNone/>
            </a:pPr>
            <a:r>
              <a:rPr lang="en-US" sz="850" b="1" dirty="0">
                <a:solidFill>
                  <a:srgbClr val="5B6475"/>
                </a:solidFill>
                <a:latin typeface="Segoe UI" pitchFamily="34" charset="0"/>
                <a:ea typeface="Segoe UI" pitchFamily="34" charset="-122"/>
                <a:cs typeface="Segoe UI" pitchFamily="34" charset="-120"/>
              </a:rPr>
              <a:t>pool of 8 platform threads</a:t>
            </a:r>
            <a:endParaRPr lang="en-US" sz="850" dirty="0"/>
          </a:p>
        </p:txBody>
      </p:sp>
      <p:sp>
        <p:nvSpPr>
          <p:cNvPr id="11" name="Shape 9"/>
          <p:cNvSpPr/>
          <p:nvPr/>
        </p:nvSpPr>
        <p:spPr>
          <a:xfrm>
            <a:off x="3251200" y="3175000"/>
            <a:ext cx="2667000" cy="685800"/>
          </a:xfrm>
          <a:prstGeom prst="roundRect">
            <a:avLst>
              <a:gd name="adj" fmla="val 9259"/>
            </a:avLst>
          </a:prstGeom>
          <a:solidFill>
            <a:srgbClr val="F4F6F9"/>
          </a:solidFill>
          <a:ln/>
        </p:spPr>
      </p:sp>
      <p:sp>
        <p:nvSpPr>
          <p:cNvPr id="12" name="Text 10"/>
          <p:cNvSpPr txBox="1"/>
          <p:nvPr/>
        </p:nvSpPr>
        <p:spPr>
          <a:xfrm>
            <a:off x="3403600" y="3225800"/>
            <a:ext cx="2362200" cy="304800"/>
          </a:xfrm>
          <a:prstGeom prst="rect">
            <a:avLst/>
          </a:prstGeom>
          <a:noFill/>
          <a:ln/>
        </p:spPr>
        <p:txBody>
          <a:bodyPr wrap="square" lIns="0" tIns="0" rIns="0" bIns="0" rtlCol="0" anchor="t"/>
          <a:lstStyle/>
          <a:p>
            <a:pPr indent="0" marL="0">
              <a:buNone/>
            </a:pPr>
            <a:r>
              <a:rPr lang="en-US" sz="1800" b="1" dirty="0">
                <a:solidFill>
                  <a:srgbClr val="C0392B"/>
                </a:solidFill>
                <a:latin typeface="Segoe UI" pitchFamily="34" charset="0"/>
                <a:ea typeface="Segoe UI" pitchFamily="34" charset="-122"/>
                <a:cs typeface="Segoe UI" pitchFamily="34" charset="-120"/>
              </a:rPr>
              <a:t>10,000</a:t>
            </a:r>
            <a:endParaRPr lang="en-US" sz="1800" dirty="0"/>
          </a:p>
        </p:txBody>
      </p:sp>
      <p:sp>
        <p:nvSpPr>
          <p:cNvPr id="13" name="Text 11"/>
          <p:cNvSpPr txBox="1"/>
          <p:nvPr/>
        </p:nvSpPr>
        <p:spPr>
          <a:xfrm>
            <a:off x="3403600" y="3606800"/>
            <a:ext cx="23622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values created · </a:t>
            </a:r>
            <a:pPr indent="0" marL="0">
              <a:buNone/>
            </a:pPr>
            <a:r>
              <a:rPr lang="en-US" sz="850" b="1" dirty="0">
                <a:solidFill>
                  <a:srgbClr val="5B6475"/>
                </a:solidFill>
                <a:latin typeface="Segoe UI" pitchFamily="34" charset="0"/>
                <a:ea typeface="Segoe UI" pitchFamily="34" charset="-122"/>
                <a:cs typeface="Segoe UI" pitchFamily="34" charset="-120"/>
              </a:rPr>
              <a:t>virtual thread per task</a:t>
            </a:r>
            <a:endParaRPr lang="en-US" sz="850" dirty="0"/>
          </a:p>
        </p:txBody>
      </p:sp>
      <p:sp>
        <p:nvSpPr>
          <p:cNvPr id="14" name="Text 12"/>
          <p:cNvSpPr txBox="1"/>
          <p:nvPr/>
        </p:nvSpPr>
        <p:spPr>
          <a:xfrm>
            <a:off x="6172200" y="1397000"/>
            <a:ext cx="55626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SCOPED VALUES: BIND, RUN, DONE</a:t>
            </a:r>
            <a:endParaRPr lang="en-US" sz="950" dirty="0"/>
          </a:p>
        </p:txBody>
      </p:sp>
      <p:sp>
        <p:nvSpPr>
          <p:cNvPr id="15" name="Shape 13"/>
          <p:cNvSpPr/>
          <p:nvPr/>
        </p:nvSpPr>
        <p:spPr>
          <a:xfrm>
            <a:off x="6172200" y="1625600"/>
            <a:ext cx="5562600" cy="1903832"/>
          </a:xfrm>
          <a:prstGeom prst="roundRect">
            <a:avLst>
              <a:gd name="adj" fmla="val 4002"/>
            </a:avLst>
          </a:prstGeom>
          <a:solidFill>
            <a:srgbClr val="1E2230"/>
          </a:solidFill>
          <a:ln/>
        </p:spPr>
      </p:sp>
      <p:sp>
        <p:nvSpPr>
          <p:cNvPr id="16" name="Text 14"/>
          <p:cNvSpPr txBox="1"/>
          <p:nvPr/>
        </p:nvSpPr>
        <p:spPr>
          <a:xfrm>
            <a:off x="6299200" y="1739900"/>
            <a:ext cx="53086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Same output on JDK 25, no --enable-preview</a:t>
            </a:r>
            <a:endParaRPr lang="en-US" sz="900" dirty="0"/>
          </a:p>
        </p:txBody>
      </p:sp>
      <p:sp>
        <p:nvSpPr>
          <p:cNvPr id="17" name="Text 15"/>
          <p:cNvSpPr txBox="1"/>
          <p:nvPr/>
        </p:nvSpPr>
        <p:spPr>
          <a:xfrm>
            <a:off x="6299200" y="1981200"/>
            <a:ext cx="5308600" cy="1446632"/>
          </a:xfrm>
          <a:prstGeom prst="rect">
            <a:avLst/>
          </a:prstGeom>
          <a:noFill/>
          <a:ln/>
        </p:spPr>
        <p:txBody>
          <a:bodyPr wrap="square" lIns="0" tIns="0" rIns="0" bIns="0" rtlCol="0" anchor="t"/>
          <a:lstStyle/>
          <a:p>
            <a:pPr indent="0" marL="0">
              <a:lnSpc>
                <a:spcPts val="1221"/>
              </a:lnSpc>
              <a:buNone/>
            </a:pPr>
            <a:r>
              <a:rPr lang="en-US" sz="860" dirty="0">
                <a:solidFill>
                  <a:srgbClr val="C792EA"/>
                </a:solidFill>
                <a:latin typeface="Consolas" pitchFamily="34" charset="0"/>
                <a:ea typeface="Consolas" pitchFamily="34" charset="-122"/>
                <a:cs typeface="Consolas" pitchFamily="34" charset="-120"/>
              </a:rPr>
              <a:t>static final</a:t>
            </a:r>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ScopedValue&lt;String&gt; USER = ScopedValue.newInstance();</a:t>
            </a:r>
            <a:endParaRPr lang="en-US" sz="860" dirty="0"/>
          </a:p>
          <a:p>
            <a:pPr indent="0" marL="0">
              <a:lnSpc>
                <a:spcPts val="1221"/>
              </a:lnSpc>
              <a:buNone/>
            </a:pP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ScopedValue.</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where</a:t>
            </a:r>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(USER, "alice").</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run</a:t>
            </a:r>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-&gt; {</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USER.get();                     </a:t>
            </a:r>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"alice"</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ScopedValue.where(USER, "admin")</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.run(() -&gt; USER.get());     </a:t>
            </a:r>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"admin"</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USER.get();                     </a:t>
            </a:r>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"alice" again</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USER.isBound();                     </a:t>
            </a:r>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false</a:t>
            </a:r>
            <a:endParaRPr lang="en-US" sz="860" dirty="0"/>
          </a:p>
        </p:txBody>
      </p:sp>
      <p:sp>
        <p:nvSpPr>
          <p:cNvPr id="18" name="bullets-2E8B57-sv"/>
          <p:cNvSpPr txBox="1"/>
          <p:nvPr/>
        </p:nvSpPr>
        <p:spPr>
          <a:xfrm>
            <a:off x="6172200" y="3632200"/>
            <a:ext cx="5562600" cy="812800"/>
          </a:xfrm>
          <a:prstGeom prst="rect">
            <a:avLst/>
          </a:prstGeom>
          <a:noFill/>
          <a:ln/>
        </p:spPr>
        <p:txBody>
          <a:bodyPr wrap="square" lIns="0" tIns="0" rIns="0" bIns="0" rtlCol="0" anchor="t"/>
          <a:lstStyle/>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No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set()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 nested scope can rebind, and the outer value comes back when it returns.</a:t>
            </a:r>
            <a:endParaRPr lang="en-US" sz="950" dirty="0"/>
          </a:p>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The binding ends when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run()</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returns, so nothing leaks and nothing needs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remove()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a:t>
            </a:r>
            <a:endParaRPr lang="en-US" sz="950" dirty="0"/>
          </a:p>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Child tasks of a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StructuredTaskScope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(still preview) see the binding without copying it.</a:t>
            </a:r>
            <a:endParaRPr lang="en-US" sz="950" dirty="0"/>
          </a:p>
        </p:txBody>
      </p:sp>
      <p:sp>
        <p:nvSpPr>
          <p:cNvPr id="19" name="Text 17"/>
          <p:cNvSpPr txBox="1"/>
          <p:nvPr/>
        </p:nvSpPr>
        <p:spPr>
          <a:xfrm>
            <a:off x="457200" y="4470400"/>
            <a:ext cx="508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SIDE BY SIDE</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4673600"/>
          <a:ext cx="11277600" cy="914400"/>
        </p:xfrm>
        <a:graphic>
          <a:graphicData uri="http://schemas.openxmlformats.org/drawingml/2006/table">
            <a:tbl>
              <a:tblPr/>
              <a:tblGrid>
                <a:gridCol w="1397000"/>
                <a:gridCol w="4191000"/>
                <a:gridCol w="5689600"/>
              </a:tblGrid>
              <a:tr h="0">
                <a:tc>
                  <a:txBody>
                    <a:bodyPr/>
                    <a:lstStyle/>
                    <a:p>
                      <a:pPr indent="0" marL="0">
                        <a:buNone/>
                      </a:pP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C0392B"/>
                          </a:solidFill>
                          <a:latin typeface="Segoe UI" pitchFamily="34" charset="0"/>
                          <a:ea typeface="Segoe UI" pitchFamily="34" charset="-122"/>
                          <a:cs typeface="Segoe UI" pitchFamily="34" charset="-120"/>
                        </a:rPr>
                        <a:t>ThreadLocal</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ScopedValue</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Mutability</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Consolas" pitchFamily="34" charset="0"/>
                          <a:ea typeface="Consolas" pitchFamily="34" charset="-122"/>
                          <a:cs typeface="Consolas" pitchFamily="34" charset="-120"/>
                        </a:rPr>
                        <a:t>set()</a:t>
                      </a:r>
                      <a:pPr indent="0" marL="0">
                        <a:buNone/>
                      </a:pPr>
                      <a:r>
                        <a:rPr lang="en-US" sz="950" dirty="0">
                          <a:solidFill>
                            <a:srgbClr val="1F2430"/>
                          </a:solidFill>
                          <a:latin typeface="Segoe UI" pitchFamily="34" charset="0"/>
                          <a:ea typeface="Segoe UI" pitchFamily="34" charset="-122"/>
                          <a:cs typeface="Segoe UI" pitchFamily="34" charset="-120"/>
                        </a:rPr>
                        <a:t> at any time</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immutable; rebind only in a nested scope</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Lifetime</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until </a:t>
                      </a:r>
                      <a:pPr indent="0" marL="0">
                        <a:buNone/>
                      </a:pPr>
                      <a:r>
                        <a:rPr lang="en-US" sz="950" dirty="0">
                          <a:solidFill>
                            <a:srgbClr val="1F2430"/>
                          </a:solidFill>
                          <a:latin typeface="Consolas" pitchFamily="34" charset="0"/>
                          <a:ea typeface="Consolas" pitchFamily="34" charset="-122"/>
                          <a:cs typeface="Consolas" pitchFamily="34" charset="-120"/>
                        </a:rPr>
                        <a:t>remove()</a:t>
                      </a:r>
                      <a:pPr indent="0" marL="0">
                        <a:buNone/>
                      </a:pPr>
                      <a:r>
                        <a:rPr lang="en-US" sz="950" dirty="0">
                          <a:solidFill>
                            <a:srgbClr val="1F2430"/>
                          </a:solidFill>
                          <a:latin typeface="Segoe UI" pitchFamily="34" charset="0"/>
                          <a:ea typeface="Segoe UI" pitchFamily="34" charset="-122"/>
                          <a:cs typeface="Segoe UI" pitchFamily="34" charset="-120"/>
                        </a:rPr>
                        <a:t> or the thread ends</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until </a:t>
                      </a:r>
                      <a:pPr indent="0" marL="0">
                        <a:buNone/>
                      </a:pPr>
                      <a:r>
                        <a:rPr lang="en-US" sz="950" dirty="0">
                          <a:solidFill>
                            <a:srgbClr val="1F2430"/>
                          </a:solidFill>
                          <a:latin typeface="Consolas" pitchFamily="34" charset="0"/>
                          <a:ea typeface="Consolas" pitchFamily="34" charset="-122"/>
                          <a:cs typeface="Consolas" pitchFamily="34" charset="-120"/>
                        </a:rPr>
                        <a:t>run()</a:t>
                      </a:r>
                      <a:pPr indent="0" marL="0">
                        <a:buNone/>
                      </a:pPr>
                      <a:r>
                        <a:rPr lang="en-US" sz="950" dirty="0">
                          <a:solidFill>
                            <a:srgbClr val="1F2430"/>
                          </a:solidFill>
                          <a:latin typeface="Segoe UI" pitchFamily="34" charset="0"/>
                          <a:ea typeface="Segoe UI" pitchFamily="34" charset="-122"/>
                          <a:cs typeface="Segoe UI" pitchFamily="34" charset="-120"/>
                        </a:rPr>
                        <a:t> / </a:t>
                      </a:r>
                      <a:pPr indent="0" marL="0">
                        <a:buNone/>
                      </a:pPr>
                      <a:r>
                        <a:rPr lang="en-US" sz="950" dirty="0">
                          <a:solidFill>
                            <a:srgbClr val="1F2430"/>
                          </a:solidFill>
                          <a:latin typeface="Consolas" pitchFamily="34" charset="0"/>
                          <a:ea typeface="Consolas" pitchFamily="34" charset="-122"/>
                          <a:cs typeface="Consolas" pitchFamily="34" charset="-120"/>
                        </a:rPr>
                        <a:t>call()</a:t>
                      </a:r>
                      <a:pPr indent="0" marL="0">
                        <a:buNone/>
                      </a:pPr>
                      <a:r>
                        <a:rPr lang="en-US" sz="950" dirty="0">
                          <a:solidFill>
                            <a:srgbClr val="1F2430"/>
                          </a:solidFill>
                          <a:latin typeface="Segoe UI" pitchFamily="34" charset="0"/>
                          <a:ea typeface="Segoe UI" pitchFamily="34" charset="-122"/>
                          <a:cs typeface="Segoe UI" pitchFamily="34" charset="-120"/>
                        </a:rPr>
                        <a:t> returns</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Child threads</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Consolas" pitchFamily="34" charset="0"/>
                          <a:ea typeface="Consolas" pitchFamily="34" charset="-122"/>
                          <a:cs typeface="Consolas" pitchFamily="34" charset="-120"/>
                        </a:rPr>
                        <a:t>InheritableThreadLocal</a:t>
                      </a:r>
                      <a:pPr indent="0" marL="0">
                        <a:buNone/>
                      </a:pPr>
                      <a:r>
                        <a:rPr lang="en-US" sz="950" dirty="0">
                          <a:solidFill>
                            <a:srgbClr val="1F2430"/>
                          </a:solidFill>
                          <a:latin typeface="Segoe UI" pitchFamily="34" charset="0"/>
                          <a:ea typeface="Segoe UI" pitchFamily="34" charset="-122"/>
                          <a:cs typeface="Segoe UI" pitchFamily="34" charset="-120"/>
                        </a:rPr>
                        <a:t> copies values</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shared with </a:t>
                      </a:r>
                      <a:pPr indent="0" marL="0">
                        <a:buNone/>
                      </a:pPr>
                      <a:r>
                        <a:rPr lang="en-US" sz="950" dirty="0">
                          <a:solidFill>
                            <a:srgbClr val="1F2430"/>
                          </a:solidFill>
                          <a:latin typeface="Consolas" pitchFamily="34" charset="0"/>
                          <a:ea typeface="Consolas" pitchFamily="34" charset="-122"/>
                          <a:cs typeface="Consolas" pitchFamily="34" charset="-120"/>
                        </a:rPr>
                        <a:t>StructuredTaskScope</a:t>
                      </a:r>
                      <a:pPr indent="0" marL="0">
                        <a:buNone/>
                      </a:pPr>
                      <a:r>
                        <a:rPr lang="en-US" sz="950" dirty="0">
                          <a:solidFill>
                            <a:srgbClr val="1F2430"/>
                          </a:solidFill>
                          <a:latin typeface="Segoe UI" pitchFamily="34" charset="0"/>
                          <a:ea typeface="Segoe UI" pitchFamily="34" charset="-122"/>
                          <a:cs typeface="Segoe UI" pitchFamily="34" charset="-120"/>
                        </a:rPr>
                        <a:t> children, no copy</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Available</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since Java 1.2</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dirty="0">
                          <a:solidFill>
                            <a:srgbClr val="1F2430"/>
                          </a:solidFill>
                          <a:latin typeface="Segoe UI" pitchFamily="34" charset="0"/>
                          <a:ea typeface="Segoe UI" pitchFamily="34" charset="-122"/>
                          <a:cs typeface="Segoe UI" pitchFamily="34" charset="-120"/>
                        </a:rPr>
                        <a:t>final in Java 25 (JEP 506); incubator in 20, preview 21–24</a:t>
                      </a:r>
                      <a:endParaRPr lang="en-US" sz="950" dirty="0">
                        <a:latin typeface="Segoe UI" charset="0"/>
                        <a:ea typeface="Segoe UI" charset="0"/>
                        <a:cs typeface="Segoe UI" charset="0"/>
                      </a:endParaRPr>
                    </a:p>
                  </a:txBody>
                  <a:tcPr marL="76200" marR="762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The Java object header, before compact headers</a:t>
            </a:r>
            <a:endParaRPr lang="en-US" sz="2400" dirty="0"/>
          </a:p>
        </p:txBody>
      </p:sp>
      <p:sp>
        <p:nvSpPr>
          <p:cNvPr id="3" name="Text 1"/>
          <p:cNvSpPr/>
          <p:nvPr/>
        </p:nvSpPr>
        <p:spPr>
          <a:xfrm>
            <a:off x="8661400" y="381000"/>
            <a:ext cx="30734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64-BIT HOTSPOT · MEASURED ON JDK 21</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Every object starts with a header the JVM uses for hashing, locking and GC. On 64-bit HotSpot it is </a:t>
            </a:r>
            <a:pPr indent="0" marL="0">
              <a:buNone/>
            </a:pPr>
            <a:r>
              <a:rPr lang="en-US" sz="1200" b="1" dirty="0">
                <a:solidFill>
                  <a:srgbClr val="5B6475"/>
                </a:solidFill>
                <a:latin typeface="Segoe UI" pitchFamily="34" charset="0"/>
                <a:ea typeface="Segoe UI" pitchFamily="34" charset="-122"/>
                <a:cs typeface="Segoe UI" pitchFamily="34" charset="-120"/>
              </a:rPr>
              <a:t>12 bytes</a:t>
            </a:r>
            <a:pPr indent="0" marL="0">
              <a:buNone/>
            </a:pPr>
            <a:r>
              <a:rPr lang="en-US" sz="1200" dirty="0">
                <a:solidFill>
                  <a:srgbClr val="5B6475"/>
                </a:solidFill>
                <a:latin typeface="Segoe UI" pitchFamily="34" charset="0"/>
                <a:ea typeface="Segoe UI" pitchFamily="34" charset="-122"/>
                <a:cs typeface="Segoe UI" pitchFamily="34" charset="-120"/>
              </a:rPr>
              <a:t> (96 bits) or </a:t>
            </a:r>
            <a:pPr indent="0" marL="0">
              <a:buNone/>
            </a:pPr>
            <a:r>
              <a:rPr lang="en-US" sz="1200" b="1" dirty="0">
                <a:solidFill>
                  <a:srgbClr val="5B6475"/>
                </a:solidFill>
                <a:latin typeface="Segoe UI" pitchFamily="34" charset="0"/>
                <a:ea typeface="Segoe UI" pitchFamily="34" charset="-122"/>
                <a:cs typeface="Segoe UI" pitchFamily="34" charset="-120"/>
              </a:rPr>
              <a:t>16 bytes</a:t>
            </a:r>
            <a:pPr indent="0" marL="0">
              <a:buNone/>
            </a:pPr>
            <a:r>
              <a:rPr lang="en-US" sz="1200" dirty="0">
                <a:solidFill>
                  <a:srgbClr val="5B6475"/>
                </a:solidFill>
                <a:latin typeface="Segoe UI" pitchFamily="34" charset="0"/>
                <a:ea typeface="Segoe UI" pitchFamily="34" charset="-122"/>
                <a:cs typeface="Segoe UI" pitchFamily="34" charset="-120"/>
              </a:rPr>
              <a:t> (128 bits) for arrays, and every object is padded to a multiple of 8 bytes (64 bits).</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HEADER COMPONENTS</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461000" cy="914400"/>
        </p:xfrm>
        <a:graphic>
          <a:graphicData uri="http://schemas.openxmlformats.org/drawingml/2006/table">
            <a:tbl>
              <a:tblPr/>
              <a:tblGrid>
                <a:gridCol w="1016000"/>
                <a:gridCol w="2006600"/>
                <a:gridCol w="2438400"/>
              </a:tblGrid>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Component</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Size</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What it holds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00" b="1" dirty="0">
                          <a:solidFill>
                            <a:srgbClr val="E76F00"/>
                          </a:solidFill>
                          <a:latin typeface="Segoe UI" pitchFamily="34" charset="0"/>
                          <a:ea typeface="Segoe UI" pitchFamily="34" charset="-122"/>
                          <a:cs typeface="Segoe UI" pitchFamily="34" charset="-120"/>
                        </a:rPr>
                        <a:t>Mark word</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8 bytes</a:t>
                      </a:r>
                      <a:pPr indent="0" marL="0">
                        <a:buNone/>
                      </a:pPr>
                      <a:r>
                        <a:rPr lang="en-US" sz="900" dirty="0">
                          <a:solidFill>
                            <a:srgbClr val="1F2430"/>
                          </a:solidFill>
                          <a:latin typeface="Segoe UI" pitchFamily="34" charset="0"/>
                          <a:ea typeface="Segoe UI" pitchFamily="34" charset="-122"/>
                          <a:cs typeface="Segoe UI" pitchFamily="34" charset="-120"/>
                        </a:rPr>
                        <a:t> (64 bits)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dirty="0">
                          <a:solidFill>
                            <a:srgbClr val="1F2430"/>
                          </a:solidFill>
                          <a:latin typeface="Segoe UI" pitchFamily="34" charset="0"/>
                          <a:ea typeface="Segoe UI" pitchFamily="34" charset="-122"/>
                          <a:cs typeface="Segoe UI" pitchFamily="34" charset="-120"/>
                        </a:rPr>
                        <a:t>Identity hash, GC age and lock state; while locked, a pointer to the lock record or monitor.</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2F6FB0"/>
                          </a:solidFill>
                          <a:latin typeface="Segoe UI" pitchFamily="34" charset="0"/>
                          <a:ea typeface="Segoe UI" pitchFamily="34" charset="-122"/>
                          <a:cs typeface="Segoe UI" pitchFamily="34" charset="-120"/>
                        </a:rPr>
                        <a:t>Klass pointer</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4 bytes</a:t>
                      </a:r>
                      <a:pPr indent="0" marL="0">
                        <a:buNone/>
                      </a:pPr>
                      <a:r>
                        <a:rPr lang="en-US" sz="900" dirty="0">
                          <a:solidFill>
                            <a:srgbClr val="1F2430"/>
                          </a:solidFill>
                          <a:latin typeface="Segoe UI" pitchFamily="34" charset="0"/>
                          <a:ea typeface="Segoe UI" pitchFamily="34" charset="-122"/>
                          <a:cs typeface="Segoe UI" pitchFamily="34" charset="-120"/>
                        </a:rPr>
                        <a:t> (32 bits) compressed; 8 bytes (64 bits) without</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dirty="0">
                          <a:solidFill>
                            <a:srgbClr val="1F2430"/>
                          </a:solidFill>
                          <a:latin typeface="Segoe UI" pitchFamily="34" charset="0"/>
                          <a:ea typeface="Segoe UI" pitchFamily="34" charset="-122"/>
                          <a:cs typeface="Segoe UI" pitchFamily="34" charset="-120"/>
                        </a:rPr>
                        <a:t>Address of the class metadata in Metaspace.</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7A4FB5"/>
                          </a:solidFill>
                          <a:latin typeface="Segoe UI" pitchFamily="34" charset="0"/>
                          <a:ea typeface="Segoe UI" pitchFamily="34" charset="-122"/>
                          <a:cs typeface="Segoe UI" pitchFamily="34" charset="-120"/>
                        </a:rPr>
                        <a:t>Array length</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4 bytes</a:t>
                      </a:r>
                      <a:pPr indent="0" marL="0">
                        <a:buNone/>
                      </a:pPr>
                      <a:r>
                        <a:rPr lang="en-US" sz="900" dirty="0">
                          <a:solidFill>
                            <a:srgbClr val="1F2430"/>
                          </a:solidFill>
                          <a:latin typeface="Segoe UI" pitchFamily="34" charset="0"/>
                          <a:ea typeface="Segoe UI" pitchFamily="34" charset="-122"/>
                          <a:cs typeface="Segoe UI" pitchFamily="34" charset="-120"/>
                        </a:rPr>
                        <a:t> (32 bits), arrays only</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dirty="0">
                          <a:solidFill>
                            <a:srgbClr val="1F2430"/>
                          </a:solidFill>
                          <a:latin typeface="Segoe UI" pitchFamily="34" charset="0"/>
                          <a:ea typeface="Segoe UI" pitchFamily="34" charset="-122"/>
                          <a:cs typeface="Segoe UI" pitchFamily="34" charset="-120"/>
                        </a:rPr>
                        <a:t>Number of elements.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8A93A6"/>
                          </a:solidFill>
                          <a:latin typeface="Segoe UI" pitchFamily="34" charset="0"/>
                          <a:ea typeface="Segoe UI" pitchFamily="34" charset="-122"/>
                          <a:cs typeface="Segoe UI" pitchFamily="34" charset="-120"/>
                        </a:rPr>
                        <a:t>Padding</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0–7 bytes</a:t>
                      </a:r>
                      <a:pPr indent="0" marL="0">
                        <a:buNone/>
                      </a:pPr>
                      <a:r>
                        <a:rPr lang="en-US" sz="900" dirty="0">
                          <a:solidFill>
                            <a:srgbClr val="1F2430"/>
                          </a:solidFill>
                          <a:latin typeface="Segoe UI" pitchFamily="34" charset="0"/>
                          <a:ea typeface="Segoe UI" pitchFamily="34" charset="-122"/>
                          <a:cs typeface="Segoe UI" pitchFamily="34" charset="-120"/>
                        </a:rPr>
                        <a:t> (0–56 bits)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dirty="0">
                          <a:solidFill>
                            <a:srgbClr val="1F2430"/>
                          </a:solidFill>
                          <a:latin typeface="Segoe UI" pitchFamily="34" charset="0"/>
                          <a:ea typeface="Segoe UI" pitchFamily="34" charset="-122"/>
                          <a:cs typeface="Segoe UI" pitchFamily="34" charset="-120"/>
                        </a:rPr>
                        <a:t>Rounds up to a multiple of 8 bytes (64 bits).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Header total</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b="1" dirty="0">
                          <a:solidFill>
                            <a:srgbClr val="1F2430"/>
                          </a:solidFill>
                          <a:latin typeface="Segoe UI" pitchFamily="34" charset="0"/>
                          <a:ea typeface="Segoe UI" pitchFamily="34" charset="-122"/>
                          <a:cs typeface="Segoe UI" pitchFamily="34" charset="-120"/>
                        </a:rPr>
                        <a:t>12 bytes</a:t>
                      </a:r>
                      <a:pPr indent="0" marL="0">
                        <a:buNone/>
                      </a:pPr>
                      <a:r>
                        <a:rPr lang="en-US" sz="900" dirty="0">
                          <a:solidFill>
                            <a:srgbClr val="1F2430"/>
                          </a:solidFill>
                          <a:latin typeface="Segoe UI" pitchFamily="34" charset="0"/>
                          <a:ea typeface="Segoe UI" pitchFamily="34" charset="-122"/>
                          <a:cs typeface="Segoe UI" pitchFamily="34" charset="-120"/>
                        </a:rPr>
                        <a:t> (96 bits); arrays 16 bytes (128 bits)</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00" dirty="0">
                          <a:solidFill>
                            <a:srgbClr val="1F2430"/>
                          </a:solidFill>
                          <a:latin typeface="Segoe UI" pitchFamily="34" charset="0"/>
                          <a:ea typeface="Segoe UI" pitchFamily="34" charset="-122"/>
                          <a:cs typeface="Segoe UI" pitchFamily="34" charset="-120"/>
                        </a:rPr>
                        <a:t>Before any field data.</a:t>
                      </a:r>
                      <a:endParaRPr lang="en-US" sz="90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7" name="Text 4"/>
          <p:cNvSpPr txBox="1"/>
          <p:nvPr/>
        </p:nvSpPr>
        <p:spPr>
          <a:xfrm>
            <a:off x="62230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MARK WORD — 64 BITS (UNLOCKED OBJECT)</a:t>
            </a:r>
            <a:endParaRPr lang="en-US" sz="950" dirty="0"/>
          </a:p>
        </p:txBody>
      </p:sp>
      <p:sp>
        <p:nvSpPr>
          <p:cNvPr id="8" name="Shape 5"/>
          <p:cNvSpPr/>
          <p:nvPr/>
        </p:nvSpPr>
        <p:spPr>
          <a:xfrm>
            <a:off x="6223000" y="1651000"/>
            <a:ext cx="2153047" cy="381000"/>
          </a:xfrm>
          <a:prstGeom prst="rect">
            <a:avLst/>
          </a:prstGeom>
          <a:solidFill>
            <a:srgbClr val="E1E5EC"/>
          </a:solidFill>
          <a:ln w="12700">
            <a:solidFill>
              <a:srgbClr val="FFFFFF"/>
            </a:solidFill>
            <a:prstDash val="solid"/>
          </a:ln>
        </p:spPr>
      </p:sp>
      <p:sp>
        <p:nvSpPr>
          <p:cNvPr id="9" name="Text 6"/>
          <p:cNvSpPr txBox="1"/>
          <p:nvPr/>
        </p:nvSpPr>
        <p:spPr>
          <a:xfrm>
            <a:off x="6223000" y="1651000"/>
            <a:ext cx="2153047" cy="381000"/>
          </a:xfrm>
          <a:prstGeom prst="rect">
            <a:avLst/>
          </a:prstGeom>
          <a:noFill/>
          <a:ln/>
        </p:spPr>
        <p:txBody>
          <a:bodyPr wrap="square" lIns="0" tIns="0" rIns="0" bIns="0" rtlCol="0" anchor="ctr"/>
          <a:lstStyle/>
          <a:p>
            <a:pPr algn="ctr" indent="0" marL="0">
              <a:buNone/>
            </a:pPr>
            <a:r>
              <a:rPr lang="en-US" sz="850" b="1" dirty="0">
                <a:solidFill>
                  <a:srgbClr val="5B6475"/>
                </a:solidFill>
                <a:latin typeface="Segoe UI" pitchFamily="34" charset="0"/>
                <a:ea typeface="Segoe UI" pitchFamily="34" charset="-122"/>
                <a:cs typeface="Segoe UI" pitchFamily="34" charset="-120"/>
              </a:rPr>
              <a:t>unused</a:t>
            </a:r>
            <a:endParaRPr lang="en-US" sz="850" dirty="0"/>
          </a:p>
          <a:p>
            <a:pPr algn="ctr" indent="0" marL="0">
              <a:buNone/>
            </a:pPr>
            <a:r>
              <a:rPr lang="en-US" sz="850" dirty="0">
                <a:solidFill>
                  <a:srgbClr val="5B6475"/>
                </a:solidFill>
                <a:latin typeface="Segoe UI" pitchFamily="34" charset="0"/>
                <a:ea typeface="Segoe UI" pitchFamily="34" charset="-122"/>
                <a:cs typeface="Segoe UI" pitchFamily="34" charset="-120"/>
              </a:rPr>
              <a:t>25 bits</a:t>
            </a:r>
            <a:endParaRPr lang="en-US" sz="850" dirty="0"/>
          </a:p>
        </p:txBody>
      </p:sp>
      <p:sp>
        <p:nvSpPr>
          <p:cNvPr id="10" name="Shape 7"/>
          <p:cNvSpPr/>
          <p:nvPr/>
        </p:nvSpPr>
        <p:spPr>
          <a:xfrm>
            <a:off x="8376047" y="1651000"/>
            <a:ext cx="2669778" cy="381000"/>
          </a:xfrm>
          <a:prstGeom prst="rect">
            <a:avLst/>
          </a:prstGeom>
          <a:solidFill>
            <a:srgbClr val="FDE3CC"/>
          </a:solidFill>
          <a:ln w="12700">
            <a:solidFill>
              <a:srgbClr val="FFFFFF"/>
            </a:solidFill>
            <a:prstDash val="solid"/>
          </a:ln>
        </p:spPr>
      </p:sp>
      <p:sp>
        <p:nvSpPr>
          <p:cNvPr id="11" name="Text 8"/>
          <p:cNvSpPr txBox="1"/>
          <p:nvPr/>
        </p:nvSpPr>
        <p:spPr>
          <a:xfrm>
            <a:off x="8376047" y="1651000"/>
            <a:ext cx="2669778" cy="381000"/>
          </a:xfrm>
          <a:prstGeom prst="rect">
            <a:avLst/>
          </a:prstGeom>
          <a:noFill/>
          <a:ln/>
        </p:spPr>
        <p:txBody>
          <a:bodyPr wrap="square" lIns="0" tIns="0" rIns="0" bIns="0" rtlCol="0" anchor="ctr"/>
          <a:lstStyle/>
          <a:p>
            <a:pPr algn="ctr" indent="0" marL="0">
              <a:buNone/>
            </a:pPr>
            <a:r>
              <a:rPr lang="en-US" sz="850" b="1" dirty="0">
                <a:solidFill>
                  <a:srgbClr val="E76F00"/>
                </a:solidFill>
                <a:latin typeface="Segoe UI" pitchFamily="34" charset="0"/>
                <a:ea typeface="Segoe UI" pitchFamily="34" charset="-122"/>
                <a:cs typeface="Segoe UI" pitchFamily="34" charset="-120"/>
              </a:rPr>
              <a:t>identity hash</a:t>
            </a:r>
            <a:endParaRPr lang="en-US" sz="850" dirty="0"/>
          </a:p>
          <a:p>
            <a:pPr algn="ctr" indent="0" marL="0">
              <a:buNone/>
            </a:pPr>
            <a:r>
              <a:rPr lang="en-US" sz="850" dirty="0">
                <a:solidFill>
                  <a:srgbClr val="E76F00"/>
                </a:solidFill>
                <a:latin typeface="Segoe UI" pitchFamily="34" charset="0"/>
                <a:ea typeface="Segoe UI" pitchFamily="34" charset="-122"/>
                <a:cs typeface="Segoe UI" pitchFamily="34" charset="-120"/>
              </a:rPr>
              <a:t>31 bits</a:t>
            </a:r>
            <a:endParaRPr lang="en-US" sz="850" dirty="0"/>
          </a:p>
        </p:txBody>
      </p:sp>
      <p:sp>
        <p:nvSpPr>
          <p:cNvPr id="12" name="Shape 9"/>
          <p:cNvSpPr/>
          <p:nvPr/>
        </p:nvSpPr>
        <p:spPr>
          <a:xfrm>
            <a:off x="11045825" y="1651000"/>
            <a:ext cx="86122" cy="381000"/>
          </a:xfrm>
          <a:prstGeom prst="rect">
            <a:avLst/>
          </a:prstGeom>
          <a:solidFill>
            <a:srgbClr val="E1E5EC"/>
          </a:solidFill>
          <a:ln w="12700">
            <a:solidFill>
              <a:srgbClr val="FFFFFF"/>
            </a:solidFill>
            <a:prstDash val="solid"/>
          </a:ln>
        </p:spPr>
      </p:sp>
      <p:sp>
        <p:nvSpPr>
          <p:cNvPr id="13" name="Shape 10"/>
          <p:cNvSpPr/>
          <p:nvPr/>
        </p:nvSpPr>
        <p:spPr>
          <a:xfrm>
            <a:off x="11131947" y="1651000"/>
            <a:ext cx="344488" cy="381000"/>
          </a:xfrm>
          <a:prstGeom prst="rect">
            <a:avLst/>
          </a:prstGeom>
          <a:solidFill>
            <a:srgbClr val="D6E6F7"/>
          </a:solidFill>
          <a:ln w="12700">
            <a:solidFill>
              <a:srgbClr val="FFFFFF"/>
            </a:solidFill>
            <a:prstDash val="solid"/>
          </a:ln>
        </p:spPr>
      </p:sp>
      <p:sp>
        <p:nvSpPr>
          <p:cNvPr id="14" name="Shape 11"/>
          <p:cNvSpPr/>
          <p:nvPr/>
        </p:nvSpPr>
        <p:spPr>
          <a:xfrm>
            <a:off x="11476434" y="1651000"/>
            <a:ext cx="86122" cy="381000"/>
          </a:xfrm>
          <a:prstGeom prst="rect">
            <a:avLst/>
          </a:prstGeom>
          <a:solidFill>
            <a:srgbClr val="E1E5EC"/>
          </a:solidFill>
          <a:ln w="12700">
            <a:solidFill>
              <a:srgbClr val="FFFFFF"/>
            </a:solidFill>
            <a:prstDash val="solid"/>
          </a:ln>
        </p:spPr>
      </p:sp>
      <p:sp>
        <p:nvSpPr>
          <p:cNvPr id="15" name="Shape 12"/>
          <p:cNvSpPr/>
          <p:nvPr/>
        </p:nvSpPr>
        <p:spPr>
          <a:xfrm>
            <a:off x="11562556" y="1651000"/>
            <a:ext cx="172244" cy="381000"/>
          </a:xfrm>
          <a:prstGeom prst="rect">
            <a:avLst/>
          </a:prstGeom>
          <a:solidFill>
            <a:srgbClr val="F4D6D2"/>
          </a:solidFill>
          <a:ln w="12700">
            <a:solidFill>
              <a:srgbClr val="FFFFFF"/>
            </a:solidFill>
            <a:prstDash val="solid"/>
          </a:ln>
        </p:spPr>
      </p:sp>
      <p:sp>
        <p:nvSpPr>
          <p:cNvPr id="16" name="Text 13"/>
          <p:cNvSpPr txBox="1"/>
          <p:nvPr/>
        </p:nvSpPr>
        <p:spPr>
          <a:xfrm>
            <a:off x="10547747" y="2082800"/>
            <a:ext cx="762000" cy="152400"/>
          </a:xfrm>
          <a:prstGeom prst="rect">
            <a:avLst/>
          </a:prstGeom>
          <a:noFill/>
          <a:ln/>
        </p:spPr>
        <p:txBody>
          <a:bodyPr wrap="square" lIns="0" tIns="0" rIns="0" bIns="0" rtlCol="0" anchor="t"/>
          <a:lstStyle/>
          <a:p>
            <a:pPr algn="r" indent="0" marL="0">
              <a:buNone/>
            </a:pPr>
            <a:r>
              <a:rPr lang="en-US" sz="800" b="1" dirty="0">
                <a:solidFill>
                  <a:srgbClr val="2F6FB0"/>
                </a:solidFill>
                <a:latin typeface="Segoe UI" pitchFamily="34" charset="0"/>
                <a:ea typeface="Segoe UI" pitchFamily="34" charset="-122"/>
                <a:cs typeface="Segoe UI" pitchFamily="34" charset="-120"/>
              </a:rPr>
              <a:t>age</a:t>
            </a:r>
            <a:pPr algn="r" indent="0" marL="0">
              <a:buNone/>
            </a:pPr>
            <a:r>
              <a:rPr lang="en-US" sz="800" dirty="0">
                <a:solidFill>
                  <a:srgbClr val="2F6FB0"/>
                </a:solidFill>
                <a:latin typeface="Segoe UI" pitchFamily="34" charset="0"/>
                <a:ea typeface="Segoe UI" pitchFamily="34" charset="-122"/>
                <a:cs typeface="Segoe UI" pitchFamily="34" charset="-120"/>
              </a:rPr>
              <a:t> · 4 bits</a:t>
            </a:r>
            <a:endParaRPr lang="en-US" sz="800" dirty="0"/>
          </a:p>
        </p:txBody>
      </p:sp>
      <p:sp>
        <p:nvSpPr>
          <p:cNvPr id="17" name="Text 14"/>
          <p:cNvSpPr txBox="1"/>
          <p:nvPr/>
        </p:nvSpPr>
        <p:spPr>
          <a:xfrm>
            <a:off x="11511756" y="2082800"/>
            <a:ext cx="508000" cy="152400"/>
          </a:xfrm>
          <a:prstGeom prst="rect">
            <a:avLst/>
          </a:prstGeom>
          <a:noFill/>
          <a:ln/>
        </p:spPr>
        <p:txBody>
          <a:bodyPr wrap="square" lIns="0" tIns="0" rIns="0" bIns="0" rtlCol="0" anchor="t"/>
          <a:lstStyle/>
          <a:p>
            <a:pPr indent="0" marL="0">
              <a:buNone/>
            </a:pPr>
            <a:r>
              <a:rPr lang="en-US" sz="800" b="1" dirty="0">
                <a:solidFill>
                  <a:srgbClr val="C0392B"/>
                </a:solidFill>
                <a:latin typeface="Segoe UI" pitchFamily="34" charset="0"/>
                <a:ea typeface="Segoe UI" pitchFamily="34" charset="-122"/>
                <a:cs typeface="Segoe UI" pitchFamily="34" charset="-120"/>
              </a:rPr>
              <a:t>lock</a:t>
            </a:r>
            <a:pPr indent="0" marL="0">
              <a:buNone/>
            </a:pPr>
            <a:r>
              <a:rPr lang="en-US" sz="800" dirty="0">
                <a:solidFill>
                  <a:srgbClr val="C0392B"/>
                </a:solidFill>
                <a:latin typeface="Segoe UI" pitchFamily="34" charset="0"/>
                <a:ea typeface="Segoe UI" pitchFamily="34" charset="-122"/>
                <a:cs typeface="Segoe UI" pitchFamily="34" charset="-120"/>
              </a:rPr>
              <a:t> · 2</a:t>
            </a:r>
            <a:endParaRPr lang="en-US" sz="800" dirty="0"/>
          </a:p>
        </p:txBody>
      </p:sp>
      <p:sp>
        <p:nvSpPr>
          <p:cNvPr id="18" name="Text 15"/>
          <p:cNvSpPr txBox="1"/>
          <p:nvPr/>
        </p:nvSpPr>
        <p:spPr>
          <a:xfrm>
            <a:off x="6223000" y="2082800"/>
            <a:ext cx="762000" cy="152400"/>
          </a:xfrm>
          <a:prstGeom prst="rect">
            <a:avLst/>
          </a:prstGeom>
          <a:noFill/>
          <a:ln/>
        </p:spPr>
        <p:txBody>
          <a:bodyPr wrap="square" lIns="0" tIns="0" rIns="0" bIns="0" rtlCol="0" anchor="t"/>
          <a:lstStyle/>
          <a:p>
            <a:pPr indent="0" marL="0">
              <a:buNone/>
            </a:pPr>
            <a:r>
              <a:rPr lang="en-US" sz="750" dirty="0">
                <a:solidFill>
                  <a:srgbClr val="5B6475"/>
                </a:solidFill>
                <a:latin typeface="Segoe UI" pitchFamily="34" charset="0"/>
                <a:ea typeface="Segoe UI" pitchFamily="34" charset="-122"/>
                <a:cs typeface="Segoe UI" pitchFamily="34" charset="-120"/>
              </a:rPr>
              <a:t>bit 63</a:t>
            </a:r>
            <a:endParaRPr lang="en-US" sz="750" dirty="0"/>
          </a:p>
        </p:txBody>
      </p:sp>
      <p:sp>
        <p:nvSpPr>
          <p:cNvPr id="19" name="Text 16"/>
          <p:cNvSpPr txBox="1"/>
          <p:nvPr/>
        </p:nvSpPr>
        <p:spPr>
          <a:xfrm>
            <a:off x="6223000" y="2260600"/>
            <a:ext cx="5511800" cy="152400"/>
          </a:xfrm>
          <a:prstGeom prst="rect">
            <a:avLst/>
          </a:prstGeom>
          <a:noFill/>
          <a:ln/>
        </p:spPr>
        <p:txBody>
          <a:bodyPr wrap="square" lIns="0" tIns="0" rIns="0" bIns="0" rtlCol="0" anchor="t"/>
          <a:lstStyle/>
          <a:p>
            <a:pPr algn="r" indent="0" marL="0">
              <a:buNone/>
            </a:pPr>
            <a:r>
              <a:rPr lang="en-US" sz="750" dirty="0">
                <a:solidFill>
                  <a:srgbClr val="5B6475"/>
                </a:solidFill>
                <a:latin typeface="Segoe UI" pitchFamily="34" charset="0"/>
                <a:ea typeface="Segoe UI" pitchFamily="34" charset="-122"/>
                <a:cs typeface="Segoe UI" pitchFamily="34" charset="-120"/>
              </a:rPr>
              <a:t>unused bits shown grey · biased-locking bit retired in JDK 18</a:t>
            </a:r>
            <a:endParaRPr lang="en-US" sz="750" dirty="0"/>
          </a:p>
        </p:txBody>
      </p:sp>
      <p:sp>
        <p:nvSpPr>
          <p:cNvPr id="20" name="Text 17"/>
          <p:cNvSpPr txBox="1"/>
          <p:nvPr/>
        </p:nvSpPr>
        <p:spPr>
          <a:xfrm>
            <a:off x="6223000" y="2540000"/>
            <a:ext cx="50800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LOCK BITS</a:t>
            </a:r>
            <a:endParaRPr lang="en-US" sz="950" dirty="0"/>
          </a:p>
        </p:txBody>
      </p:sp>
      <p:sp>
        <p:nvSpPr>
          <p:cNvPr id="21" name="Text 18"/>
          <p:cNvSpPr/>
          <p:nvPr/>
        </p:nvSpPr>
        <p:spPr>
          <a:xfrm>
            <a:off x="6223000" y="2743200"/>
            <a:ext cx="330200" cy="177800"/>
          </a:xfrm>
          <a:prstGeom prst="roundRect">
            <a:avLst>
              <a:gd name="adj" fmla="val 21429"/>
            </a:avLst>
          </a:prstGeom>
          <a:solidFill>
            <a:srgbClr val="F4D6D2"/>
          </a:solidFill>
          <a:ln/>
        </p:spPr>
        <p:txBody>
          <a:bodyPr wrap="square" lIns="0" tIns="0" rIns="0" bIns="0" rtlCol="0" anchor="ctr"/>
          <a:lstStyle/>
          <a:p>
            <a:pPr algn="ctr" indent="0" marL="0">
              <a:buNone/>
            </a:pPr>
            <a:r>
              <a:rPr lang="en-US" sz="850" b="1" dirty="0">
                <a:solidFill>
                  <a:srgbClr val="C0392B"/>
                </a:solidFill>
                <a:latin typeface="Consolas" pitchFamily="34" charset="0"/>
                <a:ea typeface="Consolas" pitchFamily="34" charset="-122"/>
                <a:cs typeface="Consolas" pitchFamily="34" charset="-120"/>
              </a:rPr>
              <a:t>01</a:t>
            </a:r>
            <a:endParaRPr lang="en-US" sz="850" dirty="0"/>
          </a:p>
        </p:txBody>
      </p:sp>
      <p:sp>
        <p:nvSpPr>
          <p:cNvPr id="22" name="Text 19"/>
          <p:cNvSpPr txBox="1"/>
          <p:nvPr/>
        </p:nvSpPr>
        <p:spPr>
          <a:xfrm>
            <a:off x="6654800" y="2755900"/>
            <a:ext cx="5080000" cy="177800"/>
          </a:xfrm>
          <a:prstGeom prst="rect">
            <a:avLst/>
          </a:prstGeom>
          <a:noFill/>
          <a:ln/>
        </p:spPr>
        <p:txBody>
          <a:bodyPr wrap="square" lIns="0" tIns="0" rIns="0" bIns="0" rtlCol="0" anchor="t"/>
          <a:lstStyle/>
          <a:p>
            <a:pPr indent="0" marL="0">
              <a:buNone/>
            </a:pPr>
            <a:r>
              <a:rPr lang="en-US" sz="900" dirty="0">
                <a:solidFill>
                  <a:srgbClr val="1F2430"/>
                </a:solidFill>
                <a:latin typeface="Segoe UI" pitchFamily="34" charset="0"/>
                <a:ea typeface="Segoe UI" pitchFamily="34" charset="-122"/>
                <a:cs typeface="Segoe UI" pitchFamily="34" charset="-120"/>
              </a:rPr>
              <a:t>unlocked: hash and age live in the mark word</a:t>
            </a:r>
            <a:endParaRPr lang="en-US" sz="900" dirty="0"/>
          </a:p>
        </p:txBody>
      </p:sp>
      <p:sp>
        <p:nvSpPr>
          <p:cNvPr id="23" name="Text 20"/>
          <p:cNvSpPr/>
          <p:nvPr/>
        </p:nvSpPr>
        <p:spPr>
          <a:xfrm>
            <a:off x="6223000" y="2971800"/>
            <a:ext cx="330200" cy="177800"/>
          </a:xfrm>
          <a:prstGeom prst="roundRect">
            <a:avLst>
              <a:gd name="adj" fmla="val 21429"/>
            </a:avLst>
          </a:prstGeom>
          <a:solidFill>
            <a:srgbClr val="F4D6D2"/>
          </a:solidFill>
          <a:ln/>
        </p:spPr>
        <p:txBody>
          <a:bodyPr wrap="square" lIns="0" tIns="0" rIns="0" bIns="0" rtlCol="0" anchor="ctr"/>
          <a:lstStyle/>
          <a:p>
            <a:pPr algn="ctr" indent="0" marL="0">
              <a:buNone/>
            </a:pPr>
            <a:r>
              <a:rPr lang="en-US" sz="850" b="1" dirty="0">
                <a:solidFill>
                  <a:srgbClr val="C0392B"/>
                </a:solidFill>
                <a:latin typeface="Consolas" pitchFamily="34" charset="0"/>
                <a:ea typeface="Consolas" pitchFamily="34" charset="-122"/>
                <a:cs typeface="Consolas" pitchFamily="34" charset="-120"/>
              </a:rPr>
              <a:t>00</a:t>
            </a:r>
            <a:endParaRPr lang="en-US" sz="850" dirty="0"/>
          </a:p>
        </p:txBody>
      </p:sp>
      <p:sp>
        <p:nvSpPr>
          <p:cNvPr id="24" name="Text 21"/>
          <p:cNvSpPr txBox="1"/>
          <p:nvPr/>
        </p:nvSpPr>
        <p:spPr>
          <a:xfrm>
            <a:off x="6654800" y="2984500"/>
            <a:ext cx="5080000" cy="177800"/>
          </a:xfrm>
          <a:prstGeom prst="rect">
            <a:avLst/>
          </a:prstGeom>
          <a:noFill/>
          <a:ln/>
        </p:spPr>
        <p:txBody>
          <a:bodyPr wrap="square" lIns="0" tIns="0" rIns="0" bIns="0" rtlCol="0" anchor="t"/>
          <a:lstStyle/>
          <a:p>
            <a:pPr indent="0" marL="0">
              <a:buNone/>
            </a:pPr>
            <a:r>
              <a:rPr lang="en-US" sz="900" dirty="0">
                <a:solidFill>
                  <a:srgbClr val="1F2430"/>
                </a:solidFill>
                <a:latin typeface="Segoe UI" pitchFamily="34" charset="0"/>
                <a:ea typeface="Segoe UI" pitchFamily="34" charset="-122"/>
                <a:cs typeface="Segoe UI" pitchFamily="34" charset="-120"/>
              </a:rPr>
              <a:t>thin lock: rest of word points to a lock record on the stack</a:t>
            </a:r>
            <a:endParaRPr lang="en-US" sz="900" dirty="0"/>
          </a:p>
        </p:txBody>
      </p:sp>
      <p:sp>
        <p:nvSpPr>
          <p:cNvPr id="25" name="Text 22"/>
          <p:cNvSpPr/>
          <p:nvPr/>
        </p:nvSpPr>
        <p:spPr>
          <a:xfrm>
            <a:off x="6223000" y="3200400"/>
            <a:ext cx="330200" cy="177800"/>
          </a:xfrm>
          <a:prstGeom prst="roundRect">
            <a:avLst>
              <a:gd name="adj" fmla="val 21429"/>
            </a:avLst>
          </a:prstGeom>
          <a:solidFill>
            <a:srgbClr val="F4D6D2"/>
          </a:solidFill>
          <a:ln/>
        </p:spPr>
        <p:txBody>
          <a:bodyPr wrap="square" lIns="0" tIns="0" rIns="0" bIns="0" rtlCol="0" anchor="ctr"/>
          <a:lstStyle/>
          <a:p>
            <a:pPr algn="ctr" indent="0" marL="0">
              <a:buNone/>
            </a:pPr>
            <a:r>
              <a:rPr lang="en-US" sz="850" b="1" dirty="0">
                <a:solidFill>
                  <a:srgbClr val="C0392B"/>
                </a:solidFill>
                <a:latin typeface="Consolas" pitchFamily="34" charset="0"/>
                <a:ea typeface="Consolas" pitchFamily="34" charset="-122"/>
                <a:cs typeface="Consolas" pitchFamily="34" charset="-120"/>
              </a:rPr>
              <a:t>10</a:t>
            </a:r>
            <a:endParaRPr lang="en-US" sz="850" dirty="0"/>
          </a:p>
        </p:txBody>
      </p:sp>
      <p:sp>
        <p:nvSpPr>
          <p:cNvPr id="26" name="Text 23"/>
          <p:cNvSpPr txBox="1"/>
          <p:nvPr/>
        </p:nvSpPr>
        <p:spPr>
          <a:xfrm>
            <a:off x="6654800" y="3213100"/>
            <a:ext cx="5080000" cy="177800"/>
          </a:xfrm>
          <a:prstGeom prst="rect">
            <a:avLst/>
          </a:prstGeom>
          <a:noFill/>
          <a:ln/>
        </p:spPr>
        <p:txBody>
          <a:bodyPr wrap="square" lIns="0" tIns="0" rIns="0" bIns="0" rtlCol="0" anchor="t"/>
          <a:lstStyle/>
          <a:p>
            <a:pPr indent="0" marL="0">
              <a:buNone/>
            </a:pPr>
            <a:r>
              <a:rPr lang="en-US" sz="900" dirty="0">
                <a:solidFill>
                  <a:srgbClr val="1F2430"/>
                </a:solidFill>
                <a:latin typeface="Segoe UI" pitchFamily="34" charset="0"/>
                <a:ea typeface="Segoe UI" pitchFamily="34" charset="-122"/>
                <a:cs typeface="Segoe UI" pitchFamily="34" charset="-120"/>
              </a:rPr>
              <a:t>inflated: rest of word points to an ObjectMonitor</a:t>
            </a:r>
            <a:endParaRPr lang="en-US" sz="900" dirty="0"/>
          </a:p>
        </p:txBody>
      </p:sp>
      <p:sp>
        <p:nvSpPr>
          <p:cNvPr id="27" name="Text 24"/>
          <p:cNvSpPr/>
          <p:nvPr/>
        </p:nvSpPr>
        <p:spPr>
          <a:xfrm>
            <a:off x="6223000" y="3429000"/>
            <a:ext cx="330200" cy="177800"/>
          </a:xfrm>
          <a:prstGeom prst="roundRect">
            <a:avLst>
              <a:gd name="adj" fmla="val 21429"/>
            </a:avLst>
          </a:prstGeom>
          <a:solidFill>
            <a:srgbClr val="F4D6D2"/>
          </a:solidFill>
          <a:ln/>
        </p:spPr>
        <p:txBody>
          <a:bodyPr wrap="square" lIns="0" tIns="0" rIns="0" bIns="0" rtlCol="0" anchor="ctr"/>
          <a:lstStyle/>
          <a:p>
            <a:pPr algn="ctr" indent="0" marL="0">
              <a:buNone/>
            </a:pPr>
            <a:r>
              <a:rPr lang="en-US" sz="850" b="1" dirty="0">
                <a:solidFill>
                  <a:srgbClr val="C0392B"/>
                </a:solidFill>
                <a:latin typeface="Consolas" pitchFamily="34" charset="0"/>
                <a:ea typeface="Consolas" pitchFamily="34" charset="-122"/>
                <a:cs typeface="Consolas" pitchFamily="34" charset="-120"/>
              </a:rPr>
              <a:t>11</a:t>
            </a:r>
            <a:endParaRPr lang="en-US" sz="850" dirty="0"/>
          </a:p>
        </p:txBody>
      </p:sp>
      <p:sp>
        <p:nvSpPr>
          <p:cNvPr id="28" name="Text 25"/>
          <p:cNvSpPr txBox="1"/>
          <p:nvPr/>
        </p:nvSpPr>
        <p:spPr>
          <a:xfrm>
            <a:off x="6654800" y="3441700"/>
            <a:ext cx="5080000" cy="177800"/>
          </a:xfrm>
          <a:prstGeom prst="rect">
            <a:avLst/>
          </a:prstGeom>
          <a:noFill/>
          <a:ln/>
        </p:spPr>
        <p:txBody>
          <a:bodyPr wrap="square" lIns="0" tIns="0" rIns="0" bIns="0" rtlCol="0" anchor="t"/>
          <a:lstStyle/>
          <a:p>
            <a:pPr indent="0" marL="0">
              <a:buNone/>
            </a:pPr>
            <a:r>
              <a:rPr lang="en-US" sz="900" dirty="0">
                <a:solidFill>
                  <a:srgbClr val="1F2430"/>
                </a:solidFill>
                <a:latin typeface="Segoe UI" pitchFamily="34" charset="0"/>
                <a:ea typeface="Segoe UI" pitchFamily="34" charset="-122"/>
                <a:cs typeface="Segoe UI" pitchFamily="34" charset="-120"/>
              </a:rPr>
              <a:t>marked by the GC (e.g. forwarding during copying)</a:t>
            </a:r>
            <a:endParaRPr lang="en-US" sz="900" dirty="0"/>
          </a:p>
        </p:txBody>
      </p:sp>
      <p:sp>
        <p:nvSpPr>
          <p:cNvPr id="29" name="Text 26"/>
          <p:cNvSpPr txBox="1"/>
          <p:nvPr/>
        </p:nvSpPr>
        <p:spPr>
          <a:xfrm>
            <a:off x="457200" y="38100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OBJECT LAYOUTS (BYTES, COMPRESSED CLASS POINTERS)</a:t>
            </a:r>
            <a:endParaRPr lang="en-US" sz="950" dirty="0"/>
          </a:p>
        </p:txBody>
      </p:sp>
      <p:sp>
        <p:nvSpPr>
          <p:cNvPr id="30" name="Text 27"/>
          <p:cNvSpPr txBox="1"/>
          <p:nvPr/>
        </p:nvSpPr>
        <p:spPr>
          <a:xfrm>
            <a:off x="2413000" y="39878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0</a:t>
            </a:r>
            <a:endParaRPr lang="en-US" sz="750" dirty="0"/>
          </a:p>
        </p:txBody>
      </p:sp>
      <p:sp>
        <p:nvSpPr>
          <p:cNvPr id="31" name="Text 28"/>
          <p:cNvSpPr txBox="1"/>
          <p:nvPr/>
        </p:nvSpPr>
        <p:spPr>
          <a:xfrm>
            <a:off x="4445000" y="39878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8</a:t>
            </a:r>
            <a:endParaRPr lang="en-US" sz="750" dirty="0"/>
          </a:p>
        </p:txBody>
      </p:sp>
      <p:sp>
        <p:nvSpPr>
          <p:cNvPr id="32" name="Text 29"/>
          <p:cNvSpPr txBox="1"/>
          <p:nvPr/>
        </p:nvSpPr>
        <p:spPr>
          <a:xfrm>
            <a:off x="6477000" y="39878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16</a:t>
            </a:r>
            <a:endParaRPr lang="en-US" sz="750" dirty="0"/>
          </a:p>
        </p:txBody>
      </p:sp>
      <p:sp>
        <p:nvSpPr>
          <p:cNvPr id="33" name="Text 30"/>
          <p:cNvSpPr txBox="1"/>
          <p:nvPr/>
        </p:nvSpPr>
        <p:spPr>
          <a:xfrm>
            <a:off x="8509000" y="39878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24</a:t>
            </a:r>
            <a:endParaRPr lang="en-US" sz="750" dirty="0"/>
          </a:p>
        </p:txBody>
      </p:sp>
      <p:sp>
        <p:nvSpPr>
          <p:cNvPr id="34" name="Text 31"/>
          <p:cNvSpPr txBox="1"/>
          <p:nvPr/>
        </p:nvSpPr>
        <p:spPr>
          <a:xfrm>
            <a:off x="457200" y="41783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Empty {}</a:t>
            </a:r>
            <a:endParaRPr lang="en-US" sz="900" dirty="0"/>
          </a:p>
        </p:txBody>
      </p:sp>
      <p:sp>
        <p:nvSpPr>
          <p:cNvPr id="35" name="Text 32"/>
          <p:cNvSpPr/>
          <p:nvPr/>
        </p:nvSpPr>
        <p:spPr>
          <a:xfrm>
            <a:off x="2540000" y="4140200"/>
            <a:ext cx="20320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mark word</a:t>
            </a:r>
            <a:endParaRPr lang="en-US" sz="800" dirty="0"/>
          </a:p>
        </p:txBody>
      </p:sp>
      <p:sp>
        <p:nvSpPr>
          <p:cNvPr id="36" name="Text 33"/>
          <p:cNvSpPr/>
          <p:nvPr/>
        </p:nvSpPr>
        <p:spPr>
          <a:xfrm>
            <a:off x="4572000" y="4140200"/>
            <a:ext cx="1016000" cy="2286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klass</a:t>
            </a:r>
            <a:endParaRPr lang="en-US" sz="800" dirty="0"/>
          </a:p>
        </p:txBody>
      </p:sp>
      <p:sp>
        <p:nvSpPr>
          <p:cNvPr id="37" name="Text 34"/>
          <p:cNvSpPr/>
          <p:nvPr/>
        </p:nvSpPr>
        <p:spPr>
          <a:xfrm>
            <a:off x="5588000" y="4140200"/>
            <a:ext cx="1016000" cy="228600"/>
          </a:xfrm>
          <a:prstGeom prst="rect">
            <a:avLst/>
          </a:prstGeom>
          <a:solidFill>
            <a:srgbClr val="C9CED8"/>
          </a:solidFill>
          <a:ln w="12700">
            <a:solidFill>
              <a:srgbClr val="FFFFFF"/>
            </a:solidFill>
          </a:ln>
        </p:spPr>
        <p:txBody>
          <a:bodyPr wrap="square" lIns="0" tIns="0" rIns="0" bIns="0" rtlCol="0" anchor="ctr"/>
          <a:lstStyle/>
          <a:p>
            <a:pPr algn="ctr" indent="0" marL="0">
              <a:buNone/>
            </a:pPr>
            <a:r>
              <a:rPr lang="en-US" sz="800" b="1" dirty="0">
                <a:solidFill>
                  <a:srgbClr val="5B6475"/>
                </a:solidFill>
                <a:latin typeface="Segoe UI" pitchFamily="34" charset="0"/>
                <a:ea typeface="Segoe UI" pitchFamily="34" charset="-122"/>
                <a:cs typeface="Segoe UI" pitchFamily="34" charset="-120"/>
              </a:rPr>
              <a:t>pad</a:t>
            </a:r>
            <a:endParaRPr lang="en-US" sz="800" dirty="0"/>
          </a:p>
        </p:txBody>
      </p:sp>
      <p:sp>
        <p:nvSpPr>
          <p:cNvPr id="38" name="Text 35"/>
          <p:cNvSpPr txBox="1"/>
          <p:nvPr/>
        </p:nvSpPr>
        <p:spPr>
          <a:xfrm>
            <a:off x="8788400" y="4178300"/>
            <a:ext cx="29464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16 B (128 bits) · 0 B data · </a:t>
            </a:r>
            <a:pPr indent="0" marL="0">
              <a:buNone/>
            </a:pPr>
            <a:r>
              <a:rPr lang="en-US" sz="850" b="1" dirty="0">
                <a:solidFill>
                  <a:srgbClr val="5B6475"/>
                </a:solidFill>
                <a:latin typeface="Segoe UI" pitchFamily="34" charset="0"/>
                <a:ea typeface="Segoe UI" pitchFamily="34" charset="-122"/>
                <a:cs typeface="Segoe UI" pitchFamily="34" charset="-120"/>
              </a:rPr>
              <a:t>header 75%</a:t>
            </a:r>
            <a:endParaRPr lang="en-US" sz="850" dirty="0"/>
          </a:p>
        </p:txBody>
      </p:sp>
      <p:sp>
        <p:nvSpPr>
          <p:cNvPr id="39" name="Text 36"/>
          <p:cNvSpPr txBox="1"/>
          <p:nvPr/>
        </p:nvSpPr>
        <p:spPr>
          <a:xfrm>
            <a:off x="457200" y="44958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Box { int v; }</a:t>
            </a:r>
            <a:endParaRPr lang="en-US" sz="900" dirty="0"/>
          </a:p>
        </p:txBody>
      </p:sp>
      <p:sp>
        <p:nvSpPr>
          <p:cNvPr id="40" name="Text 37"/>
          <p:cNvSpPr/>
          <p:nvPr/>
        </p:nvSpPr>
        <p:spPr>
          <a:xfrm>
            <a:off x="2540000" y="4457700"/>
            <a:ext cx="20320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mark word</a:t>
            </a:r>
            <a:endParaRPr lang="en-US" sz="800" dirty="0"/>
          </a:p>
        </p:txBody>
      </p:sp>
      <p:sp>
        <p:nvSpPr>
          <p:cNvPr id="41" name="Text 38"/>
          <p:cNvSpPr/>
          <p:nvPr/>
        </p:nvSpPr>
        <p:spPr>
          <a:xfrm>
            <a:off x="4572000" y="4457700"/>
            <a:ext cx="1016000" cy="2286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klass</a:t>
            </a:r>
            <a:endParaRPr lang="en-US" sz="800" dirty="0"/>
          </a:p>
        </p:txBody>
      </p:sp>
      <p:sp>
        <p:nvSpPr>
          <p:cNvPr id="42" name="Text 39"/>
          <p:cNvSpPr/>
          <p:nvPr/>
        </p:nvSpPr>
        <p:spPr>
          <a:xfrm>
            <a:off x="5588000" y="4457700"/>
            <a:ext cx="10160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43" name="Text 40"/>
          <p:cNvSpPr txBox="1"/>
          <p:nvPr/>
        </p:nvSpPr>
        <p:spPr>
          <a:xfrm>
            <a:off x="8788400" y="4495800"/>
            <a:ext cx="29464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16 B (128 bits) · 4 B (32 bits) data · </a:t>
            </a:r>
            <a:pPr indent="0" marL="0">
              <a:buNone/>
            </a:pPr>
            <a:r>
              <a:rPr lang="en-US" sz="850" b="1" dirty="0">
                <a:solidFill>
                  <a:srgbClr val="5B6475"/>
                </a:solidFill>
                <a:latin typeface="Segoe UI" pitchFamily="34" charset="0"/>
                <a:ea typeface="Segoe UI" pitchFamily="34" charset="-122"/>
                <a:cs typeface="Segoe UI" pitchFamily="34" charset="-120"/>
              </a:rPr>
              <a:t>header 75%</a:t>
            </a:r>
            <a:endParaRPr lang="en-US" sz="850" dirty="0"/>
          </a:p>
        </p:txBody>
      </p:sp>
      <p:sp>
        <p:nvSpPr>
          <p:cNvPr id="44" name="Text 41"/>
          <p:cNvSpPr txBox="1"/>
          <p:nvPr/>
        </p:nvSpPr>
        <p:spPr>
          <a:xfrm>
            <a:off x="457200" y="48133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Box { long v; }</a:t>
            </a:r>
            <a:endParaRPr lang="en-US" sz="900" dirty="0"/>
          </a:p>
        </p:txBody>
      </p:sp>
      <p:sp>
        <p:nvSpPr>
          <p:cNvPr id="45" name="Text 42"/>
          <p:cNvSpPr/>
          <p:nvPr/>
        </p:nvSpPr>
        <p:spPr>
          <a:xfrm>
            <a:off x="2540000" y="4775200"/>
            <a:ext cx="20320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mark word</a:t>
            </a:r>
            <a:endParaRPr lang="en-US" sz="800" dirty="0"/>
          </a:p>
        </p:txBody>
      </p:sp>
      <p:sp>
        <p:nvSpPr>
          <p:cNvPr id="46" name="Text 43"/>
          <p:cNvSpPr/>
          <p:nvPr/>
        </p:nvSpPr>
        <p:spPr>
          <a:xfrm>
            <a:off x="4572000" y="4775200"/>
            <a:ext cx="1016000" cy="2286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klass</a:t>
            </a:r>
            <a:endParaRPr lang="en-US" sz="800" dirty="0"/>
          </a:p>
        </p:txBody>
      </p:sp>
      <p:sp>
        <p:nvSpPr>
          <p:cNvPr id="47" name="Text 44"/>
          <p:cNvSpPr/>
          <p:nvPr/>
        </p:nvSpPr>
        <p:spPr>
          <a:xfrm>
            <a:off x="5588000" y="4775200"/>
            <a:ext cx="1016000" cy="228600"/>
          </a:xfrm>
          <a:prstGeom prst="rect">
            <a:avLst/>
          </a:prstGeom>
          <a:solidFill>
            <a:srgbClr val="C9CED8"/>
          </a:solidFill>
          <a:ln w="12700">
            <a:solidFill>
              <a:srgbClr val="FFFFFF"/>
            </a:solidFill>
          </a:ln>
        </p:spPr>
        <p:txBody>
          <a:bodyPr wrap="square" lIns="0" tIns="0" rIns="0" bIns="0" rtlCol="0" anchor="ctr"/>
          <a:lstStyle/>
          <a:p>
            <a:pPr algn="ctr" indent="0" marL="0">
              <a:buNone/>
            </a:pPr>
            <a:r>
              <a:rPr lang="en-US" sz="800" b="1" dirty="0">
                <a:solidFill>
                  <a:srgbClr val="5B6475"/>
                </a:solidFill>
                <a:latin typeface="Segoe UI" pitchFamily="34" charset="0"/>
                <a:ea typeface="Segoe UI" pitchFamily="34" charset="-122"/>
                <a:cs typeface="Segoe UI" pitchFamily="34" charset="-120"/>
              </a:rPr>
              <a:t>pad</a:t>
            </a:r>
            <a:endParaRPr lang="en-US" sz="800" dirty="0"/>
          </a:p>
        </p:txBody>
      </p:sp>
      <p:sp>
        <p:nvSpPr>
          <p:cNvPr id="48" name="Text 45"/>
          <p:cNvSpPr/>
          <p:nvPr/>
        </p:nvSpPr>
        <p:spPr>
          <a:xfrm>
            <a:off x="6604000" y="4775200"/>
            <a:ext cx="20320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long</a:t>
            </a:r>
            <a:endParaRPr lang="en-US" sz="800" dirty="0"/>
          </a:p>
        </p:txBody>
      </p:sp>
      <p:sp>
        <p:nvSpPr>
          <p:cNvPr id="49" name="Text 46"/>
          <p:cNvSpPr txBox="1"/>
          <p:nvPr/>
        </p:nvSpPr>
        <p:spPr>
          <a:xfrm>
            <a:off x="8788400" y="4813300"/>
            <a:ext cx="29464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24 B (192 bits) · 8 B (64 bits) data · </a:t>
            </a:r>
            <a:pPr indent="0" marL="0">
              <a:buNone/>
            </a:pPr>
            <a:r>
              <a:rPr lang="en-US" sz="850" b="1" dirty="0">
                <a:solidFill>
                  <a:srgbClr val="5B6475"/>
                </a:solidFill>
                <a:latin typeface="Segoe UI" pitchFamily="34" charset="0"/>
                <a:ea typeface="Segoe UI" pitchFamily="34" charset="-122"/>
                <a:cs typeface="Segoe UI" pitchFamily="34" charset="-120"/>
              </a:rPr>
              <a:t>header 50%</a:t>
            </a:r>
            <a:endParaRPr lang="en-US" sz="850" dirty="0"/>
          </a:p>
        </p:txBody>
      </p:sp>
      <p:sp>
        <p:nvSpPr>
          <p:cNvPr id="50" name="Text 47"/>
          <p:cNvSpPr txBox="1"/>
          <p:nvPr/>
        </p:nvSpPr>
        <p:spPr>
          <a:xfrm>
            <a:off x="457200" y="51308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new int[2]</a:t>
            </a:r>
            <a:endParaRPr lang="en-US" sz="900" dirty="0"/>
          </a:p>
        </p:txBody>
      </p:sp>
      <p:sp>
        <p:nvSpPr>
          <p:cNvPr id="51" name="Text 48"/>
          <p:cNvSpPr/>
          <p:nvPr/>
        </p:nvSpPr>
        <p:spPr>
          <a:xfrm>
            <a:off x="2540000" y="5092700"/>
            <a:ext cx="20320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mark word</a:t>
            </a:r>
            <a:endParaRPr lang="en-US" sz="800" dirty="0"/>
          </a:p>
        </p:txBody>
      </p:sp>
      <p:sp>
        <p:nvSpPr>
          <p:cNvPr id="52" name="Text 49"/>
          <p:cNvSpPr/>
          <p:nvPr/>
        </p:nvSpPr>
        <p:spPr>
          <a:xfrm>
            <a:off x="4572000" y="5092700"/>
            <a:ext cx="1016000" cy="228600"/>
          </a:xfrm>
          <a:prstGeom prst="rect">
            <a:avLst/>
          </a:prstGeom>
          <a:solidFill>
            <a:srgbClr val="2F6FB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klass</a:t>
            </a:r>
            <a:endParaRPr lang="en-US" sz="800" dirty="0"/>
          </a:p>
        </p:txBody>
      </p:sp>
      <p:sp>
        <p:nvSpPr>
          <p:cNvPr id="53" name="Text 50"/>
          <p:cNvSpPr/>
          <p:nvPr/>
        </p:nvSpPr>
        <p:spPr>
          <a:xfrm>
            <a:off x="5588000" y="5092700"/>
            <a:ext cx="1016000" cy="228600"/>
          </a:xfrm>
          <a:prstGeom prst="rect">
            <a:avLst/>
          </a:prstGeom>
          <a:solidFill>
            <a:srgbClr val="7A4FB5"/>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len</a:t>
            </a:r>
            <a:endParaRPr lang="en-US" sz="800" dirty="0"/>
          </a:p>
        </p:txBody>
      </p:sp>
      <p:sp>
        <p:nvSpPr>
          <p:cNvPr id="54" name="Text 51"/>
          <p:cNvSpPr/>
          <p:nvPr/>
        </p:nvSpPr>
        <p:spPr>
          <a:xfrm>
            <a:off x="6604000" y="5092700"/>
            <a:ext cx="10160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55" name="Text 52"/>
          <p:cNvSpPr/>
          <p:nvPr/>
        </p:nvSpPr>
        <p:spPr>
          <a:xfrm>
            <a:off x="7620000" y="5092700"/>
            <a:ext cx="10160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56" name="Text 53"/>
          <p:cNvSpPr txBox="1"/>
          <p:nvPr/>
        </p:nvSpPr>
        <p:spPr>
          <a:xfrm>
            <a:off x="8788400" y="5130800"/>
            <a:ext cx="2946400" cy="177800"/>
          </a:xfrm>
          <a:prstGeom prst="rect">
            <a:avLst/>
          </a:prstGeom>
          <a:noFill/>
          <a:ln/>
        </p:spPr>
        <p:txBody>
          <a:bodyPr wrap="square" lIns="0" tIns="0" rIns="0" bIns="0" rtlCol="0" anchor="t"/>
          <a:lstStyle/>
          <a:p>
            <a:pPr indent="0" marL="0">
              <a:buNone/>
            </a:pPr>
            <a:r>
              <a:rPr lang="en-US" sz="850" dirty="0">
                <a:solidFill>
                  <a:srgbClr val="5B6475"/>
                </a:solidFill>
                <a:latin typeface="Segoe UI" pitchFamily="34" charset="0"/>
                <a:ea typeface="Segoe UI" pitchFamily="34" charset="-122"/>
                <a:cs typeface="Segoe UI" pitchFamily="34" charset="-120"/>
              </a:rPr>
              <a:t>24 B (192 bits) · 8 B (64 bits) data · </a:t>
            </a:r>
            <a:pPr indent="0" marL="0">
              <a:buNone/>
            </a:pPr>
            <a:r>
              <a:rPr lang="en-US" sz="850" b="1" dirty="0">
                <a:solidFill>
                  <a:srgbClr val="5B6475"/>
                </a:solidFill>
                <a:latin typeface="Segoe UI" pitchFamily="34" charset="0"/>
                <a:ea typeface="Segoe UI" pitchFamily="34" charset="-122"/>
                <a:cs typeface="Segoe UI" pitchFamily="34" charset="-120"/>
              </a:rPr>
              <a:t>header 67%</a:t>
            </a:r>
            <a:endParaRPr lang="en-US" sz="850" dirty="0"/>
          </a:p>
        </p:txBody>
      </p:sp>
      <p:sp>
        <p:nvSpPr>
          <p:cNvPr id="57" name="Shape 54"/>
          <p:cNvSpPr/>
          <p:nvPr/>
        </p:nvSpPr>
        <p:spPr>
          <a:xfrm>
            <a:off x="457200" y="5562600"/>
            <a:ext cx="11277600" cy="787400"/>
          </a:xfrm>
          <a:prstGeom prst="roundRect">
            <a:avLst>
              <a:gd name="adj" fmla="val 9677"/>
            </a:avLst>
          </a:prstGeom>
          <a:solidFill>
            <a:srgbClr val="FDEBDC"/>
          </a:solidFill>
          <a:ln/>
        </p:spPr>
      </p:sp>
      <p:sp>
        <p:nvSpPr>
          <p:cNvPr id="58" name="Text 55"/>
          <p:cNvSpPr txBox="1"/>
          <p:nvPr/>
        </p:nvSpPr>
        <p:spPr>
          <a:xfrm>
            <a:off x="660400" y="5676900"/>
            <a:ext cx="762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WHY IT MATTERS</a:t>
            </a:r>
            <a:endParaRPr lang="en-US" sz="950" dirty="0"/>
          </a:p>
        </p:txBody>
      </p:sp>
      <p:sp>
        <p:nvSpPr>
          <p:cNvPr id="59" name="Text 56"/>
          <p:cNvSpPr txBox="1"/>
          <p:nvPr/>
        </p:nvSpPr>
        <p:spPr>
          <a:xfrm>
            <a:off x="660400" y="5892800"/>
            <a:ext cx="10871200" cy="3810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A boxed value pays 12 bytes (96 bits) of header plus padding to hold 4 bytes (32 bits) of data. </a:t>
            </a:r>
            <a:pPr indent="0" marL="0">
              <a:buNone/>
            </a:pPr>
            <a:r>
              <a:rPr lang="en-US" sz="1000" b="1" dirty="0">
                <a:solidFill>
                  <a:srgbClr val="1F2430"/>
                </a:solidFill>
                <a:latin typeface="Segoe UI" pitchFamily="34" charset="0"/>
                <a:ea typeface="Segoe UI" pitchFamily="34" charset="-122"/>
                <a:cs typeface="Segoe UI" pitchFamily="34" charset="-120"/>
              </a:rPr>
              <a:t>Compact object headers</a:t>
            </a:r>
            <a:pPr indent="0" marL="0">
              <a:buNone/>
            </a:pPr>
            <a:r>
              <a:rPr lang="en-US" sz="1000" dirty="0">
                <a:solidFill>
                  <a:srgbClr val="1F2430"/>
                </a:solidFill>
                <a:latin typeface="Segoe UI" pitchFamily="34" charset="0"/>
                <a:ea typeface="Segoe UI" pitchFamily="34" charset="-122"/>
                <a:cs typeface="Segoe UI" pitchFamily="34" charset="-120"/>
              </a:rPr>
              <a:t> (JEP 450, experimental in Java 24; JEP 519, product in Java 25) shrink the header to 8 bytes (64 bits) by moving a compressed class pointer into the mark word.</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04800"/>
            <a:ext cx="9525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The Java object header, after compact headers (Lilliput Part 1)</a:t>
            </a:r>
            <a:endParaRPr lang="en-US" sz="2400" dirty="0"/>
          </a:p>
        </p:txBody>
      </p:sp>
      <p:sp>
        <p:nvSpPr>
          <p:cNvPr id="3" name="Text 1"/>
          <p:cNvSpPr/>
          <p:nvPr/>
        </p:nvSpPr>
        <p:spPr>
          <a:xfrm>
            <a:off x="10205720" y="381000"/>
            <a:ext cx="15290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519 · JDK 25</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With </a:t>
            </a:r>
            <a:pPr indent="0" marL="0">
              <a:buNone/>
            </a:pPr>
            <a:r>
              <a:rPr lang="en-US" sz="1200" dirty="0">
                <a:solidFill>
                  <a:srgbClr val="5B6475"/>
                </a:solidFill>
                <a:latin typeface="Consolas" pitchFamily="34" charset="0"/>
                <a:ea typeface="Consolas" pitchFamily="34" charset="-122"/>
                <a:cs typeface="Consolas" pitchFamily="34" charset="-120"/>
              </a:rPr>
              <a:t>‑XX:+UseCompactObjectHeaders</a:t>
            </a:r>
            <a:pPr indent="0" marL="0">
              <a:buNone/>
            </a:pPr>
            <a:r>
              <a:rPr lang="en-US" sz="1200" dirty="0">
                <a:solidFill>
                  <a:srgbClr val="5B6475"/>
                </a:solidFill>
                <a:latin typeface="Segoe UI" pitchFamily="34" charset="0"/>
                <a:ea typeface="Segoe UI" pitchFamily="34" charset="-122"/>
                <a:cs typeface="Segoe UI" pitchFamily="34" charset="-120"/>
              </a:rPr>
              <a:t> the class pointer moves into the mark word, so the header shrinks from </a:t>
            </a:r>
            <a:pPr indent="0" marL="0">
              <a:buNone/>
            </a:pPr>
            <a:r>
              <a:rPr lang="en-US" sz="1200" b="1" dirty="0">
                <a:solidFill>
                  <a:srgbClr val="5B6475"/>
                </a:solidFill>
                <a:latin typeface="Segoe UI" pitchFamily="34" charset="0"/>
                <a:ea typeface="Segoe UI" pitchFamily="34" charset="-122"/>
                <a:cs typeface="Segoe UI" pitchFamily="34" charset="-120"/>
              </a:rPr>
              <a:t>12 bytes (96 bits) to 8 bytes (64 bits)</a:t>
            </a:r>
            <a:pPr indent="0" marL="0">
              <a:buNone/>
            </a:pPr>
            <a:r>
              <a:rPr lang="en-US" sz="1200" dirty="0">
                <a:solidFill>
                  <a:srgbClr val="5B6475"/>
                </a:solidFill>
                <a:latin typeface="Segoe UI" pitchFamily="34" charset="0"/>
                <a:ea typeface="Segoe UI" pitchFamily="34" charset="-122"/>
                <a:cs typeface="Segoe UI" pitchFamily="34" charset="-120"/>
              </a:rPr>
              <a:t>; arrays shrink from 16 bytes (128 bits) to 12 bytes (96 bits).</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HEADER COMPONENTS: BEFORE → AFTER</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461000" cy="914400"/>
        </p:xfrm>
        <a:graphic>
          <a:graphicData uri="http://schemas.openxmlformats.org/drawingml/2006/table">
            <a:tbl>
              <a:tblPr/>
              <a:tblGrid>
                <a:gridCol w="1270000"/>
                <a:gridCol w="1524000"/>
                <a:gridCol w="2667000"/>
              </a:tblGrid>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Component</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Before</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After</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E76F00"/>
                          </a:solidFill>
                          <a:latin typeface="Segoe UI" pitchFamily="34" charset="0"/>
                          <a:ea typeface="Segoe UI" pitchFamily="34" charset="-122"/>
                          <a:cs typeface="Segoe UI" pitchFamily="34" charset="-120"/>
                        </a:rPr>
                        <a:t>Mark word</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8 bytes</a:t>
                      </a:r>
                      <a:pPr indent="0" marL="0">
                        <a:buNone/>
                      </a:pPr>
                      <a:r>
                        <a:rPr lang="en-US" sz="950" dirty="0">
                          <a:solidFill>
                            <a:srgbClr val="1F2430"/>
                          </a:solidFill>
                          <a:latin typeface="Segoe UI" pitchFamily="34" charset="0"/>
                          <a:ea typeface="Segoe UI" pitchFamily="34" charset="-122"/>
                          <a:cs typeface="Segoe UI" pitchFamily="34" charset="-120"/>
                        </a:rPr>
                        <a:t> (64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8 bytes</a:t>
                      </a:r>
                      <a:pPr indent="0" marL="0">
                        <a:buNone/>
                      </a:pPr>
                      <a:r>
                        <a:rPr lang="en-US" sz="950" dirty="0">
                          <a:solidFill>
                            <a:srgbClr val="2E8B57"/>
                          </a:solidFill>
                          <a:latin typeface="Segoe UI" pitchFamily="34" charset="0"/>
                          <a:ea typeface="Segoe UI" pitchFamily="34" charset="-122"/>
                          <a:cs typeface="Segoe UI" pitchFamily="34" charset="-120"/>
                        </a:rPr>
                        <a:t> (64 bits), now also holds the class pointer</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2F6FB0"/>
                          </a:solidFill>
                          <a:latin typeface="Segoe UI" pitchFamily="34" charset="0"/>
                          <a:ea typeface="Segoe UI" pitchFamily="34" charset="-122"/>
                          <a:cs typeface="Segoe UI" pitchFamily="34" charset="-120"/>
                        </a:rPr>
                        <a:t>Klass pointer</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4 bytes</a:t>
                      </a:r>
                      <a:pPr indent="0" marL="0">
                        <a:buNone/>
                      </a:pPr>
                      <a:r>
                        <a:rPr lang="en-US" sz="950" dirty="0">
                          <a:solidFill>
                            <a:srgbClr val="1F2430"/>
                          </a:solidFill>
                          <a:latin typeface="Segoe UI" pitchFamily="34" charset="0"/>
                          <a:ea typeface="Segoe UI" pitchFamily="34" charset="-122"/>
                          <a:cs typeface="Segoe UI" pitchFamily="34" charset="-120"/>
                        </a:rPr>
                        <a:t> (32 bits), own field</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0 bytes</a:t>
                      </a:r>
                      <a:pPr indent="0" marL="0">
                        <a:buNone/>
                      </a:pPr>
                      <a:r>
                        <a:rPr lang="en-US" sz="950" dirty="0">
                          <a:solidFill>
                            <a:srgbClr val="2E8B57"/>
                          </a:solidFill>
                          <a:latin typeface="Segoe UI" pitchFamily="34" charset="0"/>
                          <a:ea typeface="Segoe UI" pitchFamily="34" charset="-122"/>
                          <a:cs typeface="Segoe UI" pitchFamily="34" charset="-120"/>
                        </a:rPr>
                        <a:t>: 22 bits inside the mark word</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7A4FB5"/>
                          </a:solidFill>
                          <a:latin typeface="Segoe UI" pitchFamily="34" charset="0"/>
                          <a:ea typeface="Segoe UI" pitchFamily="34" charset="-122"/>
                          <a:cs typeface="Segoe UI" pitchFamily="34" charset="-120"/>
                        </a:rPr>
                        <a:t>Array length</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4 bytes</a:t>
                      </a:r>
                      <a:pPr indent="0" marL="0">
                        <a:buNone/>
                      </a:pPr>
                      <a:r>
                        <a:rPr lang="en-US" sz="950" dirty="0">
                          <a:solidFill>
                            <a:srgbClr val="1F2430"/>
                          </a:solidFill>
                          <a:latin typeface="Segoe UI" pitchFamily="34" charset="0"/>
                          <a:ea typeface="Segoe UI" pitchFamily="34" charset="-122"/>
                          <a:cs typeface="Segoe UI" pitchFamily="34" charset="-120"/>
                        </a:rPr>
                        <a:t> (32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4 bytes</a:t>
                      </a:r>
                      <a:pPr indent="0" marL="0">
                        <a:buNone/>
                      </a:pPr>
                      <a:r>
                        <a:rPr lang="en-US" sz="950" dirty="0">
                          <a:solidFill>
                            <a:srgbClr val="1F2430"/>
                          </a:solidFill>
                          <a:latin typeface="Segoe UI" pitchFamily="34" charset="0"/>
                          <a:ea typeface="Segoe UI" pitchFamily="34" charset="-122"/>
                          <a:cs typeface="Segoe UI" pitchFamily="34" charset="-120"/>
                        </a:rPr>
                        <a:t> (32 bits), unchanged</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Object header</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12 bytes</a:t>
                      </a:r>
                      <a:pPr indent="0" marL="0">
                        <a:buNone/>
                      </a:pPr>
                      <a:r>
                        <a:rPr lang="en-US" sz="950" dirty="0">
                          <a:solidFill>
                            <a:srgbClr val="1F2430"/>
                          </a:solidFill>
                          <a:latin typeface="Segoe UI" pitchFamily="34" charset="0"/>
                          <a:ea typeface="Segoe UI" pitchFamily="34" charset="-122"/>
                          <a:cs typeface="Segoe UI" pitchFamily="34" charset="-120"/>
                        </a:rPr>
                        <a:t> (96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8 bytes</a:t>
                      </a:r>
                      <a:pPr indent="0" marL="0">
                        <a:buNone/>
                      </a:pPr>
                      <a:r>
                        <a:rPr lang="en-US" sz="950" dirty="0">
                          <a:solidFill>
                            <a:srgbClr val="2E8B57"/>
                          </a:solidFill>
                          <a:latin typeface="Segoe UI" pitchFamily="34" charset="0"/>
                          <a:ea typeface="Segoe UI" pitchFamily="34" charset="-122"/>
                          <a:cs typeface="Segoe UI" pitchFamily="34" charset="-120"/>
                        </a:rPr>
                        <a:t> (64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Array header</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16 bytes</a:t>
                      </a:r>
                      <a:pPr indent="0" marL="0">
                        <a:buNone/>
                      </a:pPr>
                      <a:r>
                        <a:rPr lang="en-US" sz="950" dirty="0">
                          <a:solidFill>
                            <a:srgbClr val="1F2430"/>
                          </a:solidFill>
                          <a:latin typeface="Segoe UI" pitchFamily="34" charset="0"/>
                          <a:ea typeface="Segoe UI" pitchFamily="34" charset="-122"/>
                          <a:cs typeface="Segoe UI" pitchFamily="34" charset="-120"/>
                        </a:rPr>
                        <a:t> (128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12 bytes</a:t>
                      </a:r>
                      <a:pPr indent="0" marL="0">
                        <a:buNone/>
                      </a:pPr>
                      <a:r>
                        <a:rPr lang="en-US" sz="950" dirty="0">
                          <a:solidFill>
                            <a:srgbClr val="2E8B57"/>
                          </a:solidFill>
                          <a:latin typeface="Segoe UI" pitchFamily="34" charset="0"/>
                          <a:ea typeface="Segoe UI" pitchFamily="34" charset="-122"/>
                          <a:cs typeface="Segoe UI" pitchFamily="34" charset="-120"/>
                        </a:rPr>
                        <a:t> (96 bits)</a:t>
                      </a:r>
                      <a:endParaRPr lang="en-US" sz="950" dirty="0">
                        <a:latin typeface="Segoe UI" charset="0"/>
                        <a:ea typeface="Segoe UI" charset="0"/>
                        <a:cs typeface="Segoe UI" charset="0"/>
                      </a:endParaRPr>
                    </a:p>
                  </a:txBody>
                  <a:tcPr marL="76200" marR="76200" marT="50800" marB="508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7" name="Text 4"/>
          <p:cNvSpPr txBox="1"/>
          <p:nvPr/>
        </p:nvSpPr>
        <p:spPr>
          <a:xfrm>
            <a:off x="6223000" y="1397000"/>
            <a:ext cx="508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COMPACT HEADER — 64 BITS</a:t>
            </a:r>
            <a:endParaRPr lang="en-US" sz="950" dirty="0"/>
          </a:p>
        </p:txBody>
      </p:sp>
      <p:sp>
        <p:nvSpPr>
          <p:cNvPr id="8" name="Shape 5"/>
          <p:cNvSpPr/>
          <p:nvPr/>
        </p:nvSpPr>
        <p:spPr>
          <a:xfrm>
            <a:off x="6223000" y="1651000"/>
            <a:ext cx="1894681" cy="381000"/>
          </a:xfrm>
          <a:prstGeom prst="rect">
            <a:avLst/>
          </a:prstGeom>
          <a:solidFill>
            <a:srgbClr val="D6E6F7"/>
          </a:solidFill>
          <a:ln w="12700">
            <a:solidFill>
              <a:srgbClr val="FFFFFF"/>
            </a:solidFill>
            <a:prstDash val="solid"/>
          </a:ln>
        </p:spPr>
      </p:sp>
      <p:sp>
        <p:nvSpPr>
          <p:cNvPr id="9" name="Text 6"/>
          <p:cNvSpPr txBox="1"/>
          <p:nvPr/>
        </p:nvSpPr>
        <p:spPr>
          <a:xfrm>
            <a:off x="6223000" y="1651000"/>
            <a:ext cx="1894681" cy="381000"/>
          </a:xfrm>
          <a:prstGeom prst="rect">
            <a:avLst/>
          </a:prstGeom>
          <a:noFill/>
          <a:ln/>
        </p:spPr>
        <p:txBody>
          <a:bodyPr wrap="square" lIns="0" tIns="0" rIns="0" bIns="0" rtlCol="0" anchor="ctr"/>
          <a:lstStyle/>
          <a:p>
            <a:pPr algn="ctr" indent="0" marL="0">
              <a:buNone/>
            </a:pPr>
            <a:r>
              <a:rPr lang="en-US" sz="850" b="1" dirty="0">
                <a:solidFill>
                  <a:srgbClr val="2F6FB0"/>
                </a:solidFill>
                <a:latin typeface="Segoe UI" pitchFamily="34" charset="0"/>
                <a:ea typeface="Segoe UI" pitchFamily="34" charset="-122"/>
                <a:cs typeface="Segoe UI" pitchFamily="34" charset="-120"/>
              </a:rPr>
              <a:t>class pointer</a:t>
            </a:r>
            <a:endParaRPr lang="en-US" sz="850" dirty="0"/>
          </a:p>
          <a:p>
            <a:pPr algn="ctr" indent="0" marL="0">
              <a:buNone/>
            </a:pPr>
            <a:r>
              <a:rPr lang="en-US" sz="850" dirty="0">
                <a:solidFill>
                  <a:srgbClr val="2F6FB0"/>
                </a:solidFill>
                <a:latin typeface="Segoe UI" pitchFamily="34" charset="0"/>
                <a:ea typeface="Segoe UI" pitchFamily="34" charset="-122"/>
                <a:cs typeface="Segoe UI" pitchFamily="34" charset="-120"/>
              </a:rPr>
              <a:t>22 bits</a:t>
            </a:r>
            <a:endParaRPr lang="en-US" sz="850" dirty="0"/>
          </a:p>
        </p:txBody>
      </p:sp>
      <p:sp>
        <p:nvSpPr>
          <p:cNvPr id="10" name="Shape 7"/>
          <p:cNvSpPr/>
          <p:nvPr/>
        </p:nvSpPr>
        <p:spPr>
          <a:xfrm>
            <a:off x="8117681" y="1651000"/>
            <a:ext cx="2669778" cy="381000"/>
          </a:xfrm>
          <a:prstGeom prst="rect">
            <a:avLst/>
          </a:prstGeom>
          <a:solidFill>
            <a:srgbClr val="FDE3CC"/>
          </a:solidFill>
          <a:ln w="12700">
            <a:solidFill>
              <a:srgbClr val="FFFFFF"/>
            </a:solidFill>
            <a:prstDash val="solid"/>
          </a:ln>
        </p:spPr>
      </p:sp>
      <p:sp>
        <p:nvSpPr>
          <p:cNvPr id="11" name="Text 8"/>
          <p:cNvSpPr txBox="1"/>
          <p:nvPr/>
        </p:nvSpPr>
        <p:spPr>
          <a:xfrm>
            <a:off x="8117681" y="1651000"/>
            <a:ext cx="2669778" cy="381000"/>
          </a:xfrm>
          <a:prstGeom prst="rect">
            <a:avLst/>
          </a:prstGeom>
          <a:noFill/>
          <a:ln/>
        </p:spPr>
        <p:txBody>
          <a:bodyPr wrap="square" lIns="0" tIns="0" rIns="0" bIns="0" rtlCol="0" anchor="ctr"/>
          <a:lstStyle/>
          <a:p>
            <a:pPr algn="ctr" indent="0" marL="0">
              <a:buNone/>
            </a:pPr>
            <a:r>
              <a:rPr lang="en-US" sz="850" b="1" dirty="0">
                <a:solidFill>
                  <a:srgbClr val="E76F00"/>
                </a:solidFill>
                <a:latin typeface="Segoe UI" pitchFamily="34" charset="0"/>
                <a:ea typeface="Segoe UI" pitchFamily="34" charset="-122"/>
                <a:cs typeface="Segoe UI" pitchFamily="34" charset="-120"/>
              </a:rPr>
              <a:t>identity hash</a:t>
            </a:r>
            <a:endParaRPr lang="en-US" sz="850" dirty="0"/>
          </a:p>
          <a:p>
            <a:pPr algn="ctr" indent="0" marL="0">
              <a:buNone/>
            </a:pPr>
            <a:r>
              <a:rPr lang="en-US" sz="850" dirty="0">
                <a:solidFill>
                  <a:srgbClr val="E76F00"/>
                </a:solidFill>
                <a:latin typeface="Segoe UI" pitchFamily="34" charset="0"/>
                <a:ea typeface="Segoe UI" pitchFamily="34" charset="-122"/>
                <a:cs typeface="Segoe UI" pitchFamily="34" charset="-120"/>
              </a:rPr>
              <a:t>31 bits</a:t>
            </a:r>
            <a:endParaRPr lang="en-US" sz="850" dirty="0"/>
          </a:p>
        </p:txBody>
      </p:sp>
      <p:sp>
        <p:nvSpPr>
          <p:cNvPr id="12" name="Shape 9"/>
          <p:cNvSpPr/>
          <p:nvPr/>
        </p:nvSpPr>
        <p:spPr>
          <a:xfrm>
            <a:off x="10787459" y="1651000"/>
            <a:ext cx="344488" cy="381000"/>
          </a:xfrm>
          <a:prstGeom prst="rect">
            <a:avLst/>
          </a:prstGeom>
          <a:solidFill>
            <a:srgbClr val="E1E5EC"/>
          </a:solidFill>
          <a:ln w="12700">
            <a:solidFill>
              <a:srgbClr val="FFFFFF"/>
            </a:solidFill>
            <a:prstDash val="solid"/>
          </a:ln>
        </p:spPr>
      </p:sp>
      <p:sp>
        <p:nvSpPr>
          <p:cNvPr id="13" name="Shape 10"/>
          <p:cNvSpPr/>
          <p:nvPr/>
        </p:nvSpPr>
        <p:spPr>
          <a:xfrm>
            <a:off x="11131947" y="1651000"/>
            <a:ext cx="344488" cy="381000"/>
          </a:xfrm>
          <a:prstGeom prst="rect">
            <a:avLst/>
          </a:prstGeom>
          <a:solidFill>
            <a:srgbClr val="D6E6F7"/>
          </a:solidFill>
          <a:ln w="12700">
            <a:solidFill>
              <a:srgbClr val="FFFFFF"/>
            </a:solidFill>
            <a:prstDash val="solid"/>
          </a:ln>
        </p:spPr>
      </p:sp>
      <p:sp>
        <p:nvSpPr>
          <p:cNvPr id="14" name="Shape 11"/>
          <p:cNvSpPr/>
          <p:nvPr/>
        </p:nvSpPr>
        <p:spPr>
          <a:xfrm>
            <a:off x="11476434" y="1651000"/>
            <a:ext cx="86122" cy="381000"/>
          </a:xfrm>
          <a:prstGeom prst="rect">
            <a:avLst/>
          </a:prstGeom>
          <a:solidFill>
            <a:srgbClr val="E8DDF5"/>
          </a:solidFill>
          <a:ln w="12700">
            <a:solidFill>
              <a:srgbClr val="FFFFFF"/>
            </a:solidFill>
            <a:prstDash val="solid"/>
          </a:ln>
        </p:spPr>
      </p:sp>
      <p:sp>
        <p:nvSpPr>
          <p:cNvPr id="15" name="Shape 12"/>
          <p:cNvSpPr/>
          <p:nvPr/>
        </p:nvSpPr>
        <p:spPr>
          <a:xfrm>
            <a:off x="11562556" y="1651000"/>
            <a:ext cx="172244" cy="381000"/>
          </a:xfrm>
          <a:prstGeom prst="rect">
            <a:avLst/>
          </a:prstGeom>
          <a:solidFill>
            <a:srgbClr val="F4D6D2"/>
          </a:solidFill>
          <a:ln w="12700">
            <a:solidFill>
              <a:srgbClr val="FFFFFF"/>
            </a:solidFill>
            <a:prstDash val="solid"/>
          </a:ln>
        </p:spPr>
      </p:sp>
      <p:sp>
        <p:nvSpPr>
          <p:cNvPr id="16" name="Text 13"/>
          <p:cNvSpPr txBox="1"/>
          <p:nvPr/>
        </p:nvSpPr>
        <p:spPr>
          <a:xfrm>
            <a:off x="6223000" y="2082800"/>
            <a:ext cx="762000" cy="152400"/>
          </a:xfrm>
          <a:prstGeom prst="rect">
            <a:avLst/>
          </a:prstGeom>
          <a:noFill/>
          <a:ln/>
        </p:spPr>
        <p:txBody>
          <a:bodyPr wrap="square" lIns="0" tIns="0" rIns="0" bIns="0" rtlCol="0" anchor="t"/>
          <a:lstStyle/>
          <a:p>
            <a:pPr indent="0" marL="0">
              <a:buNone/>
            </a:pPr>
            <a:r>
              <a:rPr lang="en-US" sz="750" dirty="0">
                <a:solidFill>
                  <a:srgbClr val="5B6475"/>
                </a:solidFill>
                <a:latin typeface="Segoe UI" pitchFamily="34" charset="0"/>
                <a:ea typeface="Segoe UI" pitchFamily="34" charset="-122"/>
                <a:cs typeface="Segoe UI" pitchFamily="34" charset="-120"/>
              </a:rPr>
              <a:t>bit 63</a:t>
            </a:r>
            <a:endParaRPr lang="en-US" sz="750" dirty="0"/>
          </a:p>
        </p:txBody>
      </p:sp>
      <p:sp>
        <p:nvSpPr>
          <p:cNvPr id="17" name="Text 14"/>
          <p:cNvSpPr txBox="1"/>
          <p:nvPr/>
        </p:nvSpPr>
        <p:spPr>
          <a:xfrm>
            <a:off x="8432800" y="2082800"/>
            <a:ext cx="3302000" cy="152400"/>
          </a:xfrm>
          <a:prstGeom prst="rect">
            <a:avLst/>
          </a:prstGeom>
          <a:noFill/>
          <a:ln/>
        </p:spPr>
        <p:txBody>
          <a:bodyPr wrap="square" lIns="0" tIns="0" rIns="0" bIns="0" rtlCol="0" anchor="t"/>
          <a:lstStyle/>
          <a:p>
            <a:pPr algn="r" indent="0" marL="0">
              <a:buNone/>
            </a:pPr>
            <a:r>
              <a:rPr lang="en-US" sz="800" b="1" dirty="0">
                <a:solidFill>
                  <a:srgbClr val="5B6475"/>
                </a:solidFill>
                <a:latin typeface="Segoe UI" pitchFamily="34" charset="0"/>
                <a:ea typeface="Segoe UI" pitchFamily="34" charset="-122"/>
                <a:cs typeface="Segoe UI" pitchFamily="34" charset="-120"/>
              </a:rPr>
              <a:t>reserved</a:t>
            </a:r>
            <a:pPr algn="r" indent="0" marL="0">
              <a:buNone/>
            </a:pPr>
            <a:r>
              <a:rPr lang="en-US" sz="800" dirty="0">
                <a:solidFill>
                  <a:srgbClr val="5B6475"/>
                </a:solidFill>
                <a:latin typeface="Segoe UI" pitchFamily="34" charset="0"/>
                <a:ea typeface="Segoe UI" pitchFamily="34" charset="-122"/>
                <a:cs typeface="Segoe UI" pitchFamily="34" charset="-120"/>
              </a:rPr>
              <a:t> 4 · </a:t>
            </a:r>
            <a:pPr algn="r" indent="0" marL="0">
              <a:buNone/>
            </a:pPr>
            <a:r>
              <a:rPr lang="en-US" sz="800" b="1" dirty="0">
                <a:solidFill>
                  <a:srgbClr val="5B6475"/>
                </a:solidFill>
                <a:latin typeface="Segoe UI" pitchFamily="34" charset="0"/>
                <a:ea typeface="Segoe UI" pitchFamily="34" charset="-122"/>
                <a:cs typeface="Segoe UI" pitchFamily="34" charset="-120"/>
              </a:rPr>
              <a:t>age</a:t>
            </a:r>
            <a:pPr algn="r" indent="0" marL="0">
              <a:buNone/>
            </a:pPr>
            <a:r>
              <a:rPr lang="en-US" sz="800" dirty="0">
                <a:solidFill>
                  <a:srgbClr val="5B6475"/>
                </a:solidFill>
                <a:latin typeface="Segoe UI" pitchFamily="34" charset="0"/>
                <a:ea typeface="Segoe UI" pitchFamily="34" charset="-122"/>
                <a:cs typeface="Segoe UI" pitchFamily="34" charset="-120"/>
              </a:rPr>
              <a:t> 4 · </a:t>
            </a:r>
            <a:pPr algn="r" indent="0" marL="0">
              <a:buNone/>
            </a:pPr>
            <a:r>
              <a:rPr lang="en-US" sz="800" b="1" dirty="0">
                <a:solidFill>
                  <a:srgbClr val="5B6475"/>
                </a:solidFill>
                <a:latin typeface="Segoe UI" pitchFamily="34" charset="0"/>
                <a:ea typeface="Segoe UI" pitchFamily="34" charset="-122"/>
                <a:cs typeface="Segoe UI" pitchFamily="34" charset="-120"/>
              </a:rPr>
              <a:t>self-fwd</a:t>
            </a:r>
            <a:pPr algn="r" indent="0" marL="0">
              <a:buNone/>
            </a:pPr>
            <a:r>
              <a:rPr lang="en-US" sz="800" dirty="0">
                <a:solidFill>
                  <a:srgbClr val="5B6475"/>
                </a:solidFill>
                <a:latin typeface="Segoe UI" pitchFamily="34" charset="0"/>
                <a:ea typeface="Segoe UI" pitchFamily="34" charset="-122"/>
                <a:cs typeface="Segoe UI" pitchFamily="34" charset="-120"/>
              </a:rPr>
              <a:t> 1 · </a:t>
            </a:r>
            <a:pPr algn="r" indent="0" marL="0">
              <a:buNone/>
            </a:pPr>
            <a:r>
              <a:rPr lang="en-US" sz="800" b="1" dirty="0">
                <a:solidFill>
                  <a:srgbClr val="5B6475"/>
                </a:solidFill>
                <a:latin typeface="Segoe UI" pitchFamily="34" charset="0"/>
                <a:ea typeface="Segoe UI" pitchFamily="34" charset="-122"/>
                <a:cs typeface="Segoe UI" pitchFamily="34" charset="-120"/>
              </a:rPr>
              <a:t>tag</a:t>
            </a:r>
            <a:pPr algn="r" indent="0" marL="0">
              <a:buNone/>
            </a:pPr>
            <a:r>
              <a:rPr lang="en-US" sz="800" dirty="0">
                <a:solidFill>
                  <a:srgbClr val="5B6475"/>
                </a:solidFill>
                <a:latin typeface="Segoe UI" pitchFamily="34" charset="0"/>
                <a:ea typeface="Segoe UI" pitchFamily="34" charset="-122"/>
                <a:cs typeface="Segoe UI" pitchFamily="34" charset="-120"/>
              </a:rPr>
              <a:t> 2</a:t>
            </a:r>
            <a:endParaRPr lang="en-US" sz="800" dirty="0"/>
          </a:p>
        </p:txBody>
      </p:sp>
      <p:sp>
        <p:nvSpPr>
          <p:cNvPr id="18" name="bullets-2F6FB0-compact"/>
          <p:cNvSpPr txBox="1"/>
          <p:nvPr/>
        </p:nvSpPr>
        <p:spPr>
          <a:xfrm>
            <a:off x="6223000" y="2362200"/>
            <a:ext cx="5511800" cy="1397000"/>
          </a:xfrm>
          <a:prstGeom prst="rect">
            <a:avLst/>
          </a:prstGeom>
          <a:noFill/>
          <a:ln/>
        </p:spPr>
        <p:txBody>
          <a:bodyPr wrap="square" lIns="0" tIns="0" rIns="0" bIns="0" rtlCol="0" anchor="t"/>
          <a:lstStyle/>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The class pointer shrinks from 32 to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22 bits</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which caps the JVM at about 4 million loaded classes.</a:t>
            </a:r>
            <a:endParaRPr lang="en-US" sz="950" dirty="0"/>
          </a:p>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The identity hash keeps its 31 bits; 4 bits are reserved for future use.</a:t>
            </a:r>
            <a:endParaRPr lang="en-US" sz="950" dirty="0"/>
          </a:p>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A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self-forwarded</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bit lets the GC mark an object it failed to move without overwriting the header.</a:t>
            </a:r>
            <a:endParaRPr lang="en-US" sz="950" dirty="0"/>
          </a:p>
        </p:txBody>
      </p:sp>
      <p:sp>
        <p:nvSpPr>
          <p:cNvPr id="19" name="Text 16"/>
          <p:cNvSpPr txBox="1"/>
          <p:nvPr/>
        </p:nvSpPr>
        <p:spPr>
          <a:xfrm>
            <a:off x="457200" y="36068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LAYOUTS WITH COMPACT HEADERS (BYTES)</a:t>
            </a:r>
            <a:endParaRPr lang="en-US" sz="950" dirty="0"/>
          </a:p>
        </p:txBody>
      </p:sp>
      <p:sp>
        <p:nvSpPr>
          <p:cNvPr id="20" name="Text 17"/>
          <p:cNvSpPr txBox="1"/>
          <p:nvPr/>
        </p:nvSpPr>
        <p:spPr>
          <a:xfrm>
            <a:off x="2413000" y="37846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0</a:t>
            </a:r>
            <a:endParaRPr lang="en-US" sz="750" dirty="0"/>
          </a:p>
        </p:txBody>
      </p:sp>
      <p:sp>
        <p:nvSpPr>
          <p:cNvPr id="21" name="Text 18"/>
          <p:cNvSpPr txBox="1"/>
          <p:nvPr/>
        </p:nvSpPr>
        <p:spPr>
          <a:xfrm>
            <a:off x="4241800" y="37846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8</a:t>
            </a:r>
            <a:endParaRPr lang="en-US" sz="750" dirty="0"/>
          </a:p>
        </p:txBody>
      </p:sp>
      <p:sp>
        <p:nvSpPr>
          <p:cNvPr id="22" name="Text 19"/>
          <p:cNvSpPr txBox="1"/>
          <p:nvPr/>
        </p:nvSpPr>
        <p:spPr>
          <a:xfrm>
            <a:off x="6070600" y="37846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16</a:t>
            </a:r>
            <a:endParaRPr lang="en-US" sz="750" dirty="0"/>
          </a:p>
        </p:txBody>
      </p:sp>
      <p:sp>
        <p:nvSpPr>
          <p:cNvPr id="23" name="Text 20"/>
          <p:cNvSpPr txBox="1"/>
          <p:nvPr/>
        </p:nvSpPr>
        <p:spPr>
          <a:xfrm>
            <a:off x="7899400" y="3784600"/>
            <a:ext cx="254000" cy="127000"/>
          </a:xfrm>
          <a:prstGeom prst="rect">
            <a:avLst/>
          </a:prstGeom>
          <a:noFill/>
          <a:ln/>
        </p:spPr>
        <p:txBody>
          <a:bodyPr wrap="square" lIns="0" tIns="0" rIns="0" bIns="0" rtlCol="0" anchor="t"/>
          <a:lstStyle/>
          <a:p>
            <a:pPr algn="ctr" indent="0" marL="0">
              <a:buNone/>
            </a:pPr>
            <a:r>
              <a:rPr lang="en-US" sz="750" dirty="0">
                <a:solidFill>
                  <a:srgbClr val="5B6475"/>
                </a:solidFill>
                <a:latin typeface="Segoe UI" pitchFamily="34" charset="0"/>
                <a:ea typeface="Segoe UI" pitchFamily="34" charset="-122"/>
                <a:cs typeface="Segoe UI" pitchFamily="34" charset="-120"/>
              </a:rPr>
              <a:t>24</a:t>
            </a:r>
            <a:endParaRPr lang="en-US" sz="750" dirty="0"/>
          </a:p>
        </p:txBody>
      </p:sp>
      <p:sp>
        <p:nvSpPr>
          <p:cNvPr id="24" name="Text 21"/>
          <p:cNvSpPr txBox="1"/>
          <p:nvPr/>
        </p:nvSpPr>
        <p:spPr>
          <a:xfrm>
            <a:off x="457200" y="39751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Empty {}</a:t>
            </a:r>
            <a:endParaRPr lang="en-US" sz="900" dirty="0"/>
          </a:p>
        </p:txBody>
      </p:sp>
      <p:sp>
        <p:nvSpPr>
          <p:cNvPr id="25" name="Text 22"/>
          <p:cNvSpPr/>
          <p:nvPr/>
        </p:nvSpPr>
        <p:spPr>
          <a:xfrm>
            <a:off x="2540000" y="3937000"/>
            <a:ext cx="18288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header</a:t>
            </a:r>
            <a:endParaRPr lang="en-US" sz="800" dirty="0"/>
          </a:p>
        </p:txBody>
      </p:sp>
      <p:sp>
        <p:nvSpPr>
          <p:cNvPr id="26" name="Shape 23"/>
          <p:cNvSpPr/>
          <p:nvPr/>
        </p:nvSpPr>
        <p:spPr>
          <a:xfrm>
            <a:off x="4368800" y="3937000"/>
            <a:ext cx="1828800" cy="228600"/>
          </a:xfrm>
          <a:prstGeom prst="rect">
            <a:avLst/>
          </a:prstGeom>
          <a:solidFill>
            <a:srgbClr val="FFFFFF"/>
          </a:solidFill>
          <a:ln w="12700">
            <a:solidFill>
              <a:srgbClr val="C9CED8"/>
            </a:solidFill>
            <a:prstDash val="dash"/>
          </a:ln>
        </p:spPr>
      </p:sp>
      <p:sp>
        <p:nvSpPr>
          <p:cNvPr id="27" name="Text 24"/>
          <p:cNvSpPr txBox="1"/>
          <p:nvPr/>
        </p:nvSpPr>
        <p:spPr>
          <a:xfrm>
            <a:off x="8178800" y="3975100"/>
            <a:ext cx="3556000" cy="177800"/>
          </a:xfrm>
          <a:prstGeom prst="rect">
            <a:avLst/>
          </a:prstGeom>
          <a:noFill/>
          <a:ln/>
        </p:spPr>
        <p:txBody>
          <a:bodyPr wrap="square" lIns="0" tIns="0" rIns="0" bIns="0" rtlCol="0" anchor="t"/>
          <a:lstStyle/>
          <a:p>
            <a:pPr indent="0" marL="0">
              <a:buNone/>
            </a:pPr>
            <a:r>
              <a:rPr lang="en-US" sz="850" b="1" dirty="0">
                <a:solidFill>
                  <a:srgbClr val="2E8B57"/>
                </a:solidFill>
                <a:latin typeface="Segoe UI" pitchFamily="34" charset="0"/>
                <a:ea typeface="Segoe UI" pitchFamily="34" charset="-122"/>
                <a:cs typeface="Segoe UI" pitchFamily="34" charset="-120"/>
              </a:rPr>
              <a:t>8 B (64 bits)</a:t>
            </a:r>
            <a:pPr indent="0" marL="0">
              <a:buNone/>
            </a:pPr>
            <a:r>
              <a:rPr lang="en-US" sz="850" dirty="0">
                <a:solidFill>
                  <a:srgbClr val="2E8B57"/>
                </a:solidFill>
                <a:latin typeface="Segoe UI" pitchFamily="34" charset="0"/>
                <a:ea typeface="Segoe UI" pitchFamily="34" charset="-122"/>
                <a:cs typeface="Segoe UI" pitchFamily="34" charset="-120"/>
              </a:rPr>
              <a:t> · was 16 B (128 bits) · −8 B (64 bits) · </a:t>
            </a:r>
            <a:pPr indent="0" marL="0">
              <a:buNone/>
            </a:pPr>
            <a:r>
              <a:rPr lang="en-US" sz="850" b="1" dirty="0">
                <a:solidFill>
                  <a:srgbClr val="2E8B57"/>
                </a:solidFill>
                <a:latin typeface="Segoe UI" pitchFamily="34" charset="0"/>
                <a:ea typeface="Segoe UI" pitchFamily="34" charset="-122"/>
                <a:cs typeface="Segoe UI" pitchFamily="34" charset="-120"/>
              </a:rPr>
              <a:t>header 100%</a:t>
            </a:r>
            <a:endParaRPr lang="en-US" sz="850" dirty="0"/>
          </a:p>
        </p:txBody>
      </p:sp>
      <p:sp>
        <p:nvSpPr>
          <p:cNvPr id="28" name="Text 25"/>
          <p:cNvSpPr txBox="1"/>
          <p:nvPr/>
        </p:nvSpPr>
        <p:spPr>
          <a:xfrm>
            <a:off x="457200" y="42926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Box { long v; }</a:t>
            </a:r>
            <a:endParaRPr lang="en-US" sz="900" dirty="0"/>
          </a:p>
        </p:txBody>
      </p:sp>
      <p:sp>
        <p:nvSpPr>
          <p:cNvPr id="29" name="Text 26"/>
          <p:cNvSpPr/>
          <p:nvPr/>
        </p:nvSpPr>
        <p:spPr>
          <a:xfrm>
            <a:off x="2540000" y="4254500"/>
            <a:ext cx="18288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header</a:t>
            </a:r>
            <a:endParaRPr lang="en-US" sz="800" dirty="0"/>
          </a:p>
        </p:txBody>
      </p:sp>
      <p:sp>
        <p:nvSpPr>
          <p:cNvPr id="30" name="Text 27"/>
          <p:cNvSpPr/>
          <p:nvPr/>
        </p:nvSpPr>
        <p:spPr>
          <a:xfrm>
            <a:off x="4368800" y="4254500"/>
            <a:ext cx="18288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long</a:t>
            </a:r>
            <a:endParaRPr lang="en-US" sz="800" dirty="0"/>
          </a:p>
        </p:txBody>
      </p:sp>
      <p:sp>
        <p:nvSpPr>
          <p:cNvPr id="31" name="Shape 28"/>
          <p:cNvSpPr/>
          <p:nvPr/>
        </p:nvSpPr>
        <p:spPr>
          <a:xfrm>
            <a:off x="6197600" y="4254500"/>
            <a:ext cx="1828800" cy="228600"/>
          </a:xfrm>
          <a:prstGeom prst="rect">
            <a:avLst/>
          </a:prstGeom>
          <a:solidFill>
            <a:srgbClr val="FFFFFF"/>
          </a:solidFill>
          <a:ln w="12700">
            <a:solidFill>
              <a:srgbClr val="C9CED8"/>
            </a:solidFill>
            <a:prstDash val="dash"/>
          </a:ln>
        </p:spPr>
      </p:sp>
      <p:sp>
        <p:nvSpPr>
          <p:cNvPr id="32" name="Text 29"/>
          <p:cNvSpPr txBox="1"/>
          <p:nvPr/>
        </p:nvSpPr>
        <p:spPr>
          <a:xfrm>
            <a:off x="8178800" y="4292600"/>
            <a:ext cx="3556000" cy="177800"/>
          </a:xfrm>
          <a:prstGeom prst="rect">
            <a:avLst/>
          </a:prstGeom>
          <a:noFill/>
          <a:ln/>
        </p:spPr>
        <p:txBody>
          <a:bodyPr wrap="square" lIns="0" tIns="0" rIns="0" bIns="0" rtlCol="0" anchor="t"/>
          <a:lstStyle/>
          <a:p>
            <a:pPr indent="0" marL="0">
              <a:buNone/>
            </a:pPr>
            <a:r>
              <a:rPr lang="en-US" sz="850" b="1" dirty="0">
                <a:solidFill>
                  <a:srgbClr val="2E8B57"/>
                </a:solidFill>
                <a:latin typeface="Segoe UI" pitchFamily="34" charset="0"/>
                <a:ea typeface="Segoe UI" pitchFamily="34" charset="-122"/>
                <a:cs typeface="Segoe UI" pitchFamily="34" charset="-120"/>
              </a:rPr>
              <a:t>16 B (128 bits)</a:t>
            </a:r>
            <a:pPr indent="0" marL="0">
              <a:buNone/>
            </a:pPr>
            <a:r>
              <a:rPr lang="en-US" sz="850" dirty="0">
                <a:solidFill>
                  <a:srgbClr val="2E8B57"/>
                </a:solidFill>
                <a:latin typeface="Segoe UI" pitchFamily="34" charset="0"/>
                <a:ea typeface="Segoe UI" pitchFamily="34" charset="-122"/>
                <a:cs typeface="Segoe UI" pitchFamily="34" charset="-120"/>
              </a:rPr>
              <a:t> · was 24 B (192 bits) · −8 B (64 bits) · </a:t>
            </a:r>
            <a:pPr indent="0" marL="0">
              <a:buNone/>
            </a:pPr>
            <a:r>
              <a:rPr lang="en-US" sz="850" b="1" dirty="0">
                <a:solidFill>
                  <a:srgbClr val="2E8B57"/>
                </a:solidFill>
                <a:latin typeface="Segoe UI" pitchFamily="34" charset="0"/>
                <a:ea typeface="Segoe UI" pitchFamily="34" charset="-122"/>
                <a:cs typeface="Segoe UI" pitchFamily="34" charset="-120"/>
              </a:rPr>
              <a:t>header 50%</a:t>
            </a:r>
            <a:endParaRPr lang="en-US" sz="850" dirty="0"/>
          </a:p>
        </p:txBody>
      </p:sp>
      <p:sp>
        <p:nvSpPr>
          <p:cNvPr id="33" name="Text 30"/>
          <p:cNvSpPr txBox="1"/>
          <p:nvPr/>
        </p:nvSpPr>
        <p:spPr>
          <a:xfrm>
            <a:off x="457200" y="46101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Pair { int a, b; }</a:t>
            </a:r>
            <a:endParaRPr lang="en-US" sz="900" dirty="0"/>
          </a:p>
        </p:txBody>
      </p:sp>
      <p:sp>
        <p:nvSpPr>
          <p:cNvPr id="34" name="Text 31"/>
          <p:cNvSpPr/>
          <p:nvPr/>
        </p:nvSpPr>
        <p:spPr>
          <a:xfrm>
            <a:off x="2540000" y="4572000"/>
            <a:ext cx="18288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header</a:t>
            </a:r>
            <a:endParaRPr lang="en-US" sz="800" dirty="0"/>
          </a:p>
        </p:txBody>
      </p:sp>
      <p:sp>
        <p:nvSpPr>
          <p:cNvPr id="35" name="Text 32"/>
          <p:cNvSpPr/>
          <p:nvPr/>
        </p:nvSpPr>
        <p:spPr>
          <a:xfrm>
            <a:off x="4368800" y="4572000"/>
            <a:ext cx="9144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36" name="Text 33"/>
          <p:cNvSpPr/>
          <p:nvPr/>
        </p:nvSpPr>
        <p:spPr>
          <a:xfrm>
            <a:off x="5283200" y="4572000"/>
            <a:ext cx="9144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37" name="Shape 34"/>
          <p:cNvSpPr/>
          <p:nvPr/>
        </p:nvSpPr>
        <p:spPr>
          <a:xfrm>
            <a:off x="6197600" y="4572000"/>
            <a:ext cx="1828800" cy="228600"/>
          </a:xfrm>
          <a:prstGeom prst="rect">
            <a:avLst/>
          </a:prstGeom>
          <a:solidFill>
            <a:srgbClr val="FFFFFF"/>
          </a:solidFill>
          <a:ln w="12700">
            <a:solidFill>
              <a:srgbClr val="C9CED8"/>
            </a:solidFill>
            <a:prstDash val="dash"/>
          </a:ln>
        </p:spPr>
      </p:sp>
      <p:sp>
        <p:nvSpPr>
          <p:cNvPr id="38" name="Text 35"/>
          <p:cNvSpPr txBox="1"/>
          <p:nvPr/>
        </p:nvSpPr>
        <p:spPr>
          <a:xfrm>
            <a:off x="8178800" y="4610100"/>
            <a:ext cx="3556000" cy="177800"/>
          </a:xfrm>
          <a:prstGeom prst="rect">
            <a:avLst/>
          </a:prstGeom>
          <a:noFill/>
          <a:ln/>
        </p:spPr>
        <p:txBody>
          <a:bodyPr wrap="square" lIns="0" tIns="0" rIns="0" bIns="0" rtlCol="0" anchor="t"/>
          <a:lstStyle/>
          <a:p>
            <a:pPr indent="0" marL="0">
              <a:buNone/>
            </a:pPr>
            <a:r>
              <a:rPr lang="en-US" sz="850" b="1" dirty="0">
                <a:solidFill>
                  <a:srgbClr val="2E8B57"/>
                </a:solidFill>
                <a:latin typeface="Segoe UI" pitchFamily="34" charset="0"/>
                <a:ea typeface="Segoe UI" pitchFamily="34" charset="-122"/>
                <a:cs typeface="Segoe UI" pitchFamily="34" charset="-120"/>
              </a:rPr>
              <a:t>16 B (128 bits)</a:t>
            </a:r>
            <a:pPr indent="0" marL="0">
              <a:buNone/>
            </a:pPr>
            <a:r>
              <a:rPr lang="en-US" sz="850" dirty="0">
                <a:solidFill>
                  <a:srgbClr val="2E8B57"/>
                </a:solidFill>
                <a:latin typeface="Segoe UI" pitchFamily="34" charset="0"/>
                <a:ea typeface="Segoe UI" pitchFamily="34" charset="-122"/>
                <a:cs typeface="Segoe UI" pitchFamily="34" charset="-120"/>
              </a:rPr>
              <a:t> · was 24 B (192 bits) · −8 B (64 bits) · </a:t>
            </a:r>
            <a:pPr indent="0" marL="0">
              <a:buNone/>
            </a:pPr>
            <a:r>
              <a:rPr lang="en-US" sz="850" b="1" dirty="0">
                <a:solidFill>
                  <a:srgbClr val="2E8B57"/>
                </a:solidFill>
                <a:latin typeface="Segoe UI" pitchFamily="34" charset="0"/>
                <a:ea typeface="Segoe UI" pitchFamily="34" charset="-122"/>
                <a:cs typeface="Segoe UI" pitchFamily="34" charset="-120"/>
              </a:rPr>
              <a:t>header 50%</a:t>
            </a:r>
            <a:endParaRPr lang="en-US" sz="850" dirty="0"/>
          </a:p>
        </p:txBody>
      </p:sp>
      <p:sp>
        <p:nvSpPr>
          <p:cNvPr id="39" name="Text 36"/>
          <p:cNvSpPr txBox="1"/>
          <p:nvPr/>
        </p:nvSpPr>
        <p:spPr>
          <a:xfrm>
            <a:off x="457200" y="4927600"/>
            <a:ext cx="2032000" cy="1778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class Box { int v; }</a:t>
            </a:r>
            <a:endParaRPr lang="en-US" sz="900" dirty="0"/>
          </a:p>
        </p:txBody>
      </p:sp>
      <p:sp>
        <p:nvSpPr>
          <p:cNvPr id="40" name="Text 37"/>
          <p:cNvSpPr/>
          <p:nvPr/>
        </p:nvSpPr>
        <p:spPr>
          <a:xfrm>
            <a:off x="2540000" y="4889500"/>
            <a:ext cx="1828800" cy="228600"/>
          </a:xfrm>
          <a:prstGeom prst="rect">
            <a:avLst/>
          </a:prstGeom>
          <a:solidFill>
            <a:srgbClr val="E76F00"/>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header</a:t>
            </a:r>
            <a:endParaRPr lang="en-US" sz="800" dirty="0"/>
          </a:p>
        </p:txBody>
      </p:sp>
      <p:sp>
        <p:nvSpPr>
          <p:cNvPr id="41" name="Text 38"/>
          <p:cNvSpPr/>
          <p:nvPr/>
        </p:nvSpPr>
        <p:spPr>
          <a:xfrm>
            <a:off x="4368800" y="4889500"/>
            <a:ext cx="914400" cy="228600"/>
          </a:xfrm>
          <a:prstGeom prst="rect">
            <a:avLst/>
          </a:prstGeom>
          <a:solidFill>
            <a:srgbClr val="2E8B57"/>
          </a:solidFill>
          <a:ln w="12700">
            <a:solidFill>
              <a:srgbClr val="FFFFFF"/>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int</a:t>
            </a:r>
            <a:endParaRPr lang="en-US" sz="800" dirty="0"/>
          </a:p>
        </p:txBody>
      </p:sp>
      <p:sp>
        <p:nvSpPr>
          <p:cNvPr id="42" name="Text 39"/>
          <p:cNvSpPr/>
          <p:nvPr/>
        </p:nvSpPr>
        <p:spPr>
          <a:xfrm>
            <a:off x="5283200" y="4889500"/>
            <a:ext cx="914400" cy="228600"/>
          </a:xfrm>
          <a:prstGeom prst="rect">
            <a:avLst/>
          </a:prstGeom>
          <a:solidFill>
            <a:srgbClr val="C9CED8"/>
          </a:solidFill>
          <a:ln w="12700">
            <a:solidFill>
              <a:srgbClr val="FFFFFF"/>
            </a:solidFill>
          </a:ln>
        </p:spPr>
        <p:txBody>
          <a:bodyPr wrap="square" lIns="0" tIns="0" rIns="0" bIns="0" rtlCol="0" anchor="ctr"/>
          <a:lstStyle/>
          <a:p>
            <a:pPr algn="ctr" indent="0" marL="0">
              <a:buNone/>
            </a:pPr>
            <a:r>
              <a:rPr lang="en-US" sz="800" b="1" dirty="0">
                <a:solidFill>
                  <a:srgbClr val="5B6475"/>
                </a:solidFill>
                <a:latin typeface="Segoe UI" pitchFamily="34" charset="0"/>
                <a:ea typeface="Segoe UI" pitchFamily="34" charset="-122"/>
                <a:cs typeface="Segoe UI" pitchFamily="34" charset="-120"/>
              </a:rPr>
              <a:t>pad</a:t>
            </a:r>
            <a:endParaRPr lang="en-US" sz="800" dirty="0"/>
          </a:p>
        </p:txBody>
      </p:sp>
      <p:sp>
        <p:nvSpPr>
          <p:cNvPr id="43" name="Text 40"/>
          <p:cNvSpPr txBox="1"/>
          <p:nvPr/>
        </p:nvSpPr>
        <p:spPr>
          <a:xfrm>
            <a:off x="8178800" y="4927600"/>
            <a:ext cx="3556000" cy="177800"/>
          </a:xfrm>
          <a:prstGeom prst="rect">
            <a:avLst/>
          </a:prstGeom>
          <a:noFill/>
          <a:ln/>
        </p:spPr>
        <p:txBody>
          <a:bodyPr wrap="square" lIns="0" tIns="0" rIns="0" bIns="0" rtlCol="0" anchor="t"/>
          <a:lstStyle/>
          <a:p>
            <a:pPr indent="0" marL="0">
              <a:buNone/>
            </a:pPr>
            <a:r>
              <a:rPr lang="en-US" sz="850" b="1" dirty="0">
                <a:solidFill>
                  <a:srgbClr val="5B6475"/>
                </a:solidFill>
                <a:latin typeface="Segoe UI" pitchFamily="34" charset="0"/>
                <a:ea typeface="Segoe UI" pitchFamily="34" charset="-122"/>
                <a:cs typeface="Segoe UI" pitchFamily="34" charset="-120"/>
              </a:rPr>
              <a:t>16 B (128 bits)</a:t>
            </a:r>
            <a:pPr indent="0" marL="0">
              <a:buNone/>
            </a:pPr>
            <a:r>
              <a:rPr lang="en-US" sz="850" dirty="0">
                <a:solidFill>
                  <a:srgbClr val="5B6475"/>
                </a:solidFill>
                <a:latin typeface="Segoe UI" pitchFamily="34" charset="0"/>
                <a:ea typeface="Segoe UI" pitchFamily="34" charset="-122"/>
                <a:cs typeface="Segoe UI" pitchFamily="34" charset="-120"/>
              </a:rPr>
              <a:t> · was 16 B (128 bits), no change · </a:t>
            </a:r>
            <a:pPr indent="0" marL="0">
              <a:buNone/>
            </a:pPr>
            <a:r>
              <a:rPr lang="en-US" sz="850" b="1" dirty="0">
                <a:solidFill>
                  <a:srgbClr val="5B6475"/>
                </a:solidFill>
                <a:latin typeface="Segoe UI" pitchFamily="34" charset="0"/>
                <a:ea typeface="Segoe UI" pitchFamily="34" charset="-122"/>
                <a:cs typeface="Segoe UI" pitchFamily="34" charset="-120"/>
              </a:rPr>
              <a:t>header 50%</a:t>
            </a:r>
            <a:endParaRPr lang="en-US" sz="850" dirty="0"/>
          </a:p>
        </p:txBody>
      </p:sp>
      <p:sp>
        <p:nvSpPr>
          <p:cNvPr id="44" name="Text 41"/>
          <p:cNvSpPr txBox="1"/>
          <p:nvPr/>
        </p:nvSpPr>
        <p:spPr>
          <a:xfrm>
            <a:off x="457200" y="5207000"/>
            <a:ext cx="8890000" cy="152400"/>
          </a:xfrm>
          <a:prstGeom prst="rect">
            <a:avLst/>
          </a:prstGeom>
          <a:noFill/>
          <a:ln/>
        </p:spPr>
        <p:txBody>
          <a:bodyPr wrap="square" lIns="0" tIns="0" rIns="0" bIns="0" rtlCol="0" anchor="t"/>
          <a:lstStyle/>
          <a:p>
            <a:pPr indent="0" marL="0">
              <a:buNone/>
            </a:pPr>
            <a:r>
              <a:rPr lang="en-US" sz="800" dirty="0">
                <a:solidFill>
                  <a:srgbClr val="5B6475"/>
                </a:solidFill>
                <a:latin typeface="Segoe UI" pitchFamily="34" charset="0"/>
                <a:ea typeface="Segoe UI" pitchFamily="34" charset="-122"/>
                <a:cs typeface="Segoe UI" pitchFamily="34" charset="-120"/>
              </a:rPr>
              <a:t>Dashed outline = space the object used before. Box { int v; } and Integer stay at 16 bytes (128 bits): the 4 bytes (32 bits) saved fall into alignment padding.</a:t>
            </a:r>
            <a:endParaRPr lang="en-US" sz="800" dirty="0"/>
          </a:p>
        </p:txBody>
      </p:sp>
      <p:sp>
        <p:nvSpPr>
          <p:cNvPr id="45" name="Shape 42"/>
          <p:cNvSpPr/>
          <p:nvPr/>
        </p:nvSpPr>
        <p:spPr>
          <a:xfrm>
            <a:off x="457200" y="5435600"/>
            <a:ext cx="11277600" cy="990600"/>
          </a:xfrm>
          <a:prstGeom prst="roundRect">
            <a:avLst>
              <a:gd name="adj" fmla="val 7692"/>
            </a:avLst>
          </a:prstGeom>
          <a:solidFill>
            <a:srgbClr val="E8F4EE"/>
          </a:solidFill>
          <a:ln/>
        </p:spPr>
      </p:sp>
      <p:sp>
        <p:nvSpPr>
          <p:cNvPr id="46" name="Text 43"/>
          <p:cNvSpPr txBox="1"/>
          <p:nvPr/>
        </p:nvSpPr>
        <p:spPr>
          <a:xfrm>
            <a:off x="660400" y="55245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WHAT IT BUYS</a:t>
            </a:r>
            <a:endParaRPr lang="en-US" sz="950" dirty="0"/>
          </a:p>
        </p:txBody>
      </p:sp>
      <p:sp>
        <p:nvSpPr>
          <p:cNvPr id="47" name="Text 44"/>
          <p:cNvSpPr txBox="1"/>
          <p:nvPr/>
        </p:nvSpPr>
        <p:spPr>
          <a:xfrm>
            <a:off x="660400" y="5727700"/>
            <a:ext cx="10871200" cy="3810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In JEP 519's SPECjbb2015 run: </a:t>
            </a:r>
            <a:pPr indent="0" marL="0">
              <a:buNone/>
            </a:pPr>
            <a:r>
              <a:rPr lang="en-US" sz="1000" b="1" dirty="0">
                <a:solidFill>
                  <a:srgbClr val="1F2430"/>
                </a:solidFill>
                <a:latin typeface="Segoe UI" pitchFamily="34" charset="0"/>
                <a:ea typeface="Segoe UI" pitchFamily="34" charset="-122"/>
                <a:cs typeface="Segoe UI" pitchFamily="34" charset="-120"/>
              </a:rPr>
              <a:t>22% less heap</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b="1" dirty="0">
                <a:solidFill>
                  <a:srgbClr val="1F2430"/>
                </a:solidFill>
                <a:latin typeface="Segoe UI" pitchFamily="34" charset="0"/>
                <a:ea typeface="Segoe UI" pitchFamily="34" charset="-122"/>
                <a:cs typeface="Segoe UI" pitchFamily="34" charset="-120"/>
              </a:rPr>
              <a:t>8% less CPU time</a:t>
            </a:r>
            <a:pPr indent="0" marL="0">
              <a:buNone/>
            </a:pPr>
            <a:r>
              <a:rPr lang="en-US" sz="1000" dirty="0">
                <a:solidFill>
                  <a:srgbClr val="1F2430"/>
                </a:solidFill>
                <a:latin typeface="Segoe UI" pitchFamily="34" charset="0"/>
                <a:ea typeface="Segoe UI" pitchFamily="34" charset="-122"/>
                <a:cs typeface="Segoe UI" pitchFamily="34" charset="-120"/>
              </a:rPr>
              <a:t> and </a:t>
            </a:r>
            <a:pPr indent="0" marL="0">
              <a:buNone/>
            </a:pPr>
            <a:r>
              <a:rPr lang="en-US" sz="1000" b="1" dirty="0">
                <a:solidFill>
                  <a:srgbClr val="1F2430"/>
                </a:solidFill>
                <a:latin typeface="Segoe UI" pitchFamily="34" charset="0"/>
                <a:ea typeface="Segoe UI" pitchFamily="34" charset="-122"/>
                <a:cs typeface="Segoe UI" pitchFamily="34" charset="-120"/>
              </a:rPr>
              <a:t>15% fewer GCs</a:t>
            </a:r>
            <a:pPr indent="0" marL="0">
              <a:buNone/>
            </a:pPr>
            <a:r>
              <a:rPr lang="en-US" sz="1000" dirty="0">
                <a:solidFill>
                  <a:srgbClr val="1F2430"/>
                </a:solidFill>
                <a:latin typeface="Segoe UI" pitchFamily="34" charset="0"/>
                <a:ea typeface="Segoe UI" pitchFamily="34" charset="-122"/>
                <a:cs typeface="Segoe UI" pitchFamily="34" charset="-120"/>
              </a:rPr>
              <a:t>. Gains are largest for small objects; an object only shrinks when the 4 bytes (32 bits) saved cross an 8-byte (64-bit) boundary.</a:t>
            </a:r>
            <a:endParaRPr lang="en-US" sz="1000" dirty="0"/>
          </a:p>
        </p:txBody>
      </p:sp>
      <p:sp>
        <p:nvSpPr>
          <p:cNvPr id="48" name="Text 45"/>
          <p:cNvSpPr txBox="1"/>
          <p:nvPr/>
        </p:nvSpPr>
        <p:spPr>
          <a:xfrm>
            <a:off x="660400" y="6146800"/>
            <a:ext cx="10871200" cy="2032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Turning it on:</a:t>
            </a:r>
            <a:pPr indent="0" marL="0">
              <a:buNone/>
            </a:pPr>
            <a:r>
              <a:rPr lang="en-US" sz="1000" dirty="0">
                <a:solidFill>
                  <a:srgbClr val="1F2430"/>
                </a:solidFill>
                <a:latin typeface="Segoe UI" pitchFamily="34" charset="0"/>
                <a:ea typeface="Segoe UI" pitchFamily="34" charset="-122"/>
                <a:cs typeface="Segoe UI" pitchFamily="34" charset="-120"/>
              </a:rPr>
              <a:t> in Java 25 add </a:t>
            </a:r>
            <a:pPr indent="0" marL="0">
              <a:buNone/>
            </a:pPr>
            <a:r>
              <a:rPr lang="en-US" sz="1000" dirty="0">
                <a:solidFill>
                  <a:srgbClr val="1F2430"/>
                </a:solidFill>
                <a:latin typeface="Consolas" pitchFamily="34" charset="0"/>
                <a:ea typeface="Consolas" pitchFamily="34" charset="-122"/>
                <a:cs typeface="Consolas" pitchFamily="34" charset="-120"/>
              </a:rPr>
              <a:t>‑XX:+UseCompactObjectHeaders</a:t>
            </a:r>
            <a:pPr indent="0" marL="0">
              <a:buNone/>
            </a:pPr>
            <a:r>
              <a:rPr lang="en-US" sz="1000" dirty="0">
                <a:solidFill>
                  <a:srgbClr val="1F2430"/>
                </a:solidFill>
                <a:latin typeface="Segoe UI" pitchFamily="34" charset="0"/>
                <a:ea typeface="Segoe UI" pitchFamily="34" charset="-122"/>
                <a:cs typeface="Segoe UI" pitchFamily="34" charset="-120"/>
              </a:rPr>
              <a:t>. From </a:t>
            </a:r>
            <a:pPr indent="0" marL="0">
              <a:buNone/>
            </a:pPr>
            <a:r>
              <a:rPr lang="en-US" sz="1000" b="1" dirty="0">
                <a:solidFill>
                  <a:srgbClr val="1F2430"/>
                </a:solidFill>
                <a:latin typeface="Segoe UI" pitchFamily="34" charset="0"/>
                <a:ea typeface="Segoe UI" pitchFamily="34" charset="-122"/>
                <a:cs typeface="Segoe UI" pitchFamily="34" charset="-120"/>
              </a:rPr>
              <a:t>Java 27</a:t>
            </a:r>
            <a:pPr indent="0" marL="0">
              <a:buNone/>
            </a:pPr>
            <a:r>
              <a:rPr lang="en-US" sz="1000" dirty="0">
                <a:solidFill>
                  <a:srgbClr val="1F2430"/>
                </a:solidFill>
                <a:latin typeface="Segoe UI" pitchFamily="34" charset="0"/>
                <a:ea typeface="Segoe UI" pitchFamily="34" charset="-122"/>
                <a:cs typeface="Segoe UI" pitchFamily="34" charset="-120"/>
              </a:rPr>
              <a:t> it is </a:t>
            </a:r>
            <a:pPr indent="0" marL="0">
              <a:buNone/>
            </a:pPr>
            <a:r>
              <a:rPr lang="en-US" sz="1000" b="1" dirty="0">
                <a:solidFill>
                  <a:srgbClr val="1F2430"/>
                </a:solidFill>
                <a:latin typeface="Segoe UI" pitchFamily="34" charset="0"/>
                <a:ea typeface="Segoe UI" pitchFamily="34" charset="-122"/>
                <a:cs typeface="Segoe UI" pitchFamily="34" charset="-120"/>
              </a:rPr>
              <a:t>on by default</a:t>
            </a:r>
            <a:pPr indent="0" marL="0">
              <a:buNone/>
            </a:pPr>
            <a:r>
              <a:rPr lang="en-US" sz="1000" dirty="0">
                <a:solidFill>
                  <a:srgbClr val="1F2430"/>
                </a:solidFill>
                <a:latin typeface="Segoe UI" pitchFamily="34" charset="0"/>
                <a:ea typeface="Segoe UI" pitchFamily="34" charset="-122"/>
                <a:cs typeface="Segoe UI" pitchFamily="34" charset="-120"/>
              </a:rPr>
              <a:t> (JEP 534); opt out with </a:t>
            </a:r>
            <a:pPr indent="0" marL="0">
              <a:buNone/>
            </a:pPr>
            <a:r>
              <a:rPr lang="en-US" sz="1000" dirty="0">
                <a:solidFill>
                  <a:srgbClr val="1F2430"/>
                </a:solidFill>
                <a:latin typeface="Consolas" pitchFamily="34" charset="0"/>
                <a:ea typeface="Consolas" pitchFamily="34" charset="-122"/>
                <a:cs typeface="Consolas" pitchFamily="34" charset="-120"/>
              </a:rPr>
              <a:t>‑XX:‑UseCompactObjectHeaders</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C# structs: values without a header</a:t>
            </a:r>
            <a:endParaRPr lang="en-US" sz="2400" dirty="0"/>
          </a:p>
        </p:txBody>
      </p:sp>
      <p:sp>
        <p:nvSpPr>
          <p:cNvPr id="3" name="Text 1"/>
          <p:cNvSpPr/>
          <p:nvPr/>
        </p:nvSpPr>
        <p:spPr>
          <a:xfrm>
            <a:off x="8905240" y="381000"/>
            <a:ext cx="282956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VALUE TYPES · MEASURED ON .NET 9</a:t>
            </a:r>
            <a:endParaRPr lang="en-US" sz="1000" dirty="0"/>
          </a:p>
        </p:txBody>
      </p:sp>
      <p:sp>
        <p:nvSpPr>
          <p:cNvPr id="4" name="Text 2"/>
          <p:cNvSpPr txBox="1"/>
          <p:nvPr/>
        </p:nvSpPr>
        <p:spPr>
          <a:xfrm>
            <a:off x="457200" y="812800"/>
            <a:ext cx="8636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 </a:t>
            </a:r>
            <a:pPr indent="0" marL="0">
              <a:buNone/>
            </a:pPr>
            <a:r>
              <a:rPr lang="en-US" sz="1200" b="1" dirty="0">
                <a:solidFill>
                  <a:srgbClr val="5B6475"/>
                </a:solidFill>
                <a:latin typeface="Segoe UI" pitchFamily="34" charset="0"/>
                <a:ea typeface="Segoe UI" pitchFamily="34" charset="-122"/>
                <a:cs typeface="Segoe UI" pitchFamily="34" charset="-120"/>
              </a:rPr>
              <a:t>struct</a:t>
            </a:r>
            <a:pPr indent="0" marL="0">
              <a:buNone/>
            </a:pPr>
            <a:r>
              <a:rPr lang="en-US" sz="1200" dirty="0">
                <a:solidFill>
                  <a:srgbClr val="5B6475"/>
                </a:solidFill>
                <a:latin typeface="Segoe UI" pitchFamily="34" charset="0"/>
                <a:ea typeface="Segoe UI" pitchFamily="34" charset="-122"/>
                <a:cs typeface="Segoe UI" pitchFamily="34" charset="-120"/>
              </a:rPr>
              <a:t> is a value type: its fields are stored inline in a local, an array or another object, with no header, no pointer and no separate GC allocation.</a:t>
            </a:r>
            <a:endParaRPr lang="en-US" sz="1200" dirty="0"/>
          </a:p>
        </p:txBody>
      </p:sp>
      <p:sp>
        <p:nvSpPr>
          <p:cNvPr id="5" name="Text 3"/>
          <p:cNvSpPr txBox="1"/>
          <p:nvPr/>
        </p:nvSpPr>
        <p:spPr>
          <a:xfrm>
            <a:off x="457200" y="1397000"/>
            <a:ext cx="50800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WHAT A STRUCT IS</a:t>
            </a:r>
            <a:endParaRPr lang="en-US" sz="950" dirty="0"/>
          </a:p>
        </p:txBody>
      </p:sp>
      <p:sp>
        <p:nvSpPr>
          <p:cNvPr id="6" name="bullets-7A4FB5-struct"/>
          <p:cNvSpPr txBox="1"/>
          <p:nvPr/>
        </p:nvSpPr>
        <p:spPr>
          <a:xfrm>
            <a:off x="457200" y="1651000"/>
            <a:ext cx="5080000" cy="2159000"/>
          </a:xfrm>
          <a:prstGeom prst="rect">
            <a:avLst/>
          </a:prstGeom>
          <a:noFill/>
          <a:ln/>
        </p:spPr>
        <p:txBody>
          <a:bodyPr wrap="square" lIns="0" tIns="0" rIns="0" bIns="0" rtlCol="0" anchor="t"/>
          <a:lstStyle/>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Declared with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struct</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copied by value on assignment and when passed as an argument.</a:t>
            </a:r>
            <a:endParaRPr lang="en-US" sz="1000" dirty="0"/>
          </a:p>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Lives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inline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in the stack frame for locals, packed back-to-back in arrays, embedded in the fields of its container.</a:t>
            </a:r>
            <a:endParaRPr lang="en-US" sz="1000" dirty="0"/>
          </a:p>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No object header or method-table pointer, and no identity: no reference equality, no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lock</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never null (unless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T?</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a:t>
            </a:r>
            <a:endParaRPr lang="en-US" sz="1000" dirty="0"/>
          </a:p>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Generics are specialized for structs: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List&lt;Point&gt;</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stores raw values with no boxing.</a:t>
            </a:r>
            <a:endParaRPr lang="en-US" sz="1000" dirty="0"/>
          </a:p>
        </p:txBody>
      </p:sp>
      <p:sp>
        <p:nvSpPr>
          <p:cNvPr id="7" name="Text 5"/>
          <p:cNvSpPr txBox="1"/>
          <p:nvPr/>
        </p:nvSpPr>
        <p:spPr>
          <a:xfrm>
            <a:off x="5842000" y="1397000"/>
            <a:ext cx="50800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MEMORY LAYOUT OF FOUR POINTS</a:t>
            </a:r>
            <a:endParaRPr lang="en-US" sz="950" dirty="0"/>
          </a:p>
        </p:txBody>
      </p:sp>
      <p:sp>
        <p:nvSpPr>
          <p:cNvPr id="8" name="Text 6"/>
          <p:cNvSpPr txBox="1"/>
          <p:nvPr/>
        </p:nvSpPr>
        <p:spPr>
          <a:xfrm>
            <a:off x="5842000" y="1625600"/>
            <a:ext cx="3810000" cy="152400"/>
          </a:xfrm>
          <a:prstGeom prst="rect">
            <a:avLst/>
          </a:prstGeom>
          <a:noFill/>
          <a:ln/>
        </p:spPr>
        <p:txBody>
          <a:bodyPr wrap="square" lIns="0" tIns="0" rIns="0" bIns="0" rtlCol="0" anchor="t"/>
          <a:lstStyle/>
          <a:p>
            <a:pPr indent="0" marL="0">
              <a:buNone/>
            </a:pPr>
            <a:r>
              <a:rPr lang="en-US" sz="850" dirty="0">
                <a:solidFill>
                  <a:srgbClr val="5B6475"/>
                </a:solidFill>
                <a:latin typeface="Consolas" pitchFamily="34" charset="0"/>
                <a:ea typeface="Consolas" pitchFamily="34" charset="-122"/>
                <a:cs typeface="Consolas" pitchFamily="34" charset="-120"/>
              </a:rPr>
              <a:t>class Point</a:t>
            </a:r>
            <a:pPr indent="0" marL="0">
              <a:buNone/>
            </a:pPr>
            <a:r>
              <a:rPr lang="en-US" sz="850" dirty="0">
                <a:solidFill>
                  <a:srgbClr val="5B6475"/>
                </a:solidFill>
                <a:latin typeface="Segoe UI" pitchFamily="34" charset="0"/>
                <a:ea typeface="Segoe UI" pitchFamily="34" charset="-122"/>
                <a:cs typeface="Segoe UI" pitchFamily="34" charset="-120"/>
              </a:rPr>
              <a:t>  ·  </a:t>
            </a:r>
            <a:pPr indent="0" marL="0">
              <a:buNone/>
            </a:pPr>
            <a:r>
              <a:rPr lang="en-US" sz="850" dirty="0">
                <a:solidFill>
                  <a:srgbClr val="5B6475"/>
                </a:solidFill>
                <a:latin typeface="Consolas" pitchFamily="34" charset="0"/>
                <a:ea typeface="Consolas" pitchFamily="34" charset="-122"/>
                <a:cs typeface="Consolas" pitchFamily="34" charset="-120"/>
              </a:rPr>
              <a:t>Point[]</a:t>
            </a:r>
            <a:pPr indent="0" marL="0">
              <a:buNone/>
            </a:pPr>
            <a:r>
              <a:rPr lang="en-US" sz="850" dirty="0">
                <a:solidFill>
                  <a:srgbClr val="5B6475"/>
                </a:solidFill>
                <a:latin typeface="Segoe UI" pitchFamily="34" charset="0"/>
                <a:ea typeface="Segoe UI" pitchFamily="34" charset="-122"/>
                <a:cs typeface="Segoe UI" pitchFamily="34" charset="-120"/>
              </a:rPr>
              <a:t> holds references</a:t>
            </a:r>
            <a:endParaRPr lang="en-US" sz="850" dirty="0"/>
          </a:p>
        </p:txBody>
      </p:sp>
      <p:sp>
        <p:nvSpPr>
          <p:cNvPr id="9" name="Text 7"/>
          <p:cNvSpPr/>
          <p:nvPr/>
        </p:nvSpPr>
        <p:spPr>
          <a:xfrm>
            <a:off x="5842000" y="1828800"/>
            <a:ext cx="3048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hdr</a:t>
            </a:r>
            <a:endParaRPr lang="en-US" sz="700" dirty="0"/>
          </a:p>
        </p:txBody>
      </p:sp>
      <p:sp>
        <p:nvSpPr>
          <p:cNvPr id="10" name="Text 8"/>
          <p:cNvSpPr/>
          <p:nvPr/>
        </p:nvSpPr>
        <p:spPr>
          <a:xfrm>
            <a:off x="6146800" y="1828800"/>
            <a:ext cx="4064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 8</a:t>
            </a:r>
            <a:endParaRPr lang="en-US" sz="700" dirty="0"/>
          </a:p>
        </p:txBody>
      </p:sp>
      <p:sp>
        <p:nvSpPr>
          <p:cNvPr id="11" name="Text 9"/>
          <p:cNvSpPr/>
          <p:nvPr/>
        </p:nvSpPr>
        <p:spPr>
          <a:xfrm>
            <a:off x="6553200" y="1828800"/>
            <a:ext cx="4064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 8</a:t>
            </a:r>
            <a:endParaRPr lang="en-US" sz="700" dirty="0"/>
          </a:p>
        </p:txBody>
      </p:sp>
      <p:sp>
        <p:nvSpPr>
          <p:cNvPr id="12" name="Text 10"/>
          <p:cNvSpPr/>
          <p:nvPr/>
        </p:nvSpPr>
        <p:spPr>
          <a:xfrm>
            <a:off x="6959600" y="1828800"/>
            <a:ext cx="4064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 8</a:t>
            </a:r>
            <a:endParaRPr lang="en-US" sz="700" dirty="0"/>
          </a:p>
        </p:txBody>
      </p:sp>
      <p:sp>
        <p:nvSpPr>
          <p:cNvPr id="13" name="Text 11"/>
          <p:cNvSpPr/>
          <p:nvPr/>
        </p:nvSpPr>
        <p:spPr>
          <a:xfrm>
            <a:off x="7366000" y="1828800"/>
            <a:ext cx="4064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 8</a:t>
            </a:r>
            <a:endParaRPr lang="en-US" sz="700" dirty="0"/>
          </a:p>
        </p:txBody>
      </p:sp>
      <p:sp>
        <p:nvSpPr>
          <p:cNvPr id="14" name="Text 12"/>
          <p:cNvSpPr/>
          <p:nvPr/>
        </p:nvSpPr>
        <p:spPr>
          <a:xfrm>
            <a:off x="8940800" y="2438400"/>
            <a:ext cx="4064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15" name="Text 13"/>
          <p:cNvSpPr/>
          <p:nvPr/>
        </p:nvSpPr>
        <p:spPr>
          <a:xfrm>
            <a:off x="9347200" y="2438400"/>
            <a:ext cx="406400" cy="203200"/>
          </a:xfrm>
          <a:prstGeom prst="rect">
            <a:avLst/>
          </a:prstGeom>
          <a:solidFill>
            <a:srgbClr val="5B8CC6"/>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MT 8</a:t>
            </a:r>
            <a:endParaRPr lang="en-US" sz="700" dirty="0"/>
          </a:p>
        </p:txBody>
      </p:sp>
      <p:sp>
        <p:nvSpPr>
          <p:cNvPr id="16" name="Text 14"/>
          <p:cNvSpPr/>
          <p:nvPr/>
        </p:nvSpPr>
        <p:spPr>
          <a:xfrm>
            <a:off x="97536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17" name="Text 15"/>
          <p:cNvSpPr/>
          <p:nvPr/>
        </p:nvSpPr>
        <p:spPr>
          <a:xfrm>
            <a:off x="99568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18" name="Text 16"/>
          <p:cNvSpPr/>
          <p:nvPr/>
        </p:nvSpPr>
        <p:spPr>
          <a:xfrm>
            <a:off x="5842000" y="2438400"/>
            <a:ext cx="4064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19" name="Text 17"/>
          <p:cNvSpPr/>
          <p:nvPr/>
        </p:nvSpPr>
        <p:spPr>
          <a:xfrm>
            <a:off x="6248400" y="2438400"/>
            <a:ext cx="406400" cy="203200"/>
          </a:xfrm>
          <a:prstGeom prst="rect">
            <a:avLst/>
          </a:prstGeom>
          <a:solidFill>
            <a:srgbClr val="5B8CC6"/>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MT 8</a:t>
            </a:r>
            <a:endParaRPr lang="en-US" sz="700" dirty="0"/>
          </a:p>
        </p:txBody>
      </p:sp>
      <p:sp>
        <p:nvSpPr>
          <p:cNvPr id="20" name="Text 18"/>
          <p:cNvSpPr/>
          <p:nvPr/>
        </p:nvSpPr>
        <p:spPr>
          <a:xfrm>
            <a:off x="66548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21" name="Text 19"/>
          <p:cNvSpPr/>
          <p:nvPr/>
        </p:nvSpPr>
        <p:spPr>
          <a:xfrm>
            <a:off x="68580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22" name="Text 20"/>
          <p:cNvSpPr/>
          <p:nvPr/>
        </p:nvSpPr>
        <p:spPr>
          <a:xfrm>
            <a:off x="10490200" y="2438400"/>
            <a:ext cx="4064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23" name="Text 21"/>
          <p:cNvSpPr/>
          <p:nvPr/>
        </p:nvSpPr>
        <p:spPr>
          <a:xfrm>
            <a:off x="10896600" y="2438400"/>
            <a:ext cx="406400" cy="203200"/>
          </a:xfrm>
          <a:prstGeom prst="rect">
            <a:avLst/>
          </a:prstGeom>
          <a:solidFill>
            <a:srgbClr val="5B8CC6"/>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MT 8</a:t>
            </a:r>
            <a:endParaRPr lang="en-US" sz="700" dirty="0"/>
          </a:p>
        </p:txBody>
      </p:sp>
      <p:sp>
        <p:nvSpPr>
          <p:cNvPr id="24" name="Text 22"/>
          <p:cNvSpPr/>
          <p:nvPr/>
        </p:nvSpPr>
        <p:spPr>
          <a:xfrm>
            <a:off x="113030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25" name="Text 23"/>
          <p:cNvSpPr/>
          <p:nvPr/>
        </p:nvSpPr>
        <p:spPr>
          <a:xfrm>
            <a:off x="115062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26" name="Text 24"/>
          <p:cNvSpPr/>
          <p:nvPr/>
        </p:nvSpPr>
        <p:spPr>
          <a:xfrm>
            <a:off x="7391400" y="2438400"/>
            <a:ext cx="4064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27" name="Text 25"/>
          <p:cNvSpPr/>
          <p:nvPr/>
        </p:nvSpPr>
        <p:spPr>
          <a:xfrm>
            <a:off x="7797800" y="2438400"/>
            <a:ext cx="406400" cy="203200"/>
          </a:xfrm>
          <a:prstGeom prst="rect">
            <a:avLst/>
          </a:prstGeom>
          <a:solidFill>
            <a:srgbClr val="5B8CC6"/>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MT 8</a:t>
            </a:r>
            <a:endParaRPr lang="en-US" sz="700" dirty="0"/>
          </a:p>
        </p:txBody>
      </p:sp>
      <p:sp>
        <p:nvSpPr>
          <p:cNvPr id="28" name="Text 26"/>
          <p:cNvSpPr/>
          <p:nvPr/>
        </p:nvSpPr>
        <p:spPr>
          <a:xfrm>
            <a:off x="82042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29" name="Text 27"/>
          <p:cNvSpPr/>
          <p:nvPr/>
        </p:nvSpPr>
        <p:spPr>
          <a:xfrm>
            <a:off x="8407400" y="24384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30" name="Shape 28"/>
          <p:cNvSpPr/>
          <p:nvPr/>
        </p:nvSpPr>
        <p:spPr>
          <a:xfrm>
            <a:off x="6350000" y="2032000"/>
            <a:ext cx="3200400" cy="406400"/>
          </a:xfrm>
          <a:prstGeom prst="line">
            <a:avLst/>
          </a:prstGeom>
          <a:noFill/>
          <a:ln w="12700">
            <a:solidFill>
              <a:srgbClr val="5B6475"/>
            </a:solidFill>
            <a:prstDash val="solid"/>
            <a:tailEnd type="triangle"/>
          </a:ln>
        </p:spPr>
      </p:sp>
      <p:sp>
        <p:nvSpPr>
          <p:cNvPr id="31" name="Shape 29"/>
          <p:cNvSpPr/>
          <p:nvPr/>
        </p:nvSpPr>
        <p:spPr>
          <a:xfrm flipH="1">
            <a:off x="6451600" y="2032000"/>
            <a:ext cx="304800" cy="406400"/>
          </a:xfrm>
          <a:prstGeom prst="line">
            <a:avLst/>
          </a:prstGeom>
          <a:noFill/>
          <a:ln w="12700">
            <a:solidFill>
              <a:srgbClr val="5B6475"/>
            </a:solidFill>
            <a:prstDash val="solid"/>
            <a:tailEnd type="triangle"/>
          </a:ln>
        </p:spPr>
      </p:sp>
      <p:sp>
        <p:nvSpPr>
          <p:cNvPr id="32" name="Shape 30"/>
          <p:cNvSpPr/>
          <p:nvPr/>
        </p:nvSpPr>
        <p:spPr>
          <a:xfrm>
            <a:off x="7162800" y="2032000"/>
            <a:ext cx="3937000" cy="406400"/>
          </a:xfrm>
          <a:prstGeom prst="line">
            <a:avLst/>
          </a:prstGeom>
          <a:noFill/>
          <a:ln w="12700">
            <a:solidFill>
              <a:srgbClr val="5B6475"/>
            </a:solidFill>
            <a:prstDash val="solid"/>
            <a:tailEnd type="triangle"/>
          </a:ln>
        </p:spPr>
      </p:sp>
      <p:sp>
        <p:nvSpPr>
          <p:cNvPr id="33" name="Shape 31"/>
          <p:cNvSpPr/>
          <p:nvPr/>
        </p:nvSpPr>
        <p:spPr>
          <a:xfrm>
            <a:off x="7569200" y="2032000"/>
            <a:ext cx="431800" cy="406400"/>
          </a:xfrm>
          <a:prstGeom prst="line">
            <a:avLst/>
          </a:prstGeom>
          <a:noFill/>
          <a:ln w="12700">
            <a:solidFill>
              <a:srgbClr val="5B6475"/>
            </a:solidFill>
            <a:prstDash val="solid"/>
            <a:tailEnd type="triangle"/>
          </a:ln>
        </p:spPr>
      </p:sp>
      <p:sp>
        <p:nvSpPr>
          <p:cNvPr id="34" name="Text 32"/>
          <p:cNvSpPr txBox="1"/>
          <p:nvPr/>
        </p:nvSpPr>
        <p:spPr>
          <a:xfrm>
            <a:off x="7975600" y="1866900"/>
            <a:ext cx="2540000" cy="152400"/>
          </a:xfrm>
          <a:prstGeom prst="rect">
            <a:avLst/>
          </a:prstGeom>
          <a:noFill/>
          <a:ln/>
        </p:spPr>
        <p:txBody>
          <a:bodyPr wrap="square" lIns="0" tIns="0" rIns="0" bIns="0" rtlCol="0" anchor="t"/>
          <a:lstStyle/>
          <a:p>
            <a:pPr indent="0" marL="0">
              <a:buNone/>
            </a:pPr>
            <a:r>
              <a:rPr lang="en-US" sz="850" dirty="0">
                <a:solidFill>
                  <a:srgbClr val="1F2430"/>
                </a:solidFill>
                <a:latin typeface="Segoe UI" pitchFamily="34" charset="0"/>
                <a:ea typeface="Segoe UI" pitchFamily="34" charset="-122"/>
                <a:cs typeface="Segoe UI" pitchFamily="34" charset="-120"/>
              </a:rPr>
              <a:t>4 separate heap objects, </a:t>
            </a:r>
            <a:pPr indent="0" marL="0">
              <a:buNone/>
            </a:pPr>
            <a:r>
              <a:rPr lang="en-US" sz="850" b="1" dirty="0">
                <a:solidFill>
                  <a:srgbClr val="1F2430"/>
                </a:solidFill>
                <a:latin typeface="Segoe UI" pitchFamily="34" charset="0"/>
                <a:ea typeface="Segoe UI" pitchFamily="34" charset="-122"/>
                <a:cs typeface="Segoe UI" pitchFamily="34" charset="-120"/>
              </a:rPr>
              <a:t>24 B each</a:t>
            </a:r>
            <a:endParaRPr lang="en-US" sz="850" dirty="0"/>
          </a:p>
        </p:txBody>
      </p:sp>
      <p:sp>
        <p:nvSpPr>
          <p:cNvPr id="35" name="Text 33"/>
          <p:cNvSpPr txBox="1"/>
          <p:nvPr/>
        </p:nvSpPr>
        <p:spPr>
          <a:xfrm>
            <a:off x="5842000" y="2819400"/>
            <a:ext cx="3810000" cy="152400"/>
          </a:xfrm>
          <a:prstGeom prst="rect">
            <a:avLst/>
          </a:prstGeom>
          <a:noFill/>
          <a:ln/>
        </p:spPr>
        <p:txBody>
          <a:bodyPr wrap="square" lIns="0" tIns="0" rIns="0" bIns="0" rtlCol="0" anchor="t"/>
          <a:lstStyle/>
          <a:p>
            <a:pPr indent="0" marL="0">
              <a:buNone/>
            </a:pPr>
            <a:r>
              <a:rPr lang="en-US" sz="850" dirty="0">
                <a:solidFill>
                  <a:srgbClr val="5B6475"/>
                </a:solidFill>
                <a:latin typeface="Consolas" pitchFamily="34" charset="0"/>
                <a:ea typeface="Consolas" pitchFamily="34" charset="-122"/>
                <a:cs typeface="Consolas" pitchFamily="34" charset="-120"/>
              </a:rPr>
              <a:t>struct Point</a:t>
            </a:r>
            <a:pPr indent="0" marL="0">
              <a:buNone/>
            </a:pPr>
            <a:r>
              <a:rPr lang="en-US" sz="850" dirty="0">
                <a:solidFill>
                  <a:srgbClr val="5B6475"/>
                </a:solidFill>
                <a:latin typeface="Segoe UI" pitchFamily="34" charset="0"/>
                <a:ea typeface="Segoe UI" pitchFamily="34" charset="-122"/>
                <a:cs typeface="Segoe UI" pitchFamily="34" charset="-120"/>
              </a:rPr>
              <a:t>  ·  </a:t>
            </a:r>
            <a:pPr indent="0" marL="0">
              <a:buNone/>
            </a:pPr>
            <a:r>
              <a:rPr lang="en-US" sz="850" dirty="0">
                <a:solidFill>
                  <a:srgbClr val="5B6475"/>
                </a:solidFill>
                <a:latin typeface="Consolas" pitchFamily="34" charset="0"/>
                <a:ea typeface="Consolas" pitchFamily="34" charset="-122"/>
                <a:cs typeface="Consolas" pitchFamily="34" charset="-120"/>
              </a:rPr>
              <a:t>Point[]</a:t>
            </a:r>
            <a:pPr indent="0" marL="0">
              <a:buNone/>
            </a:pPr>
            <a:r>
              <a:rPr lang="en-US" sz="850" dirty="0">
                <a:solidFill>
                  <a:srgbClr val="5B6475"/>
                </a:solidFill>
                <a:latin typeface="Segoe UI" pitchFamily="34" charset="0"/>
                <a:ea typeface="Segoe UI" pitchFamily="34" charset="-122"/>
                <a:cs typeface="Segoe UI" pitchFamily="34" charset="-120"/>
              </a:rPr>
              <a:t> holds the values</a:t>
            </a:r>
            <a:endParaRPr lang="en-US" sz="850" dirty="0"/>
          </a:p>
        </p:txBody>
      </p:sp>
      <p:sp>
        <p:nvSpPr>
          <p:cNvPr id="36" name="Text 34"/>
          <p:cNvSpPr/>
          <p:nvPr/>
        </p:nvSpPr>
        <p:spPr>
          <a:xfrm>
            <a:off x="5842000" y="3022600"/>
            <a:ext cx="3048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hdr</a:t>
            </a:r>
            <a:endParaRPr lang="en-US" sz="700" dirty="0"/>
          </a:p>
        </p:txBody>
      </p:sp>
      <p:sp>
        <p:nvSpPr>
          <p:cNvPr id="37" name="Text 35"/>
          <p:cNvSpPr/>
          <p:nvPr/>
        </p:nvSpPr>
        <p:spPr>
          <a:xfrm>
            <a:off x="61468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38" name="Text 36"/>
          <p:cNvSpPr/>
          <p:nvPr/>
        </p:nvSpPr>
        <p:spPr>
          <a:xfrm>
            <a:off x="63500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39" name="Text 37"/>
          <p:cNvSpPr/>
          <p:nvPr/>
        </p:nvSpPr>
        <p:spPr>
          <a:xfrm>
            <a:off x="65532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0" name="Text 38"/>
          <p:cNvSpPr/>
          <p:nvPr/>
        </p:nvSpPr>
        <p:spPr>
          <a:xfrm>
            <a:off x="67564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1" name="Text 39"/>
          <p:cNvSpPr/>
          <p:nvPr/>
        </p:nvSpPr>
        <p:spPr>
          <a:xfrm>
            <a:off x="69596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2" name="Text 40"/>
          <p:cNvSpPr/>
          <p:nvPr/>
        </p:nvSpPr>
        <p:spPr>
          <a:xfrm>
            <a:off x="71628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3" name="Text 41"/>
          <p:cNvSpPr/>
          <p:nvPr/>
        </p:nvSpPr>
        <p:spPr>
          <a:xfrm>
            <a:off x="73660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4" name="Text 42"/>
          <p:cNvSpPr/>
          <p:nvPr/>
        </p:nvSpPr>
        <p:spPr>
          <a:xfrm>
            <a:off x="7569200" y="3022600"/>
            <a:ext cx="2032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5" name="Text 43"/>
          <p:cNvSpPr txBox="1"/>
          <p:nvPr/>
        </p:nvSpPr>
        <p:spPr>
          <a:xfrm>
            <a:off x="7975600" y="3060700"/>
            <a:ext cx="2540000" cy="152400"/>
          </a:xfrm>
          <a:prstGeom prst="rect">
            <a:avLst/>
          </a:prstGeom>
          <a:noFill/>
          <a:ln/>
        </p:spPr>
        <p:txBody>
          <a:bodyPr wrap="square" lIns="0" tIns="0" rIns="0" bIns="0" rtlCol="0" anchor="t"/>
          <a:lstStyle/>
          <a:p>
            <a:pPr indent="0" marL="0">
              <a:buNone/>
            </a:pPr>
            <a:r>
              <a:rPr lang="en-US" sz="850" dirty="0">
                <a:solidFill>
                  <a:srgbClr val="1F2430"/>
                </a:solidFill>
                <a:latin typeface="Segoe UI" pitchFamily="34" charset="0"/>
                <a:ea typeface="Segoe UI" pitchFamily="34" charset="-122"/>
                <a:cs typeface="Segoe UI" pitchFamily="34" charset="-120"/>
              </a:rPr>
              <a:t>one contiguous block, </a:t>
            </a:r>
            <a:pPr indent="0" marL="0">
              <a:buNone/>
            </a:pPr>
            <a:r>
              <a:rPr lang="en-US" sz="850" b="1" dirty="0">
                <a:solidFill>
                  <a:srgbClr val="1F2430"/>
                </a:solidFill>
                <a:latin typeface="Segoe UI" pitchFamily="34" charset="0"/>
                <a:ea typeface="Segoe UI" pitchFamily="34" charset="-122"/>
                <a:cs typeface="Segoe UI" pitchFamily="34" charset="-120"/>
              </a:rPr>
              <a:t>8 B per point</a:t>
            </a:r>
            <a:endParaRPr lang="en-US" sz="850" dirty="0"/>
          </a:p>
        </p:txBody>
      </p:sp>
      <p:sp>
        <p:nvSpPr>
          <p:cNvPr id="46" name="Text 44"/>
          <p:cNvSpPr txBox="1"/>
          <p:nvPr/>
        </p:nvSpPr>
        <p:spPr>
          <a:xfrm>
            <a:off x="5842000" y="3327400"/>
            <a:ext cx="5892800" cy="152400"/>
          </a:xfrm>
          <a:prstGeom prst="rect">
            <a:avLst/>
          </a:prstGeom>
          <a:noFill/>
          <a:ln/>
        </p:spPr>
        <p:txBody>
          <a:bodyPr wrap="square" lIns="0" tIns="0" rIns="0" bIns="0" rtlCol="0" anchor="t"/>
          <a:lstStyle/>
          <a:p>
            <a:pPr indent="0" marL="0">
              <a:buNone/>
            </a:pPr>
            <a:r>
              <a:rPr lang="en-US" sz="750" dirty="0">
                <a:solidFill>
                  <a:srgbClr val="5B6475"/>
                </a:solidFill>
                <a:latin typeface="Segoe UI" pitchFamily="34" charset="0"/>
                <a:ea typeface="Segoe UI" pitchFamily="34" charset="-122"/>
                <a:cs typeface="Segoe UI" pitchFamily="34" charset="-120"/>
              </a:rPr>
              <a:t>hdr = object header · MT = method-table pointer · drawn at 4 pt per byte</a:t>
            </a:r>
            <a:endParaRPr lang="en-US" sz="750" dirty="0"/>
          </a:p>
        </p:txBody>
      </p:sp>
      <p:sp>
        <p:nvSpPr>
          <p:cNvPr id="47" name="Text 45"/>
          <p:cNvSpPr txBox="1"/>
          <p:nvPr/>
        </p:nvSpPr>
        <p:spPr>
          <a:xfrm>
            <a:off x="457200" y="37846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ON .NET 9, X64: POINT { INT X, Y; }</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3987800"/>
          <a:ext cx="11277600" cy="914400"/>
        </p:xfrm>
        <a:graphic>
          <a:graphicData uri="http://schemas.openxmlformats.org/drawingml/2006/table">
            <a:tbl>
              <a:tblPr/>
              <a:tblGrid>
                <a:gridCol w="1905000"/>
                <a:gridCol w="5080000"/>
                <a:gridCol w="4292600"/>
              </a:tblGrid>
              <a:tr h="0">
                <a:tc>
                  <a:txBody>
                    <a:bodyPr/>
                    <a:lstStyle/>
                    <a:p>
                      <a:pPr indent="0" marL="0">
                        <a:buNone/>
                      </a:pP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7A4FB5"/>
                          </a:solidFill>
                          <a:latin typeface="Segoe UI" pitchFamily="34" charset="0"/>
                          <a:ea typeface="Segoe UI" pitchFamily="34" charset="-122"/>
                          <a:cs typeface="Segoe UI" pitchFamily="34" charset="-120"/>
                        </a:rPr>
                        <a:t>class Point</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struct Point</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Memory per point</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24 B</a:t>
                      </a:r>
                      <a:pPr indent="0" marL="0">
                        <a:buNone/>
                      </a:pPr>
                      <a:r>
                        <a:rPr lang="en-US" sz="950" dirty="0">
                          <a:solidFill>
                            <a:srgbClr val="1F2430"/>
                          </a:solidFill>
                          <a:latin typeface="Segoe UI" pitchFamily="34" charset="0"/>
                          <a:ea typeface="Segoe UI" pitchFamily="34" charset="-122"/>
                          <a:cs typeface="Segoe UI" pitchFamily="34" charset="-120"/>
                        </a:rPr>
                        <a:t> object (16 B header + 8 B data) + 8 B reference</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8 B</a:t>
                      </a:r>
                      <a:pPr indent="0" marL="0">
                        <a:buNone/>
                      </a:pPr>
                      <a:r>
                        <a:rPr lang="en-US" sz="950" dirty="0">
                          <a:solidFill>
                            <a:srgbClr val="2E8B57"/>
                          </a:solidFill>
                          <a:latin typeface="Segoe UI" pitchFamily="34" charset="0"/>
                          <a:ea typeface="Segoe UI" pitchFamily="34" charset="-122"/>
                          <a:cs typeface="Segoe UI" pitchFamily="34" charset="-120"/>
                        </a:rPr>
                        <a:t>: just X and Y</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Array of 1M points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32 MB</a:t>
                      </a:r>
                      <a:pPr indent="0" marL="0">
                        <a:buNone/>
                      </a:pPr>
                      <a:r>
                        <a:rPr lang="en-US" sz="950" dirty="0">
                          <a:solidFill>
                            <a:srgbClr val="1F2430"/>
                          </a:solidFill>
                          <a:latin typeface="Segoe UI" pitchFamily="34" charset="0"/>
                          <a:ea typeface="Segoe UI" pitchFamily="34" charset="-122"/>
                          <a:cs typeface="Segoe UI" pitchFamily="34" charset="-120"/>
                        </a:rPr>
                        <a:t> in 1,000,001 allocations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8 MB</a:t>
                      </a:r>
                      <a:pPr indent="0" marL="0">
                        <a:buNone/>
                      </a:pPr>
                      <a:r>
                        <a:rPr lang="en-US" sz="950" dirty="0">
                          <a:solidFill>
                            <a:srgbClr val="2E8B57"/>
                          </a:solidFill>
                          <a:latin typeface="Segoe UI" pitchFamily="34" charset="0"/>
                          <a:ea typeface="Segoe UI" pitchFamily="34" charset="-122"/>
                          <a:cs typeface="Segoe UI" pitchFamily="34" charset="-120"/>
                        </a:rPr>
                        <a:t> in 1 allocation</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Local variable</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24 B</a:t>
                      </a:r>
                      <a:pPr indent="0" marL="0">
                        <a:buNone/>
                      </a:pPr>
                      <a:r>
                        <a:rPr lang="en-US" sz="950" dirty="0">
                          <a:solidFill>
                            <a:srgbClr val="1F2430"/>
                          </a:solidFill>
                          <a:latin typeface="Segoe UI" pitchFamily="34" charset="0"/>
                          <a:ea typeface="Segoe UI" pitchFamily="34" charset="-122"/>
                          <a:cs typeface="Segoe UI" pitchFamily="34" charset="-120"/>
                        </a:rPr>
                        <a:t> heap allocation each time</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0 B</a:t>
                      </a:r>
                      <a:pPr indent="0" marL="0">
                        <a:buNone/>
                      </a:pPr>
                      <a:r>
                        <a:rPr lang="en-US" sz="950" dirty="0">
                          <a:solidFill>
                            <a:srgbClr val="2E8B57"/>
                          </a:solidFill>
                          <a:latin typeface="Segoe UI" pitchFamily="34" charset="0"/>
                          <a:ea typeface="Segoe UI" pitchFamily="34" charset="-122"/>
                          <a:cs typeface="Segoe UI" pitchFamily="34" charset="-120"/>
                        </a:rPr>
                        <a:t>: stack or registers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Sum 10M points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17 ms</a:t>
                      </a:r>
                      <a:pPr indent="0" marL="0">
                        <a:buNone/>
                      </a:pPr>
                      <a:r>
                        <a:rPr lang="en-US" sz="950" dirty="0">
                          <a:solidFill>
                            <a:srgbClr val="1F2430"/>
                          </a:solidFill>
                          <a:latin typeface="Segoe UI" pitchFamily="34" charset="0"/>
                          <a:ea typeface="Segoe UI" pitchFamily="34" charset="-122"/>
                          <a:cs typeface="Segoe UI" pitchFamily="34" charset="-120"/>
                        </a:rPr>
                        <a:t> in allocation order; </a:t>
                      </a:r>
                      <a:pPr indent="0" marL="0">
                        <a:buNone/>
                      </a:pPr>
                      <a:r>
                        <a:rPr lang="en-US" sz="950" b="1" dirty="0">
                          <a:solidFill>
                            <a:srgbClr val="1F2430"/>
                          </a:solidFill>
                          <a:latin typeface="Segoe UI" pitchFamily="34" charset="0"/>
                          <a:ea typeface="Segoe UI" pitchFamily="34" charset="-122"/>
                          <a:cs typeface="Segoe UI" pitchFamily="34" charset="-120"/>
                        </a:rPr>
                        <a:t>102 ms</a:t>
                      </a:r>
                      <a:pPr indent="0" marL="0">
                        <a:buNone/>
                      </a:pPr>
                      <a:r>
                        <a:rPr lang="en-US" sz="950" dirty="0">
                          <a:solidFill>
                            <a:srgbClr val="1F2430"/>
                          </a:solidFill>
                          <a:latin typeface="Segoe UI" pitchFamily="34" charset="0"/>
                          <a:ea typeface="Segoe UI" pitchFamily="34" charset="-122"/>
                          <a:cs typeface="Segoe UI" pitchFamily="34" charset="-120"/>
                        </a:rPr>
                        <a:t> when objects are scattered</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7 ms</a:t>
                      </a:r>
                      <a:pPr indent="0" marL="0">
                        <a:buNone/>
                      </a:pPr>
                      <a:r>
                        <a:rPr lang="en-US" sz="950" dirty="0">
                          <a:solidFill>
                            <a:srgbClr val="2E8B57"/>
                          </a:solidFill>
                          <a:latin typeface="Segoe UI" pitchFamily="34" charset="0"/>
                          <a:ea typeface="Segoe UI" pitchFamily="34" charset="-122"/>
                          <a:cs typeface="Segoe UI" pitchFamily="34" charset="-120"/>
                        </a:rPr>
                        <a:t>: sequential, cache-friendly</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49" name="Shape 46"/>
          <p:cNvSpPr/>
          <p:nvPr/>
        </p:nvSpPr>
        <p:spPr>
          <a:xfrm>
            <a:off x="457200" y="5410200"/>
            <a:ext cx="11277600" cy="838200"/>
          </a:xfrm>
          <a:prstGeom prst="roundRect">
            <a:avLst>
              <a:gd name="adj" fmla="val 9091"/>
            </a:avLst>
          </a:prstGeom>
          <a:solidFill>
            <a:srgbClr val="F0E9F9"/>
          </a:solidFill>
          <a:ln/>
        </p:spPr>
      </p:sp>
      <p:sp>
        <p:nvSpPr>
          <p:cNvPr id="50" name="Text 47"/>
          <p:cNvSpPr txBox="1"/>
          <p:nvPr/>
        </p:nvSpPr>
        <p:spPr>
          <a:xfrm>
            <a:off x="660400" y="5511800"/>
            <a:ext cx="76200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CAVEATS</a:t>
            </a:r>
            <a:endParaRPr lang="en-US" sz="950" dirty="0"/>
          </a:p>
        </p:txBody>
      </p:sp>
      <p:sp>
        <p:nvSpPr>
          <p:cNvPr id="51" name="Text 48"/>
          <p:cNvSpPr txBox="1"/>
          <p:nvPr/>
        </p:nvSpPr>
        <p:spPr>
          <a:xfrm>
            <a:off x="660400" y="5715000"/>
            <a:ext cx="10871200" cy="2032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Copies cost:</a:t>
            </a:r>
            <a:pPr indent="0" marL="0">
              <a:buNone/>
            </a:pPr>
            <a:r>
              <a:rPr lang="en-US" sz="1000" dirty="0">
                <a:solidFill>
                  <a:srgbClr val="1F2430"/>
                </a:solidFill>
                <a:latin typeface="Segoe UI" pitchFamily="34" charset="0"/>
                <a:ea typeface="Segoe UI" pitchFamily="34" charset="-122"/>
                <a:cs typeface="Segoe UI" pitchFamily="34" charset="-120"/>
              </a:rPr>
              <a:t> keep structs small (about 16 bytes or less), or pass them with </a:t>
            </a:r>
            <a:pPr indent="0" marL="0">
              <a:buNone/>
            </a:pPr>
            <a:r>
              <a:rPr lang="en-US" sz="1000" dirty="0">
                <a:solidFill>
                  <a:srgbClr val="1F2430"/>
                </a:solidFill>
                <a:latin typeface="Consolas" pitchFamily="34" charset="0"/>
                <a:ea typeface="Consolas" pitchFamily="34" charset="-122"/>
                <a:cs typeface="Consolas" pitchFamily="34" charset="-120"/>
              </a:rPr>
              <a:t>in</a:t>
            </a:r>
            <a:pPr indent="0" marL="0">
              <a:buNone/>
            </a:pPr>
            <a:r>
              <a:rPr lang="en-US" sz="1000" dirty="0">
                <a:solidFill>
                  <a:srgbClr val="1F2430"/>
                </a:solidFill>
                <a:latin typeface="Segoe UI" pitchFamily="34" charset="0"/>
                <a:ea typeface="Segoe UI" pitchFamily="34" charset="-122"/>
                <a:cs typeface="Segoe UI" pitchFamily="34" charset="-120"/>
              </a:rPr>
              <a:t> / </a:t>
            </a:r>
            <a:pPr indent="0" marL="0">
              <a:buNone/>
            </a:pPr>
            <a:r>
              <a:rPr lang="en-US" sz="1000" dirty="0">
                <a:solidFill>
                  <a:srgbClr val="1F2430"/>
                </a:solidFill>
                <a:latin typeface="Consolas" pitchFamily="34" charset="0"/>
                <a:ea typeface="Consolas" pitchFamily="34" charset="-122"/>
                <a:cs typeface="Consolas" pitchFamily="34" charset="-120"/>
              </a:rPr>
              <a:t>ref readonly</a:t>
            </a:r>
            <a:pPr indent="0" marL="0">
              <a:buNone/>
            </a:pPr>
            <a:r>
              <a:rPr lang="en-US" sz="1000" dirty="0">
                <a:solidFill>
                  <a:srgbClr val="1F2430"/>
                </a:solidFill>
                <a:latin typeface="Segoe UI" pitchFamily="34" charset="0"/>
                <a:ea typeface="Segoe UI" pitchFamily="34" charset="-122"/>
                <a:cs typeface="Segoe UI" pitchFamily="34" charset="-120"/>
              </a:rPr>
              <a:t> and declare them </a:t>
            </a:r>
            <a:pPr indent="0" marL="0">
              <a:buNone/>
            </a:pPr>
            <a:r>
              <a:rPr lang="en-US" sz="1000" dirty="0">
                <a:solidFill>
                  <a:srgbClr val="1F2430"/>
                </a:solidFill>
                <a:latin typeface="Consolas" pitchFamily="34" charset="0"/>
                <a:ea typeface="Consolas" pitchFamily="34" charset="-122"/>
                <a:cs typeface="Consolas" pitchFamily="34" charset="-120"/>
              </a:rPr>
              <a:t>readonly struct</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52" name="Text 49"/>
          <p:cNvSpPr txBox="1"/>
          <p:nvPr/>
        </p:nvSpPr>
        <p:spPr>
          <a:xfrm>
            <a:off x="660400" y="5943600"/>
            <a:ext cx="10871200" cy="2032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Boxing:</a:t>
            </a:r>
            <a:pPr indent="0" marL="0">
              <a:buNone/>
            </a:pPr>
            <a:r>
              <a:rPr lang="en-US" sz="1000" dirty="0">
                <a:solidFill>
                  <a:srgbClr val="1F2430"/>
                </a:solidFill>
                <a:latin typeface="Segoe UI" pitchFamily="34" charset="0"/>
                <a:ea typeface="Segoe UI" pitchFamily="34" charset="-122"/>
                <a:cs typeface="Segoe UI" pitchFamily="34" charset="-120"/>
              </a:rPr>
              <a:t> casting a struct to </a:t>
            </a:r>
            <a:pPr indent="0" marL="0">
              <a:buNone/>
            </a:pPr>
            <a:r>
              <a:rPr lang="en-US" sz="1000" dirty="0">
                <a:solidFill>
                  <a:srgbClr val="1F2430"/>
                </a:solidFill>
                <a:latin typeface="Consolas" pitchFamily="34" charset="0"/>
                <a:ea typeface="Consolas" pitchFamily="34" charset="-122"/>
                <a:cs typeface="Consolas" pitchFamily="34" charset="-120"/>
              </a:rPr>
              <a:t>object</a:t>
            </a:r>
            <a:pPr indent="0" marL="0">
              <a:buNone/>
            </a:pPr>
            <a:r>
              <a:rPr lang="en-US" sz="1000" dirty="0">
                <a:solidFill>
                  <a:srgbClr val="1F2430"/>
                </a:solidFill>
                <a:latin typeface="Segoe UI" pitchFamily="34" charset="0"/>
                <a:ea typeface="Segoe UI" pitchFamily="34" charset="-122"/>
                <a:cs typeface="Segoe UI" pitchFamily="34" charset="-120"/>
              </a:rPr>
              <a:t> or an interface allocates a 24 B heap copy every time (measured), which undoes the benefit.</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431800"/>
            <a:ext cx="11277600" cy="508000"/>
          </a:xfrm>
          <a:prstGeom prst="rect">
            <a:avLst/>
          </a:prstGeom>
          <a:noFill/>
          <a:ln/>
        </p:spPr>
        <p:txBody>
          <a:bodyPr wrap="square" lIns="0" tIns="0" rIns="0" bIns="0" rtlCol="0" anchor="ctr"/>
          <a:lstStyle/>
          <a:p>
            <a:pPr algn="ctr" indent="0" marL="0">
              <a:buNone/>
            </a:pPr>
            <a:r>
              <a:rPr lang="en-US" sz="2800" b="1" dirty="0">
                <a:solidFill>
                  <a:srgbClr val="1F2430"/>
                </a:solidFill>
                <a:latin typeface="Segoe UI" pitchFamily="34" charset="0"/>
                <a:ea typeface="Segoe UI" pitchFamily="34" charset="-122"/>
                <a:cs typeface="Segoe UI" pitchFamily="34" charset="-120"/>
              </a:rPr>
              <a:t>Java does not yet have anything similar to C# Struct</a:t>
            </a:r>
            <a:endParaRPr lang="en-US" sz="2800" dirty="0"/>
          </a:p>
        </p:txBody>
      </p:sp>
      <p:sp>
        <p:nvSpPr>
          <p:cNvPr id="3" name="sad face"/>
          <p:cNvSpPr/>
          <p:nvPr/>
        </p:nvSpPr>
        <p:spPr>
          <a:xfrm>
            <a:off x="5257800" y="1295400"/>
            <a:ext cx="1676400" cy="1676400"/>
          </a:xfrm>
          <a:prstGeom prst="ellipse">
            <a:avLst/>
          </a:prstGeom>
          <a:solidFill>
            <a:srgbClr val="E1E5EC"/>
          </a:solidFill>
          <a:ln w="38100">
            <a:solidFill>
              <a:srgbClr val="8A93A6"/>
            </a:solidFill>
            <a:prstDash val="solid"/>
          </a:ln>
        </p:spPr>
      </p:sp>
      <p:sp>
        <p:nvSpPr>
          <p:cNvPr id="4" name="Shape 2"/>
          <p:cNvSpPr/>
          <p:nvPr/>
        </p:nvSpPr>
        <p:spPr>
          <a:xfrm>
            <a:off x="5727192" y="1815084"/>
            <a:ext cx="150876" cy="217932"/>
          </a:xfrm>
          <a:prstGeom prst="ellipse">
            <a:avLst/>
          </a:prstGeom>
          <a:solidFill>
            <a:srgbClr val="4A5262"/>
          </a:solidFill>
          <a:ln/>
        </p:spPr>
      </p:sp>
      <p:sp>
        <p:nvSpPr>
          <p:cNvPr id="5" name="Shape 3"/>
          <p:cNvSpPr/>
          <p:nvPr/>
        </p:nvSpPr>
        <p:spPr>
          <a:xfrm>
            <a:off x="6313932" y="1815084"/>
            <a:ext cx="150876" cy="217932"/>
          </a:xfrm>
          <a:prstGeom prst="ellipse">
            <a:avLst/>
          </a:prstGeom>
          <a:solidFill>
            <a:srgbClr val="4A5262"/>
          </a:solidFill>
          <a:ln/>
        </p:spPr>
      </p:sp>
      <p:sp>
        <p:nvSpPr>
          <p:cNvPr id="6" name="Shape 4"/>
          <p:cNvSpPr/>
          <p:nvPr/>
        </p:nvSpPr>
        <p:spPr>
          <a:xfrm>
            <a:off x="5634990" y="2343150"/>
            <a:ext cx="922020" cy="922020"/>
          </a:xfrm>
          <a:prstGeom prst="arc">
            <a:avLst>
              <a:gd name="adj1" fmla="val 12900000"/>
              <a:gd name="adj2" fmla="val 19500000"/>
            </a:avLst>
          </a:prstGeom>
          <a:noFill/>
          <a:ln w="50800">
            <a:solidFill>
              <a:srgbClr val="4A5262"/>
            </a:solidFill>
            <a:prstDash val="solid"/>
          </a:ln>
        </p:spPr>
      </p:sp>
      <p:sp>
        <p:nvSpPr>
          <p:cNvPr id="7" name="Text 5"/>
          <p:cNvSpPr txBox="1"/>
          <p:nvPr/>
        </p:nvSpPr>
        <p:spPr>
          <a:xfrm>
            <a:off x="457200" y="3276600"/>
            <a:ext cx="11277600" cy="508000"/>
          </a:xfrm>
          <a:prstGeom prst="rect">
            <a:avLst/>
          </a:prstGeom>
          <a:noFill/>
          <a:ln/>
        </p:spPr>
        <p:txBody>
          <a:bodyPr wrap="square" lIns="0" tIns="0" rIns="0" bIns="0" rtlCol="0" anchor="ctr"/>
          <a:lstStyle/>
          <a:p>
            <a:pPr algn="ctr" indent="0" marL="0">
              <a:buNone/>
            </a:pPr>
            <a:r>
              <a:rPr lang="en-US" sz="2800" b="1" dirty="0">
                <a:solidFill>
                  <a:srgbClr val="2E8B57"/>
                </a:solidFill>
                <a:latin typeface="Segoe UI" pitchFamily="34" charset="0"/>
                <a:ea typeface="Segoe UI" pitchFamily="34" charset="-122"/>
                <a:cs typeface="Segoe UI" pitchFamily="34" charset="-120"/>
              </a:rPr>
              <a:t>Good news, Value types are coming to Java</a:t>
            </a:r>
            <a:endParaRPr lang="en-US" sz="2800" dirty="0"/>
          </a:p>
        </p:txBody>
      </p:sp>
      <p:sp>
        <p:nvSpPr>
          <p:cNvPr id="8" name="smiley face"/>
          <p:cNvSpPr/>
          <p:nvPr/>
        </p:nvSpPr>
        <p:spPr>
          <a:xfrm>
            <a:off x="5257800" y="4038600"/>
            <a:ext cx="1676400" cy="1676400"/>
          </a:xfrm>
          <a:prstGeom prst="ellipse">
            <a:avLst/>
          </a:prstGeom>
          <a:solidFill>
            <a:srgbClr val="FFD166"/>
          </a:solidFill>
          <a:ln w="38100">
            <a:solidFill>
              <a:srgbClr val="E76F00"/>
            </a:solidFill>
            <a:prstDash val="solid"/>
          </a:ln>
        </p:spPr>
      </p:sp>
      <p:sp>
        <p:nvSpPr>
          <p:cNvPr id="9" name="Shape 7"/>
          <p:cNvSpPr/>
          <p:nvPr/>
        </p:nvSpPr>
        <p:spPr>
          <a:xfrm>
            <a:off x="5727192" y="4558284"/>
            <a:ext cx="150876" cy="217932"/>
          </a:xfrm>
          <a:prstGeom prst="ellipse">
            <a:avLst/>
          </a:prstGeom>
          <a:solidFill>
            <a:srgbClr val="5A3A00"/>
          </a:solidFill>
          <a:ln/>
        </p:spPr>
      </p:sp>
      <p:sp>
        <p:nvSpPr>
          <p:cNvPr id="10" name="Shape 8"/>
          <p:cNvSpPr/>
          <p:nvPr/>
        </p:nvSpPr>
        <p:spPr>
          <a:xfrm>
            <a:off x="6313932" y="4558284"/>
            <a:ext cx="150876" cy="217932"/>
          </a:xfrm>
          <a:prstGeom prst="ellipse">
            <a:avLst/>
          </a:prstGeom>
          <a:solidFill>
            <a:srgbClr val="5A3A00"/>
          </a:solidFill>
          <a:ln/>
        </p:spPr>
      </p:sp>
      <p:sp>
        <p:nvSpPr>
          <p:cNvPr id="11" name="Shape 9"/>
          <p:cNvSpPr/>
          <p:nvPr/>
        </p:nvSpPr>
        <p:spPr>
          <a:xfrm>
            <a:off x="5634990" y="4373880"/>
            <a:ext cx="922020" cy="922020"/>
          </a:xfrm>
          <a:prstGeom prst="arc">
            <a:avLst>
              <a:gd name="adj1" fmla="val 1800000"/>
              <a:gd name="adj2" fmla="val 9000000"/>
            </a:avLst>
          </a:prstGeom>
          <a:noFill/>
          <a:ln w="50800">
            <a:solidFill>
              <a:srgbClr val="5A3A00"/>
            </a:solidFill>
            <a:prstDash val="solid"/>
          </a:ln>
        </p:spPr>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Identity vs Value</a:t>
            </a:r>
            <a:endParaRPr lang="en-US" sz="2400" dirty="0"/>
          </a:p>
        </p:txBody>
      </p:sp>
      <p:sp>
        <p:nvSpPr>
          <p:cNvPr id="3" name="Text 1"/>
          <p:cNvSpPr/>
          <p:nvPr/>
        </p:nvSpPr>
        <p:spPr>
          <a:xfrm>
            <a:off x="9311640" y="381000"/>
            <a:ext cx="242316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401 · PREVIEW IN JDK 28</a:t>
            </a:r>
            <a:endParaRPr lang="en-US" sz="1000" dirty="0"/>
          </a:p>
        </p:txBody>
      </p:sp>
      <p:sp>
        <p:nvSpPr>
          <p:cNvPr id="4" name="Text 2"/>
          <p:cNvSpPr txBox="1"/>
          <p:nvPr/>
        </p:nvSpPr>
        <p:spPr>
          <a:xfrm>
            <a:off x="457200" y="812800"/>
            <a:ext cx="9144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An </a:t>
            </a:r>
            <a:pPr indent="0" marL="0">
              <a:buNone/>
            </a:pPr>
            <a:r>
              <a:rPr lang="en-US" sz="1200" b="1" dirty="0">
                <a:solidFill>
                  <a:srgbClr val="5B6475"/>
                </a:solidFill>
                <a:latin typeface="Segoe UI" pitchFamily="34" charset="0"/>
                <a:ea typeface="Segoe UI" pitchFamily="34" charset="-122"/>
                <a:cs typeface="Segoe UI" pitchFamily="34" charset="-120"/>
              </a:rPr>
              <a:t>identity</a:t>
            </a:r>
            <a:pPr indent="0" marL="0">
              <a:buNone/>
            </a:pPr>
            <a:r>
              <a:rPr lang="en-US" sz="1200" dirty="0">
                <a:solidFill>
                  <a:srgbClr val="5B6475"/>
                </a:solidFill>
                <a:latin typeface="Segoe UI" pitchFamily="34" charset="0"/>
                <a:ea typeface="Segoe UI" pitchFamily="34" charset="-122"/>
                <a:cs typeface="Segoe UI" pitchFamily="34" charset="-120"/>
              </a:rPr>
              <a:t> object is a unique thing at an address. A </a:t>
            </a:r>
            <a:pPr indent="0" marL="0">
              <a:buNone/>
            </a:pPr>
            <a:r>
              <a:rPr lang="en-US" sz="1200" b="1" dirty="0">
                <a:solidFill>
                  <a:srgbClr val="5B6475"/>
                </a:solidFill>
                <a:latin typeface="Segoe UI" pitchFamily="34" charset="0"/>
                <a:ea typeface="Segoe UI" pitchFamily="34" charset="-122"/>
                <a:cs typeface="Segoe UI" pitchFamily="34" charset="-120"/>
              </a:rPr>
              <a:t>value</a:t>
            </a:r>
            <a:pPr indent="0" marL="0">
              <a:buNone/>
            </a:pPr>
            <a:r>
              <a:rPr lang="en-US" sz="1200" dirty="0">
                <a:solidFill>
                  <a:srgbClr val="5B6475"/>
                </a:solidFill>
                <a:latin typeface="Segoe UI" pitchFamily="34" charset="0"/>
                <a:ea typeface="Segoe UI" pitchFamily="34" charset="-122"/>
                <a:cs typeface="Segoe UI" pitchFamily="34" charset="-120"/>
              </a:rPr>
              <a:t> object is just its data: two with the same fields are the same value. Java's value classes give up identity, and with it locking and mutation.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600" cy="914400"/>
        </p:xfrm>
        <a:graphic>
          <a:graphicData uri="http://schemas.openxmlformats.org/drawingml/2006/table">
            <a:tbl>
              <a:tblPr/>
              <a:tblGrid>
                <a:gridCol w="1778000"/>
                <a:gridCol w="4749800"/>
                <a:gridCol w="4749800"/>
              </a:tblGrid>
              <a:tr h="0">
                <a:tc>
                  <a:txBody>
                    <a:bodyPr/>
                    <a:lstStyle/>
                    <a:p>
                      <a:pPr indent="0" marL="0">
                        <a:buNone/>
                      </a:pP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50" b="1" dirty="0">
                          <a:solidFill>
                            <a:srgbClr val="7A4FB5"/>
                          </a:solidFill>
                          <a:latin typeface="Segoe UI" pitchFamily="34" charset="0"/>
                          <a:ea typeface="Segoe UI" pitchFamily="34" charset="-122"/>
                          <a:cs typeface="Segoe UI" pitchFamily="34" charset="-120"/>
                        </a:rPr>
                        <a:t>Identity object: class, record</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50" b="1" dirty="0">
                          <a:solidFill>
                            <a:srgbClr val="2E8B57"/>
                          </a:solidFill>
                          <a:latin typeface="Segoe UI" pitchFamily="34" charset="0"/>
                          <a:ea typeface="Segoe UI" pitchFamily="34" charset="-122"/>
                          <a:cs typeface="Segoe UI" pitchFamily="34" charset="-120"/>
                        </a:rPr>
                        <a:t>Value object: value class, value record</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Equality (==)</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Compares </a:t>
                      </a:r>
                      <a:pPr indent="0" marL="0">
                        <a:buNone/>
                      </a:pPr>
                      <a:r>
                        <a:rPr lang="en-US" sz="1050" b="1" dirty="0">
                          <a:solidFill>
                            <a:srgbClr val="1F2430"/>
                          </a:solidFill>
                          <a:latin typeface="Segoe UI" pitchFamily="34" charset="0"/>
                          <a:ea typeface="Segoe UI" pitchFamily="34" charset="-122"/>
                          <a:cs typeface="Segoe UI" pitchFamily="34" charset="-120"/>
                        </a:rPr>
                        <a:t>references</a:t>
                      </a:r>
                      <a:pPr indent="0" marL="0">
                        <a:buNone/>
                      </a:pPr>
                      <a:r>
                        <a:rPr lang="en-US" sz="1050" dirty="0">
                          <a:solidFill>
                            <a:srgbClr val="1F2430"/>
                          </a:solidFill>
                          <a:latin typeface="Segoe UI" pitchFamily="34" charset="0"/>
                          <a:ea typeface="Segoe UI" pitchFamily="34" charset="-122"/>
                          <a:cs typeface="Segoe UI" pitchFamily="34" charset="-120"/>
                        </a:rPr>
                        <a:t>: two </a:t>
                      </a:r>
                      <a:pPr indent="0" marL="0">
                        <a:buNone/>
                      </a:pPr>
                      <a:r>
                        <a:rPr lang="en-US" sz="1050" dirty="0">
                          <a:solidFill>
                            <a:srgbClr val="1F2430"/>
                          </a:solidFill>
                          <a:latin typeface="Consolas" pitchFamily="34" charset="0"/>
                          <a:ea typeface="Consolas" pitchFamily="34" charset="-122"/>
                          <a:cs typeface="Consolas" pitchFamily="34" charset="-120"/>
                        </a:rPr>
                        <a:t>new IdPoint(1, 2)</a:t>
                      </a:r>
                      <a:pPr indent="0" marL="0">
                        <a:buNone/>
                      </a:pPr>
                      <a:r>
                        <a:rPr lang="en-US" sz="1050" dirty="0">
                          <a:solidFill>
                            <a:srgbClr val="1F2430"/>
                          </a:solidFill>
                          <a:latin typeface="Segoe UI" pitchFamily="34" charset="0"/>
                          <a:ea typeface="Segoe UI" pitchFamily="34" charset="-122"/>
                          <a:cs typeface="Segoe UI" pitchFamily="34" charset="-120"/>
                        </a:rPr>
                        <a:t> are not </a:t>
                      </a:r>
                      <a:pPr indent="0" marL="0">
                        <a:buNone/>
                      </a:pPr>
                      <a:r>
                        <a:rPr lang="en-US" sz="1050" dirty="0">
                          <a:solidFill>
                            <a:srgbClr val="1F2430"/>
                          </a:solidFill>
                          <a:latin typeface="Consolas" pitchFamily="34" charset="0"/>
                          <a:ea typeface="Consolas" pitchFamily="34" charset="-122"/>
                          <a:cs typeface="Consolas" pitchFamily="34" charset="-120"/>
                        </a:rPr>
                        <a:t>==</a:t>
                      </a:r>
                      <a:pPr indent="0" marL="0">
                        <a:buNone/>
                      </a:pPr>
                      <a:r>
                        <a:rPr lang="en-US" sz="1050" dirty="0">
                          <a:solidFill>
                            <a:srgbClr val="1F2430"/>
                          </a:solidFill>
                          <a:latin typeface="Segoe UI" pitchFamily="34" charset="0"/>
                          <a:ea typeface="Segoe UI" pitchFamily="34" charset="-122"/>
                          <a:cs typeface="Segoe UI" pitchFamily="34" charset="-120"/>
                        </a:rPr>
                        <a:t>; use </a:t>
                      </a:r>
                      <a:pPr indent="0" marL="0">
                        <a:buNone/>
                      </a:pPr>
                      <a:r>
                        <a:rPr lang="en-US" sz="1050" dirty="0">
                          <a:solidFill>
                            <a:srgbClr val="1F2430"/>
                          </a:solidFill>
                          <a:latin typeface="Consolas" pitchFamily="34" charset="0"/>
                          <a:ea typeface="Consolas" pitchFamily="34" charset="-122"/>
                          <a:cs typeface="Consolas" pitchFamily="34" charset="-120"/>
                        </a:rPr>
                        <a:t>equals</a:t>
                      </a:r>
                      <a:pPr indent="0" marL="0">
                        <a:buNone/>
                      </a:pPr>
                      <a:r>
                        <a:rPr lang="en-US" sz="1050" dirty="0">
                          <a:solidFill>
                            <a:srgbClr val="1F2430"/>
                          </a:solidFill>
                          <a:latin typeface="Segoe UI" pitchFamily="34" charset="0"/>
                          <a:ea typeface="Segoe UI" pitchFamily="34" charset="-122"/>
                          <a:cs typeface="Segoe UI" pitchFamily="34" charset="-120"/>
                        </a:rPr>
                        <a:t>.</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Compares </a:t>
                      </a:r>
                      <a:pPr indent="0" marL="0">
                        <a:buNone/>
                      </a:pPr>
                      <a:r>
                        <a:rPr lang="en-US" sz="1050" b="1" dirty="0">
                          <a:solidFill>
                            <a:srgbClr val="1F2430"/>
                          </a:solidFill>
                          <a:latin typeface="Segoe UI" pitchFamily="34" charset="0"/>
                          <a:ea typeface="Segoe UI" pitchFamily="34" charset="-122"/>
                          <a:cs typeface="Segoe UI" pitchFamily="34" charset="-120"/>
                        </a:rPr>
                        <a:t>field values</a:t>
                      </a:r>
                      <a:pPr indent="0" marL="0">
                        <a:buNone/>
                      </a:pPr>
                      <a:r>
                        <a:rPr lang="en-US" sz="1050" dirty="0">
                          <a:solidFill>
                            <a:srgbClr val="1F2430"/>
                          </a:solidFill>
                          <a:latin typeface="Segoe UI" pitchFamily="34" charset="0"/>
                          <a:ea typeface="Segoe UI" pitchFamily="34" charset="-122"/>
                          <a:cs typeface="Segoe UI" pitchFamily="34" charset="-120"/>
                        </a:rPr>
                        <a:t>: two </a:t>
                      </a:r>
                      <a:pPr indent="0" marL="0">
                        <a:buNone/>
                      </a:pPr>
                      <a:r>
                        <a:rPr lang="en-US" sz="1050" dirty="0">
                          <a:solidFill>
                            <a:srgbClr val="1F2430"/>
                          </a:solidFill>
                          <a:latin typeface="Consolas" pitchFamily="34" charset="0"/>
                          <a:ea typeface="Consolas" pitchFamily="34" charset="-122"/>
                          <a:cs typeface="Consolas" pitchFamily="34" charset="-120"/>
                        </a:rPr>
                        <a:t>new Point(1, 2)</a:t>
                      </a:r>
                      <a:pPr indent="0" marL="0">
                        <a:buNone/>
                      </a:pPr>
                      <a:r>
                        <a:rPr lang="en-US" sz="1050" dirty="0">
                          <a:solidFill>
                            <a:srgbClr val="1F2430"/>
                          </a:solidFill>
                          <a:latin typeface="Segoe UI" pitchFamily="34" charset="0"/>
                          <a:ea typeface="Segoe UI" pitchFamily="34" charset="-122"/>
                          <a:cs typeface="Segoe UI" pitchFamily="34" charset="-120"/>
                        </a:rPr>
                        <a:t> are </a:t>
                      </a:r>
                      <a:pPr indent="0" marL="0">
                        <a:buNone/>
                      </a:pPr>
                      <a:r>
                        <a:rPr lang="en-US" sz="1050" dirty="0">
                          <a:solidFill>
                            <a:srgbClr val="1F2430"/>
                          </a:solidFill>
                          <a:latin typeface="Consolas" pitchFamily="34" charset="0"/>
                          <a:ea typeface="Consolas" pitchFamily="34" charset="-122"/>
                          <a:cs typeface="Consolas" pitchFamily="34" charset="-120"/>
                        </a:rPr>
                        <a:t>==</a:t>
                      </a:r>
                      <a:pPr indent="0" marL="0">
                        <a:buNone/>
                      </a:pPr>
                      <a:r>
                        <a:rPr lang="en-US" sz="1050" dirty="0">
                          <a:solidFill>
                            <a:srgbClr val="1F2430"/>
                          </a:solidFill>
                          <a:latin typeface="Segoe UI" pitchFamily="34" charset="0"/>
                          <a:ea typeface="Segoe UI" pitchFamily="34" charset="-122"/>
                          <a:cs typeface="Segoe UI" pitchFamily="34" charset="-120"/>
                        </a:rPr>
                        <a:t>.</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Locking</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Consolas" pitchFamily="34" charset="0"/>
                          <a:ea typeface="Consolas" pitchFamily="34" charset="-122"/>
                          <a:cs typeface="Consolas" pitchFamily="34" charset="-120"/>
                        </a:rPr>
                        <a:t>synchronized</a:t>
                      </a:r>
                      <a:pPr indent="0" marL="0">
                        <a:buNone/>
                      </a:pPr>
                      <a:r>
                        <a:rPr lang="en-US" sz="1050" dirty="0">
                          <a:solidFill>
                            <a:srgbClr val="1F2430"/>
                          </a:solidFill>
                          <a:latin typeface="Segoe UI" pitchFamily="34" charset="0"/>
                          <a:ea typeface="Segoe UI" pitchFamily="34" charset="-122"/>
                          <a:cs typeface="Segoe UI" pitchFamily="34" charset="-120"/>
                        </a:rPr>
                        <a:t> works; the lock state lives in the object header.</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b="1" dirty="0">
                          <a:solidFill>
                            <a:srgbClr val="1F2430"/>
                          </a:solidFill>
                          <a:latin typeface="Segoe UI" pitchFamily="34" charset="0"/>
                          <a:ea typeface="Segoe UI" pitchFamily="34" charset="-122"/>
                          <a:cs typeface="Segoe UI" pitchFamily="34" charset="-120"/>
                        </a:rPr>
                        <a:t>Not allowed</a:t>
                      </a:r>
                      <a:pPr indent="0" marL="0">
                        <a:buNone/>
                      </a:pPr>
                      <a:r>
                        <a:rPr lang="en-US" sz="1050" dirty="0">
                          <a:solidFill>
                            <a:srgbClr val="1F2430"/>
                          </a:solidFill>
                          <a:latin typeface="Segoe UI" pitchFamily="34" charset="0"/>
                          <a:ea typeface="Segoe UI" pitchFamily="34" charset="-122"/>
                          <a:cs typeface="Segoe UI" pitchFamily="34" charset="-120"/>
                        </a:rPr>
                        <a:t>: a compile error, or </a:t>
                      </a:r>
                      <a:pPr indent="0" marL="0">
                        <a:buNone/>
                      </a:pPr>
                      <a:r>
                        <a:rPr lang="en-US" sz="1050" dirty="0">
                          <a:solidFill>
                            <a:srgbClr val="1F2430"/>
                          </a:solidFill>
                          <a:latin typeface="Consolas" pitchFamily="34" charset="0"/>
                          <a:ea typeface="Consolas" pitchFamily="34" charset="-122"/>
                          <a:cs typeface="Consolas" pitchFamily="34" charset="-120"/>
                        </a:rPr>
                        <a:t>IdentityException</a:t>
                      </a:r>
                      <a:pPr indent="0" marL="0">
                        <a:buNone/>
                      </a:pPr>
                      <a:r>
                        <a:rPr lang="en-US" sz="1050" dirty="0">
                          <a:solidFill>
                            <a:srgbClr val="1F2430"/>
                          </a:solidFill>
                          <a:latin typeface="Segoe UI" pitchFamily="34" charset="0"/>
                          <a:ea typeface="Segoe UI" pitchFamily="34" charset="-122"/>
                          <a:cs typeface="Segoe UI" pitchFamily="34" charset="-120"/>
                        </a:rPr>
                        <a:t> at run time.</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Mutability</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Fields can change, and every holder of the reference sees the change.</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Fields and class are implicitly </a:t>
                      </a:r>
                      <a:pPr indent="0" marL="0">
                        <a:buNone/>
                      </a:pPr>
                      <a:r>
                        <a:rPr lang="en-US" sz="1050" dirty="0">
                          <a:solidFill>
                            <a:srgbClr val="1F2430"/>
                          </a:solidFill>
                          <a:latin typeface="Consolas" pitchFamily="34" charset="0"/>
                          <a:ea typeface="Consolas" pitchFamily="34" charset="-122"/>
                          <a:cs typeface="Consolas" pitchFamily="34" charset="-120"/>
                        </a:rPr>
                        <a:t>final</a:t>
                      </a:r>
                      <a:pPr indent="0" marL="0">
                        <a:buNone/>
                      </a:pPr>
                      <a:r>
                        <a:rPr lang="en-US" sz="1050" dirty="0">
                          <a:solidFill>
                            <a:srgbClr val="1F2430"/>
                          </a:solidFill>
                          <a:latin typeface="Segoe UI" pitchFamily="34" charset="0"/>
                          <a:ea typeface="Segoe UI" pitchFamily="34" charset="-122"/>
                          <a:cs typeface="Segoe UI" pitchFamily="34" charset="-120"/>
                        </a:rPr>
                        <a:t>; to “change” it, create a new value.</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Identity hash, weak refs</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Unique </a:t>
                      </a:r>
                      <a:pPr indent="0" marL="0">
                        <a:buNone/>
                      </a:pPr>
                      <a:r>
                        <a:rPr lang="en-US" sz="1050" dirty="0">
                          <a:solidFill>
                            <a:srgbClr val="1F2430"/>
                          </a:solidFill>
                          <a:latin typeface="Consolas" pitchFamily="34" charset="0"/>
                          <a:ea typeface="Consolas" pitchFamily="34" charset="-122"/>
                          <a:cs typeface="Consolas" pitchFamily="34" charset="-120"/>
                        </a:rPr>
                        <a:t>identityHashCode</a:t>
                      </a:r>
                      <a:pPr indent="0" marL="0">
                        <a:buNone/>
                      </a:pPr>
                      <a:r>
                        <a:rPr lang="en-US" sz="1050" dirty="0">
                          <a:solidFill>
                            <a:srgbClr val="1F2430"/>
                          </a:solidFill>
                          <a:latin typeface="Segoe UI" pitchFamily="34" charset="0"/>
                          <a:ea typeface="Segoe UI" pitchFamily="34" charset="-122"/>
                          <a:cs typeface="Segoe UI" pitchFamily="34" charset="-120"/>
                        </a:rPr>
                        <a:t>; </a:t>
                      </a:r>
                      <a:pPr indent="0" marL="0">
                        <a:buNone/>
                      </a:pPr>
                      <a:r>
                        <a:rPr lang="en-US" sz="1050" dirty="0">
                          <a:solidFill>
                            <a:srgbClr val="1F2430"/>
                          </a:solidFill>
                          <a:latin typeface="Consolas" pitchFamily="34" charset="0"/>
                          <a:ea typeface="Consolas" pitchFamily="34" charset="-122"/>
                          <a:cs typeface="Consolas" pitchFamily="34" charset="-120"/>
                        </a:rPr>
                        <a:t>WeakReference</a:t>
                      </a:r>
                      <a:pPr indent="0" marL="0">
                        <a:buNone/>
                      </a:pPr>
                      <a:r>
                        <a:rPr lang="en-US" sz="1050" dirty="0">
                          <a:solidFill>
                            <a:srgbClr val="1F2430"/>
                          </a:solidFill>
                          <a:latin typeface="Segoe UI" pitchFamily="34" charset="0"/>
                          <a:ea typeface="Segoe UI" pitchFamily="34" charset="-122"/>
                          <a:cs typeface="Segoe UI" pitchFamily="34" charset="-120"/>
                        </a:rPr>
                        <a:t> works.</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Consolas" pitchFamily="34" charset="0"/>
                          <a:ea typeface="Consolas" pitchFamily="34" charset="-122"/>
                          <a:cs typeface="Consolas" pitchFamily="34" charset="-120"/>
                        </a:rPr>
                        <a:t>identityHashCode</a:t>
                      </a:r>
                      <a:pPr indent="0" marL="0">
                        <a:buNone/>
                      </a:pPr>
                      <a:r>
                        <a:rPr lang="en-US" sz="1050" dirty="0">
                          <a:solidFill>
                            <a:srgbClr val="1F2430"/>
                          </a:solidFill>
                          <a:latin typeface="Segoe UI" pitchFamily="34" charset="0"/>
                          <a:ea typeface="Segoe UI" pitchFamily="34" charset="-122"/>
                          <a:cs typeface="Segoe UI" pitchFamily="34" charset="-120"/>
                        </a:rPr>
                        <a:t> comes from the fields; </a:t>
                      </a:r>
                      <a:pPr indent="0" marL="0">
                        <a:buNone/>
                      </a:pPr>
                      <a:r>
                        <a:rPr lang="en-US" sz="1050" dirty="0">
                          <a:solidFill>
                            <a:srgbClr val="1F2430"/>
                          </a:solidFill>
                          <a:latin typeface="Consolas" pitchFamily="34" charset="0"/>
                          <a:ea typeface="Consolas" pitchFamily="34" charset="-122"/>
                          <a:cs typeface="Consolas" pitchFamily="34" charset="-120"/>
                        </a:rPr>
                        <a:t>WeakReference</a:t>
                      </a:r>
                      <a:pPr indent="0" marL="0">
                        <a:buNone/>
                      </a:pPr>
                      <a:r>
                        <a:rPr lang="en-US" sz="1050" dirty="0">
                          <a:solidFill>
                            <a:srgbClr val="1F2430"/>
                          </a:solidFill>
                          <a:latin typeface="Segoe UI" pitchFamily="34" charset="0"/>
                          <a:ea typeface="Segoe UI" pitchFamily="34" charset="-122"/>
                          <a:cs typeface="Segoe UI" pitchFamily="34" charset="-120"/>
                        </a:rPr>
                        <a:t> throws </a:t>
                      </a:r>
                      <a:pPr indent="0" marL="0">
                        <a:buNone/>
                      </a:pPr>
                      <a:r>
                        <a:rPr lang="en-US" sz="1050" dirty="0">
                          <a:solidFill>
                            <a:srgbClr val="1F2430"/>
                          </a:solidFill>
                          <a:latin typeface="Consolas" pitchFamily="34" charset="0"/>
                          <a:ea typeface="Consolas" pitchFamily="34" charset="-122"/>
                          <a:cs typeface="Consolas" pitchFamily="34" charset="-120"/>
                        </a:rPr>
                        <a:t>IdentityException</a:t>
                      </a:r>
                      <a:pPr indent="0" marL="0">
                        <a:buNone/>
                      </a:pPr>
                      <a:r>
                        <a:rPr lang="en-US" sz="1050" dirty="0">
                          <a:solidFill>
                            <a:srgbClr val="1F2430"/>
                          </a:solidFill>
                          <a:latin typeface="Segoe UI" pitchFamily="34" charset="0"/>
                          <a:ea typeface="Segoe UI" pitchFamily="34" charset="-122"/>
                          <a:cs typeface="Segoe UI" pitchFamily="34" charset="-120"/>
                        </a:rPr>
                        <a:t>.</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Memory</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Always a separate heap object with a header.</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Segoe UI" pitchFamily="34" charset="0"/>
                          <a:ea typeface="Segoe UI" pitchFamily="34" charset="-122"/>
                          <a:cs typeface="Segoe UI" pitchFamily="34" charset="-120"/>
                        </a:rPr>
                        <a:t>The JVM </a:t>
                      </a:r>
                      <a:pPr indent="0" marL="0">
                        <a:buNone/>
                      </a:pPr>
                      <a:r>
                        <a:rPr lang="en-US" sz="1050" b="1" dirty="0">
                          <a:solidFill>
                            <a:srgbClr val="1F2430"/>
                          </a:solidFill>
                          <a:latin typeface="Segoe UI" pitchFamily="34" charset="0"/>
                          <a:ea typeface="Segoe UI" pitchFamily="34" charset="-122"/>
                          <a:cs typeface="Segoe UI" pitchFamily="34" charset="-120"/>
                        </a:rPr>
                        <a:t>may</a:t>
                      </a:r>
                      <a:pPr indent="0" marL="0">
                        <a:buNone/>
                      </a:pPr>
                      <a:r>
                        <a:rPr lang="en-US" sz="1050" dirty="0">
                          <a:solidFill>
                            <a:srgbClr val="1F2430"/>
                          </a:solidFill>
                          <a:latin typeface="Segoe UI" pitchFamily="34" charset="0"/>
                          <a:ea typeface="Segoe UI" pitchFamily="34" charset="-122"/>
                          <a:cs typeface="Segoe UI" pitchFamily="34" charset="-120"/>
                        </a:rPr>
                        <a:t> flatten it into fields and arrays with no header (not guaranteed).</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Examples</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Consolas" pitchFamily="34" charset="0"/>
                          <a:ea typeface="Consolas" pitchFamily="34" charset="-122"/>
                          <a:cs typeface="Consolas" pitchFamily="34" charset="-120"/>
                        </a:rPr>
                        <a:t>String</a:t>
                      </a:r>
                      <a:pPr indent="0" marL="0">
                        <a:buNone/>
                      </a:pPr>
                      <a:r>
                        <a:rPr lang="en-US" sz="1050" dirty="0">
                          <a:solidFill>
                            <a:srgbClr val="1F2430"/>
                          </a:solidFill>
                          <a:latin typeface="Segoe UI" pitchFamily="34" charset="0"/>
                          <a:ea typeface="Segoe UI" pitchFamily="34" charset="-122"/>
                          <a:cs typeface="Segoe UI" pitchFamily="34" charset="-120"/>
                        </a:rPr>
                        <a:t>, </a:t>
                      </a:r>
                      <a:pPr indent="0" marL="0">
                        <a:buNone/>
                      </a:pPr>
                      <a:r>
                        <a:rPr lang="en-US" sz="1050" dirty="0">
                          <a:solidFill>
                            <a:srgbClr val="1F2430"/>
                          </a:solidFill>
                          <a:latin typeface="Consolas" pitchFamily="34" charset="0"/>
                          <a:ea typeface="Consolas" pitchFamily="34" charset="-122"/>
                          <a:cs typeface="Consolas" pitchFamily="34" charset="-120"/>
                        </a:rPr>
                        <a:t>ArrayList</a:t>
                      </a:r>
                      <a:pPr indent="0" marL="0">
                        <a:buNone/>
                      </a:pPr>
                      <a:r>
                        <a:rPr lang="en-US" sz="1050" dirty="0">
                          <a:solidFill>
                            <a:srgbClr val="1F2430"/>
                          </a:solidFill>
                          <a:latin typeface="Segoe UI" pitchFamily="34" charset="0"/>
                          <a:ea typeface="Segoe UI" pitchFamily="34" charset="-122"/>
                          <a:cs typeface="Segoe UI" pitchFamily="34" charset="-120"/>
                        </a:rPr>
                        <a:t>, </a:t>
                      </a:r>
                      <a:pPr indent="0" marL="0">
                        <a:buNone/>
                      </a:pPr>
                      <a:r>
                        <a:rPr lang="en-US" sz="1050" dirty="0">
                          <a:solidFill>
                            <a:srgbClr val="1F2430"/>
                          </a:solidFill>
                          <a:latin typeface="Consolas" pitchFamily="34" charset="0"/>
                          <a:ea typeface="Consolas" pitchFamily="34" charset="-122"/>
                          <a:cs typeface="Consolas" pitchFamily="34" charset="-120"/>
                        </a:rPr>
                        <a:t>Thread</a:t>
                      </a:r>
                      <a:pPr indent="0" marL="0">
                        <a:buNone/>
                      </a:pPr>
                      <a:r>
                        <a:rPr lang="en-US" sz="1050" dirty="0">
                          <a:solidFill>
                            <a:srgbClr val="1F2430"/>
                          </a:solidFill>
                          <a:latin typeface="Segoe UI" pitchFamily="34" charset="0"/>
                          <a:ea typeface="Segoe UI" pitchFamily="34" charset="-122"/>
                          <a:cs typeface="Segoe UI" pitchFamily="34" charset="-120"/>
                        </a:rPr>
                        <a:t>, ordinary classes and records</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dirty="0">
                          <a:solidFill>
                            <a:srgbClr val="1F2430"/>
                          </a:solidFill>
                          <a:latin typeface="Consolas" pitchFamily="34" charset="0"/>
                          <a:ea typeface="Consolas" pitchFamily="34" charset="-122"/>
                          <a:cs typeface="Consolas" pitchFamily="34" charset="-120"/>
                        </a:rPr>
                        <a:t>Integer</a:t>
                      </a:r>
                      <a:pPr indent="0" marL="0">
                        <a:buNone/>
                      </a:pPr>
                      <a:r>
                        <a:rPr lang="en-US" sz="1050" dirty="0">
                          <a:solidFill>
                            <a:srgbClr val="1F2430"/>
                          </a:solidFill>
                          <a:latin typeface="Segoe UI" pitchFamily="34" charset="0"/>
                          <a:ea typeface="Segoe UI" pitchFamily="34" charset="-122"/>
                          <a:cs typeface="Segoe UI" pitchFamily="34" charset="-120"/>
                        </a:rPr>
                        <a:t>, </a:t>
                      </a:r>
                      <a:pPr indent="0" marL="0">
                        <a:buNone/>
                      </a:pPr>
                      <a:r>
                        <a:rPr lang="en-US" sz="1050" dirty="0">
                          <a:solidFill>
                            <a:srgbClr val="1F2430"/>
                          </a:solidFill>
                          <a:latin typeface="Consolas" pitchFamily="34" charset="0"/>
                          <a:ea typeface="Consolas" pitchFamily="34" charset="-122"/>
                          <a:cs typeface="Consolas" pitchFamily="34" charset="-120"/>
                        </a:rPr>
                        <a:t>Optional</a:t>
                      </a:r>
                      <a:pPr indent="0" marL="0">
                        <a:buNone/>
                      </a:pPr>
                      <a:r>
                        <a:rPr lang="en-US" sz="1050" dirty="0">
                          <a:solidFill>
                            <a:srgbClr val="1F2430"/>
                          </a:solidFill>
                          <a:latin typeface="Segoe UI" pitchFamily="34" charset="0"/>
                          <a:ea typeface="Segoe UI" pitchFamily="34" charset="-122"/>
                          <a:cs typeface="Segoe UI" pitchFamily="34" charset="-120"/>
                        </a:rPr>
                        <a:t>, </a:t>
                      </a:r>
                      <a:pPr indent="0" marL="0">
                        <a:buNone/>
                      </a:pPr>
                      <a:r>
                        <a:rPr lang="en-US" sz="1050" dirty="0">
                          <a:solidFill>
                            <a:srgbClr val="1F2430"/>
                          </a:solidFill>
                          <a:latin typeface="Consolas" pitchFamily="34" charset="0"/>
                          <a:ea typeface="Consolas" pitchFamily="34" charset="-122"/>
                          <a:cs typeface="Consolas" pitchFamily="34" charset="-120"/>
                        </a:rPr>
                        <a:t>LocalDate</a:t>
                      </a:r>
                      <a:pPr indent="0" marL="0">
                        <a:buNone/>
                      </a:pPr>
                      <a:r>
                        <a:rPr lang="en-US" sz="1050" dirty="0">
                          <a:solidFill>
                            <a:srgbClr val="1F2430"/>
                          </a:solidFill>
                          <a:latin typeface="Segoe UI" pitchFamily="34" charset="0"/>
                          <a:ea typeface="Segoe UI" pitchFamily="34" charset="-122"/>
                          <a:cs typeface="Segoe UI" pitchFamily="34" charset="-120"/>
                        </a:rPr>
                        <a:t> (with preview), your </a:t>
                      </a:r>
                      <a:pPr indent="0" marL="0">
                        <a:buNone/>
                      </a:pPr>
                      <a:r>
                        <a:rPr lang="en-US" sz="1050" dirty="0">
                          <a:solidFill>
                            <a:srgbClr val="1F2430"/>
                          </a:solidFill>
                          <a:latin typeface="Consolas" pitchFamily="34" charset="0"/>
                          <a:ea typeface="Consolas" pitchFamily="34" charset="-122"/>
                          <a:cs typeface="Consolas" pitchFamily="34" charset="-120"/>
                        </a:rPr>
                        <a:t>value record</a:t>
                      </a:r>
                      <a:pPr indent="0" marL="0">
                        <a:buNone/>
                      </a:pPr>
                      <a:r>
                        <a:rPr lang="en-US" sz="1050" dirty="0">
                          <a:solidFill>
                            <a:srgbClr val="1F2430"/>
                          </a:solidFill>
                          <a:latin typeface="Segoe UI" pitchFamily="34" charset="0"/>
                          <a:ea typeface="Segoe UI" pitchFamily="34" charset="-122"/>
                          <a:cs typeface="Segoe UI" pitchFamily="34" charset="-120"/>
                        </a:rPr>
                        <a:t>s</a:t>
                      </a:r>
                      <a:endParaRPr lang="en-US" sz="1050" dirty="0">
                        <a:latin typeface="Segoe UI" charset="0"/>
                        <a:ea typeface="Segoe UI" charset="0"/>
                        <a:cs typeface="Segoe UI" charset="0"/>
                      </a:endParaRPr>
                    </a:p>
                  </a:txBody>
                  <a:tcPr marL="76200" marR="76200" marT="63500" marB="635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6" name="Shape 3"/>
          <p:cNvSpPr/>
          <p:nvPr/>
        </p:nvSpPr>
        <p:spPr>
          <a:xfrm>
            <a:off x="457200" y="4038600"/>
            <a:ext cx="5537200" cy="1427734"/>
          </a:xfrm>
          <a:prstGeom prst="roundRect">
            <a:avLst>
              <a:gd name="adj" fmla="val 5337"/>
            </a:avLst>
          </a:prstGeom>
          <a:solidFill>
            <a:srgbClr val="1E2230"/>
          </a:solidFill>
          <a:ln/>
        </p:spPr>
      </p:sp>
      <p:sp>
        <p:nvSpPr>
          <p:cNvPr id="7" name="Text 4"/>
          <p:cNvSpPr txBox="1"/>
          <p:nvPr/>
        </p:nvSpPr>
        <p:spPr>
          <a:xfrm>
            <a:off x="584200" y="41529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SOURCE</a:t>
            </a:r>
            <a:endParaRPr lang="en-US" sz="900" dirty="0"/>
          </a:p>
        </p:txBody>
      </p:sp>
      <p:sp>
        <p:nvSpPr>
          <p:cNvPr id="8" name="Text 5"/>
          <p:cNvSpPr txBox="1"/>
          <p:nvPr/>
        </p:nvSpPr>
        <p:spPr>
          <a:xfrm>
            <a:off x="584200" y="4394200"/>
            <a:ext cx="5283200" cy="970534"/>
          </a:xfrm>
          <a:prstGeom prst="rect">
            <a:avLst/>
          </a:prstGeom>
          <a:noFill/>
          <a:ln/>
        </p:spPr>
        <p:txBody>
          <a:bodyPr wrap="square" lIns="0" tIns="0" rIns="0" bIns="0" rtlCol="0" anchor="t"/>
          <a:lstStyle/>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record IdPoint(int x, int y) {}</a:t>
            </a:r>
            <a:endParaRPr lang="en-US" sz="850" dirty="0"/>
          </a:p>
          <a:p>
            <a:pPr indent="0" marL="0">
              <a:lnSpc>
                <a:spcPts val="1207"/>
              </a:lnSpc>
              <a:buNone/>
            </a:pPr>
            <a:r>
              <a:rPr lang="en-US" sz="850" dirty="0">
                <a:solidFill>
                  <a:srgbClr val="C792EA"/>
                </a:solidFill>
                <a:latin typeface="Consolas" pitchFamily="34" charset="0"/>
                <a:ea typeface="Consolas" pitchFamily="34" charset="-122"/>
                <a:cs typeface="Consolas" pitchFamily="34" charset="-120"/>
              </a:rPr>
              <a:t>value</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record Point(int x, int y) {}</a:t>
            </a:r>
            <a:endParaRPr lang="en-US" sz="850" dirty="0"/>
          </a:p>
          <a:p>
            <a:pPr indent="0" marL="0">
              <a:lnSpc>
                <a:spcPts val="1207"/>
              </a:lnSpc>
              <a:buNone/>
            </a:pP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new IdPoint(1, 2) == new IdPoint(1, 2)</a:t>
            </a:r>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 false</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new Point(1, 2)   == new Point(1, 2)</a:t>
            </a:r>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 true</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synchronized (point) { }</a:t>
            </a:r>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 IdentityException</a:t>
            </a:r>
            <a:endParaRPr lang="en-US" sz="850" dirty="0"/>
          </a:p>
        </p:txBody>
      </p:sp>
      <p:sp>
        <p:nvSpPr>
          <p:cNvPr id="9" name="Shape 6"/>
          <p:cNvSpPr/>
          <p:nvPr/>
        </p:nvSpPr>
        <p:spPr>
          <a:xfrm>
            <a:off x="6197600" y="4038600"/>
            <a:ext cx="5537200" cy="1427734"/>
          </a:xfrm>
          <a:prstGeom prst="roundRect">
            <a:avLst>
              <a:gd name="adj" fmla="val 5337"/>
            </a:avLst>
          </a:prstGeom>
          <a:solidFill>
            <a:srgbClr val="1E2230"/>
          </a:solidFill>
          <a:ln/>
        </p:spPr>
      </p:sp>
      <p:sp>
        <p:nvSpPr>
          <p:cNvPr id="10" name="Text 7"/>
          <p:cNvSpPr txBox="1"/>
          <p:nvPr/>
        </p:nvSpPr>
        <p:spPr>
          <a:xfrm>
            <a:off x="6324600" y="41529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Actual output · JDK 28-ea, --enable-preview</a:t>
            </a:r>
            <a:endParaRPr lang="en-US" sz="900" dirty="0"/>
          </a:p>
        </p:txBody>
      </p:sp>
      <p:sp>
        <p:nvSpPr>
          <p:cNvPr id="11" name="Text 8"/>
          <p:cNvSpPr txBox="1"/>
          <p:nvPr/>
        </p:nvSpPr>
        <p:spPr>
          <a:xfrm>
            <a:off x="6324600" y="4394200"/>
            <a:ext cx="5283200" cy="970534"/>
          </a:xfrm>
          <a:prstGeom prst="rect">
            <a:avLst/>
          </a:prstGeom>
          <a:noFill/>
          <a:ln/>
        </p:spPr>
        <p:txBody>
          <a:bodyPr wrap="square" lIns="0" tIns="0" rIns="0" bIns="0" rtlCol="0" anchor="t"/>
          <a:lstStyle/>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identity: i1 == i2   -&gt; </a:t>
            </a:r>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false</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equals -&gt; true</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value:    v1 == v2   -&gt; </a:t>
            </a:r>
            <a:pPr indent="0" marL="0">
              <a:lnSpc>
                <a:spcPts val="1207"/>
              </a:lnSpc>
              <a:buNone/>
            </a:pPr>
            <a:r>
              <a:rPr lang="en-US" sz="850" b="1" dirty="0">
                <a:solidFill>
                  <a:srgbClr val="FFB86C"/>
                </a:solidFill>
                <a:latin typeface="Consolas" pitchFamily="34" charset="0"/>
                <a:ea typeface="Consolas" pitchFamily="34" charset="-122"/>
                <a:cs typeface="Consolas" pitchFamily="34" charset="-120"/>
              </a:rPr>
              <a:t>true</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equals -&gt; true</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synchronized(value)  -&gt; </a:t>
            </a:r>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IdentityException:</a:t>
            </a:r>
            <a:endParaRPr lang="en-US" sz="850" dirty="0"/>
          </a:p>
          <a:p>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Cannot synchronize on an instance of value class</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WeakReference(value) -&gt; </a:t>
            </a:r>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IdentityException</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Integer 1000 == 1000 -&gt; </a:t>
            </a:r>
            <a:pPr indent="0" marL="0">
              <a:lnSpc>
                <a:spcPts val="1207"/>
              </a:lnSpc>
              <a:buNone/>
            </a:pPr>
            <a:r>
              <a:rPr lang="en-US" sz="850" b="1" dirty="0">
                <a:solidFill>
                  <a:srgbClr val="FFB86C"/>
                </a:solidFill>
                <a:latin typeface="Consolas" pitchFamily="34" charset="0"/>
                <a:ea typeface="Consolas" pitchFamily="34" charset="-122"/>
                <a:cs typeface="Consolas" pitchFamily="34" charset="-120"/>
              </a:rPr>
              <a:t>true</a:t>
            </a:r>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(Integer is a value class)</a:t>
            </a:r>
            <a:endParaRPr lang="en-US" sz="850" dirty="0"/>
          </a:p>
        </p:txBody>
      </p:sp>
      <p:sp>
        <p:nvSpPr>
          <p:cNvPr id="12" name="Shape 9"/>
          <p:cNvSpPr/>
          <p:nvPr/>
        </p:nvSpPr>
        <p:spPr>
          <a:xfrm>
            <a:off x="457200" y="5638800"/>
            <a:ext cx="11277600" cy="711200"/>
          </a:xfrm>
          <a:prstGeom prst="roundRect">
            <a:avLst>
              <a:gd name="adj" fmla="val 10714"/>
            </a:avLst>
          </a:prstGeom>
          <a:solidFill>
            <a:srgbClr val="E8F4EE"/>
          </a:solidFill>
          <a:ln/>
        </p:spPr>
      </p:sp>
      <p:sp>
        <p:nvSpPr>
          <p:cNvPr id="13" name="Text 10"/>
          <p:cNvSpPr txBox="1"/>
          <p:nvPr/>
        </p:nvSpPr>
        <p:spPr>
          <a:xfrm>
            <a:off x="660400" y="57404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RULE OF THUMB</a:t>
            </a:r>
            <a:endParaRPr lang="en-US" sz="950" dirty="0"/>
          </a:p>
        </p:txBody>
      </p:sp>
      <p:sp>
        <p:nvSpPr>
          <p:cNvPr id="14" name="Text 11"/>
          <p:cNvSpPr txBox="1"/>
          <p:nvPr/>
        </p:nvSpPr>
        <p:spPr>
          <a:xfrm>
            <a:off x="660400" y="5943600"/>
            <a:ext cx="10871200" cy="355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If two instances with the same data should be interchangeable (a point, money, a date), it is a </a:t>
            </a:r>
            <a:pPr indent="0" marL="0">
              <a:buNone/>
            </a:pPr>
            <a:r>
              <a:rPr lang="en-US" sz="1000" b="1" dirty="0">
                <a:solidFill>
                  <a:srgbClr val="1F2430"/>
                </a:solidFill>
                <a:latin typeface="Segoe UI" pitchFamily="34" charset="0"/>
                <a:ea typeface="Segoe UI" pitchFamily="34" charset="-122"/>
                <a:cs typeface="Segoe UI" pitchFamily="34" charset="-120"/>
              </a:rPr>
              <a:t>value</a:t>
            </a:r>
            <a:pPr indent="0" marL="0">
              <a:buNone/>
            </a:pPr>
            <a:r>
              <a:rPr lang="en-US" sz="1000" dirty="0">
                <a:solidFill>
                  <a:srgbClr val="1F2430"/>
                </a:solidFill>
                <a:latin typeface="Segoe UI" pitchFamily="34" charset="0"/>
                <a:ea typeface="Segoe UI" pitchFamily="34" charset="-122"/>
                <a:cs typeface="Segoe UI" pitchFamily="34" charset="-120"/>
              </a:rPr>
              <a:t>. If it matters </a:t>
            </a:r>
            <a:pPr indent="0" marL="0">
              <a:buNone/>
            </a:pPr>
            <a:r>
              <a:rPr lang="en-US" sz="1000" b="1" dirty="0">
                <a:solidFill>
                  <a:srgbClr val="1F2430"/>
                </a:solidFill>
                <a:latin typeface="Segoe UI" pitchFamily="34" charset="0"/>
                <a:ea typeface="Segoe UI" pitchFamily="34" charset="-122"/>
                <a:cs typeface="Segoe UI" pitchFamily="34" charset="-120"/>
              </a:rPr>
              <a:t>which one</a:t>
            </a:r>
            <a:pPr indent="0" marL="0">
              <a:buNone/>
            </a:pPr>
            <a:r>
              <a:rPr lang="en-US" sz="1000" dirty="0">
                <a:solidFill>
                  <a:srgbClr val="1F2430"/>
                </a:solidFill>
                <a:latin typeface="Segoe UI" pitchFamily="34" charset="0"/>
                <a:ea typeface="Segoe UI" pitchFamily="34" charset="-122"/>
                <a:cs typeface="Segoe UI" pitchFamily="34" charset="-120"/>
              </a:rPr>
              <a:t> you have (a connection, an account, a lock), it needs </a:t>
            </a:r>
            <a:pPr indent="0" marL="0">
              <a:buNone/>
            </a:pPr>
            <a:r>
              <a:rPr lang="en-US" sz="1000" b="1" dirty="0">
                <a:solidFill>
                  <a:srgbClr val="1F2430"/>
                </a:solidFill>
                <a:latin typeface="Segoe UI" pitchFamily="34" charset="0"/>
                <a:ea typeface="Segoe UI" pitchFamily="34" charset="-122"/>
                <a:cs typeface="Segoe UI" pitchFamily="34" charset="-120"/>
              </a:rPr>
              <a:t>identity</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What value types buy you</a:t>
            </a:r>
            <a:endParaRPr lang="en-US" sz="2400" dirty="0"/>
          </a:p>
        </p:txBody>
      </p:sp>
      <p:sp>
        <p:nvSpPr>
          <p:cNvPr id="3" name="Text 1"/>
          <p:cNvSpPr/>
          <p:nvPr/>
        </p:nvSpPr>
        <p:spPr>
          <a:xfrm>
            <a:off x="8986520" y="381000"/>
            <a:ext cx="27482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JEP 401 · MEASURED ON JDK 28-EA</a:t>
            </a:r>
            <a:endParaRPr lang="en-US" sz="1000" dirty="0"/>
          </a:p>
        </p:txBody>
      </p:sp>
      <p:sp>
        <p:nvSpPr>
          <p:cNvPr id="4" name="Text 2"/>
          <p:cNvSpPr txBox="1"/>
          <p:nvPr/>
        </p:nvSpPr>
        <p:spPr>
          <a:xfrm>
            <a:off x="457200" y="812800"/>
            <a:ext cx="8890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An identity object is reached through a pointer. A value can be stored right where it is used, which removes the pointer chasing, the per-object header and the allocation.</a:t>
            </a:r>
            <a:endParaRPr lang="en-US" sz="1200" dirty="0"/>
          </a:p>
        </p:txBody>
      </p:sp>
      <p:sp>
        <p:nvSpPr>
          <p:cNvPr id="5" name="Shape 3"/>
          <p:cNvSpPr/>
          <p:nvPr/>
        </p:nvSpPr>
        <p:spPr>
          <a:xfrm>
            <a:off x="457200" y="1346200"/>
            <a:ext cx="5537200" cy="2413000"/>
          </a:xfrm>
          <a:prstGeom prst="roundRect">
            <a:avLst>
              <a:gd name="adj" fmla="val 3158"/>
            </a:avLst>
          </a:prstGeom>
          <a:solidFill>
            <a:srgbClr val="FBEDEB"/>
          </a:solidFill>
          <a:ln/>
        </p:spPr>
      </p:sp>
      <p:sp>
        <p:nvSpPr>
          <p:cNvPr id="6" name="Text 4"/>
          <p:cNvSpPr txBox="1"/>
          <p:nvPr/>
        </p:nvSpPr>
        <p:spPr>
          <a:xfrm>
            <a:off x="609600" y="1447800"/>
            <a:ext cx="52324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IDENTITY OBJECTS: POINTER CHASING</a:t>
            </a:r>
            <a:endParaRPr lang="en-US" sz="950" dirty="0"/>
          </a:p>
        </p:txBody>
      </p:sp>
      <p:sp>
        <p:nvSpPr>
          <p:cNvPr id="7" name="Text 5"/>
          <p:cNvSpPr/>
          <p:nvPr/>
        </p:nvSpPr>
        <p:spPr>
          <a:xfrm>
            <a:off x="660400" y="1727200"/>
            <a:ext cx="3048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hdr</a:t>
            </a:r>
            <a:endParaRPr lang="en-US" sz="700" dirty="0"/>
          </a:p>
        </p:txBody>
      </p:sp>
      <p:sp>
        <p:nvSpPr>
          <p:cNvPr id="8" name="Text 6"/>
          <p:cNvSpPr/>
          <p:nvPr/>
        </p:nvSpPr>
        <p:spPr>
          <a:xfrm>
            <a:off x="965200" y="1727200"/>
            <a:ext cx="5080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a:t>
            </a:r>
            <a:endParaRPr lang="en-US" sz="700" dirty="0"/>
          </a:p>
        </p:txBody>
      </p:sp>
      <p:sp>
        <p:nvSpPr>
          <p:cNvPr id="9" name="Text 7"/>
          <p:cNvSpPr/>
          <p:nvPr/>
        </p:nvSpPr>
        <p:spPr>
          <a:xfrm>
            <a:off x="1473200" y="1727200"/>
            <a:ext cx="5080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a:t>
            </a:r>
            <a:endParaRPr lang="en-US" sz="700" dirty="0"/>
          </a:p>
        </p:txBody>
      </p:sp>
      <p:sp>
        <p:nvSpPr>
          <p:cNvPr id="10" name="Text 8"/>
          <p:cNvSpPr/>
          <p:nvPr/>
        </p:nvSpPr>
        <p:spPr>
          <a:xfrm>
            <a:off x="1981200" y="1727200"/>
            <a:ext cx="5080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a:t>
            </a:r>
            <a:endParaRPr lang="en-US" sz="700" dirty="0"/>
          </a:p>
        </p:txBody>
      </p:sp>
      <p:sp>
        <p:nvSpPr>
          <p:cNvPr id="11" name="Text 9"/>
          <p:cNvSpPr/>
          <p:nvPr/>
        </p:nvSpPr>
        <p:spPr>
          <a:xfrm>
            <a:off x="2489200" y="1727200"/>
            <a:ext cx="508000" cy="203200"/>
          </a:xfrm>
          <a:prstGeom prst="rect">
            <a:avLst/>
          </a:prstGeom>
          <a:solidFill>
            <a:srgbClr val="2F6FB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ref</a:t>
            </a:r>
            <a:endParaRPr lang="en-US" sz="700" dirty="0"/>
          </a:p>
        </p:txBody>
      </p:sp>
      <p:sp>
        <p:nvSpPr>
          <p:cNvPr id="12" name="Text 10"/>
          <p:cNvSpPr txBox="1"/>
          <p:nvPr/>
        </p:nvSpPr>
        <p:spPr>
          <a:xfrm>
            <a:off x="3073400" y="1765300"/>
            <a:ext cx="2794000" cy="152400"/>
          </a:xfrm>
          <a:prstGeom prst="rect">
            <a:avLst/>
          </a:prstGeom>
          <a:noFill/>
          <a:ln/>
        </p:spPr>
        <p:txBody>
          <a:bodyPr wrap="square" lIns="0" tIns="0" rIns="0" bIns="0" rtlCol="0" anchor="t"/>
          <a:lstStyle/>
          <a:p>
            <a:pPr indent="0" marL="0">
              <a:buNone/>
            </a:pPr>
            <a:r>
              <a:rPr lang="en-US" sz="800" dirty="0">
                <a:solidFill>
                  <a:srgbClr val="5B6475"/>
                </a:solidFill>
                <a:latin typeface="Consolas" pitchFamily="34" charset="0"/>
                <a:ea typeface="Consolas" pitchFamily="34" charset="-122"/>
                <a:cs typeface="Consolas" pitchFamily="34" charset="-120"/>
              </a:rPr>
              <a:t>Point[]</a:t>
            </a:r>
            <a:pPr indent="0" marL="0">
              <a:buNone/>
            </a:pPr>
            <a:r>
              <a:rPr lang="en-US" sz="800" dirty="0">
                <a:solidFill>
                  <a:srgbClr val="5B6475"/>
                </a:solidFill>
                <a:latin typeface="Segoe UI" pitchFamily="34" charset="0"/>
                <a:ea typeface="Segoe UI" pitchFamily="34" charset="-122"/>
                <a:cs typeface="Segoe UI" pitchFamily="34" charset="-120"/>
              </a:rPr>
              <a:t> holds references only</a:t>
            </a:r>
            <a:endParaRPr lang="en-US" sz="800" dirty="0"/>
          </a:p>
        </p:txBody>
      </p:sp>
      <p:sp>
        <p:nvSpPr>
          <p:cNvPr id="13" name="Text 11"/>
          <p:cNvSpPr/>
          <p:nvPr/>
        </p:nvSpPr>
        <p:spPr>
          <a:xfrm>
            <a:off x="3632200" y="2311400"/>
            <a:ext cx="5080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14" name="Text 12"/>
          <p:cNvSpPr/>
          <p:nvPr/>
        </p:nvSpPr>
        <p:spPr>
          <a:xfrm>
            <a:off x="4140200" y="23114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15" name="Text 13"/>
          <p:cNvSpPr/>
          <p:nvPr/>
        </p:nvSpPr>
        <p:spPr>
          <a:xfrm>
            <a:off x="4394200" y="23114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16" name="Text 14"/>
          <p:cNvSpPr/>
          <p:nvPr/>
        </p:nvSpPr>
        <p:spPr>
          <a:xfrm>
            <a:off x="4648200" y="2311400"/>
            <a:ext cx="2540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pad</a:t>
            </a:r>
            <a:endParaRPr lang="en-US" sz="700" dirty="0"/>
          </a:p>
        </p:txBody>
      </p:sp>
      <p:sp>
        <p:nvSpPr>
          <p:cNvPr id="17" name="Shape 15"/>
          <p:cNvSpPr/>
          <p:nvPr/>
        </p:nvSpPr>
        <p:spPr>
          <a:xfrm>
            <a:off x="1219200" y="1930400"/>
            <a:ext cx="2667000" cy="381000"/>
          </a:xfrm>
          <a:prstGeom prst="line">
            <a:avLst/>
          </a:prstGeom>
          <a:noFill/>
          <a:ln w="12700">
            <a:solidFill>
              <a:srgbClr val="C0392B"/>
            </a:solidFill>
            <a:prstDash val="solid"/>
            <a:tailEnd type="triangle"/>
          </a:ln>
        </p:spPr>
      </p:sp>
      <p:sp>
        <p:nvSpPr>
          <p:cNvPr id="18" name="Text 16"/>
          <p:cNvSpPr/>
          <p:nvPr/>
        </p:nvSpPr>
        <p:spPr>
          <a:xfrm>
            <a:off x="660400" y="2768600"/>
            <a:ext cx="5080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19" name="Text 17"/>
          <p:cNvSpPr/>
          <p:nvPr/>
        </p:nvSpPr>
        <p:spPr>
          <a:xfrm>
            <a:off x="1168400" y="27686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20" name="Text 18"/>
          <p:cNvSpPr/>
          <p:nvPr/>
        </p:nvSpPr>
        <p:spPr>
          <a:xfrm>
            <a:off x="1422400" y="27686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21" name="Text 19"/>
          <p:cNvSpPr/>
          <p:nvPr/>
        </p:nvSpPr>
        <p:spPr>
          <a:xfrm>
            <a:off x="1676400" y="2768600"/>
            <a:ext cx="2540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pad</a:t>
            </a:r>
            <a:endParaRPr lang="en-US" sz="700" dirty="0"/>
          </a:p>
        </p:txBody>
      </p:sp>
      <p:sp>
        <p:nvSpPr>
          <p:cNvPr id="22" name="Shape 20"/>
          <p:cNvSpPr/>
          <p:nvPr/>
        </p:nvSpPr>
        <p:spPr>
          <a:xfrm flipH="1">
            <a:off x="914400" y="1930400"/>
            <a:ext cx="812800" cy="838200"/>
          </a:xfrm>
          <a:prstGeom prst="line">
            <a:avLst/>
          </a:prstGeom>
          <a:noFill/>
          <a:ln w="12700">
            <a:solidFill>
              <a:srgbClr val="C0392B"/>
            </a:solidFill>
            <a:prstDash val="solid"/>
            <a:tailEnd type="triangle"/>
          </a:ln>
        </p:spPr>
      </p:sp>
      <p:sp>
        <p:nvSpPr>
          <p:cNvPr id="23" name="Text 21"/>
          <p:cNvSpPr/>
          <p:nvPr/>
        </p:nvSpPr>
        <p:spPr>
          <a:xfrm>
            <a:off x="4495800" y="2971800"/>
            <a:ext cx="5080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24" name="Text 22"/>
          <p:cNvSpPr/>
          <p:nvPr/>
        </p:nvSpPr>
        <p:spPr>
          <a:xfrm>
            <a:off x="5003800" y="29718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25" name="Text 23"/>
          <p:cNvSpPr/>
          <p:nvPr/>
        </p:nvSpPr>
        <p:spPr>
          <a:xfrm>
            <a:off x="5257800" y="29718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26" name="Text 24"/>
          <p:cNvSpPr/>
          <p:nvPr/>
        </p:nvSpPr>
        <p:spPr>
          <a:xfrm>
            <a:off x="5511800" y="2971800"/>
            <a:ext cx="2540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pad</a:t>
            </a:r>
            <a:endParaRPr lang="en-US" sz="700" dirty="0"/>
          </a:p>
        </p:txBody>
      </p:sp>
      <p:sp>
        <p:nvSpPr>
          <p:cNvPr id="27" name="Shape 25"/>
          <p:cNvSpPr/>
          <p:nvPr/>
        </p:nvSpPr>
        <p:spPr>
          <a:xfrm>
            <a:off x="2235200" y="1930400"/>
            <a:ext cx="2514600" cy="1041400"/>
          </a:xfrm>
          <a:prstGeom prst="line">
            <a:avLst/>
          </a:prstGeom>
          <a:noFill/>
          <a:ln w="12700">
            <a:solidFill>
              <a:srgbClr val="C0392B"/>
            </a:solidFill>
            <a:prstDash val="solid"/>
            <a:tailEnd type="triangle"/>
          </a:ln>
        </p:spPr>
      </p:sp>
      <p:sp>
        <p:nvSpPr>
          <p:cNvPr id="28" name="Text 26"/>
          <p:cNvSpPr/>
          <p:nvPr/>
        </p:nvSpPr>
        <p:spPr>
          <a:xfrm>
            <a:off x="2362200" y="3251200"/>
            <a:ext cx="508000" cy="203200"/>
          </a:xfrm>
          <a:prstGeom prst="rect">
            <a:avLst/>
          </a:prstGeom>
          <a:solidFill>
            <a:srgbClr val="E76F00"/>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hdr 8</a:t>
            </a:r>
            <a:endParaRPr lang="en-US" sz="700" dirty="0"/>
          </a:p>
        </p:txBody>
      </p:sp>
      <p:sp>
        <p:nvSpPr>
          <p:cNvPr id="29" name="Text 27"/>
          <p:cNvSpPr/>
          <p:nvPr/>
        </p:nvSpPr>
        <p:spPr>
          <a:xfrm>
            <a:off x="2870200" y="32512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30" name="Text 28"/>
          <p:cNvSpPr/>
          <p:nvPr/>
        </p:nvSpPr>
        <p:spPr>
          <a:xfrm>
            <a:off x="3124200" y="3251200"/>
            <a:ext cx="2540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31" name="Text 29"/>
          <p:cNvSpPr/>
          <p:nvPr/>
        </p:nvSpPr>
        <p:spPr>
          <a:xfrm>
            <a:off x="3378200" y="3251200"/>
            <a:ext cx="2540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pad</a:t>
            </a:r>
            <a:endParaRPr lang="en-US" sz="700" dirty="0"/>
          </a:p>
        </p:txBody>
      </p:sp>
      <p:sp>
        <p:nvSpPr>
          <p:cNvPr id="32" name="Shape 30"/>
          <p:cNvSpPr/>
          <p:nvPr/>
        </p:nvSpPr>
        <p:spPr>
          <a:xfrm flipH="1">
            <a:off x="2616200" y="1930400"/>
            <a:ext cx="127000" cy="1320800"/>
          </a:xfrm>
          <a:prstGeom prst="line">
            <a:avLst/>
          </a:prstGeom>
          <a:noFill/>
          <a:ln w="12700">
            <a:solidFill>
              <a:srgbClr val="C0392B"/>
            </a:solidFill>
            <a:prstDash val="solid"/>
            <a:tailEnd type="triangle"/>
          </a:ln>
        </p:spPr>
      </p:sp>
      <p:sp>
        <p:nvSpPr>
          <p:cNvPr id="33" name="Text 31"/>
          <p:cNvSpPr txBox="1"/>
          <p:nvPr/>
        </p:nvSpPr>
        <p:spPr>
          <a:xfrm>
            <a:off x="609600" y="3530600"/>
            <a:ext cx="5232400" cy="152400"/>
          </a:xfrm>
          <a:prstGeom prst="rect">
            <a:avLst/>
          </a:prstGeom>
          <a:noFill/>
          <a:ln/>
        </p:spPr>
        <p:txBody>
          <a:bodyPr wrap="square" lIns="0" tIns="0" rIns="0" bIns="0" rtlCol="0" anchor="t"/>
          <a:lstStyle/>
          <a:p>
            <a:pPr indent="0" marL="0">
              <a:buNone/>
            </a:pPr>
            <a:r>
              <a:rPr lang="en-US" sz="800" dirty="0">
                <a:solidFill>
                  <a:srgbClr val="C0392B"/>
                </a:solidFill>
                <a:latin typeface="Segoe UI" pitchFamily="34" charset="0"/>
                <a:ea typeface="Segoe UI" pitchFamily="34" charset="-122"/>
                <a:cs typeface="Segoe UI" pitchFamily="34" charset="-120"/>
              </a:rPr>
              <a:t>per element: load ref → jump to a scattered address (likely cache miss) → read header + fields</a:t>
            </a:r>
            <a:endParaRPr lang="en-US" sz="800" dirty="0"/>
          </a:p>
        </p:txBody>
      </p:sp>
      <p:sp>
        <p:nvSpPr>
          <p:cNvPr id="34" name="Shape 32"/>
          <p:cNvSpPr/>
          <p:nvPr/>
        </p:nvSpPr>
        <p:spPr>
          <a:xfrm>
            <a:off x="6197600" y="1346200"/>
            <a:ext cx="5537200" cy="2413000"/>
          </a:xfrm>
          <a:prstGeom prst="roundRect">
            <a:avLst>
              <a:gd name="adj" fmla="val 3158"/>
            </a:avLst>
          </a:prstGeom>
          <a:solidFill>
            <a:srgbClr val="E8F4EE"/>
          </a:solidFill>
          <a:ln/>
        </p:spPr>
      </p:sp>
      <p:sp>
        <p:nvSpPr>
          <p:cNvPr id="35" name="Text 33"/>
          <p:cNvSpPr txBox="1"/>
          <p:nvPr/>
        </p:nvSpPr>
        <p:spPr>
          <a:xfrm>
            <a:off x="6350000" y="1447800"/>
            <a:ext cx="52324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VALUE OBJECTS: FLATTENED</a:t>
            </a:r>
            <a:endParaRPr lang="en-US" sz="950" dirty="0"/>
          </a:p>
        </p:txBody>
      </p:sp>
      <p:sp>
        <p:nvSpPr>
          <p:cNvPr id="36" name="Text 34"/>
          <p:cNvSpPr/>
          <p:nvPr/>
        </p:nvSpPr>
        <p:spPr>
          <a:xfrm>
            <a:off x="6400800" y="1701800"/>
            <a:ext cx="1320800" cy="254000"/>
          </a:xfrm>
          <a:prstGeom prst="roundRect">
            <a:avLst>
              <a:gd name="adj" fmla="val 20000"/>
            </a:avLst>
          </a:prstGeom>
          <a:solidFill>
            <a:srgbClr val="2E8B57"/>
          </a:solid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CACHE FRIENDLY</a:t>
            </a:r>
            <a:endParaRPr lang="en-US" sz="900" dirty="0"/>
          </a:p>
        </p:txBody>
      </p:sp>
      <p:sp>
        <p:nvSpPr>
          <p:cNvPr id="37" name="Text 35"/>
          <p:cNvSpPr txBox="1"/>
          <p:nvPr/>
        </p:nvSpPr>
        <p:spPr>
          <a:xfrm>
            <a:off x="7823200" y="1752600"/>
            <a:ext cx="3759200" cy="177800"/>
          </a:xfrm>
          <a:prstGeom prst="rect">
            <a:avLst/>
          </a:prstGeom>
          <a:noFill/>
          <a:ln/>
        </p:spPr>
        <p:txBody>
          <a:bodyPr wrap="square" lIns="0" tIns="0" rIns="0" bIns="0" rtlCol="0" anchor="t"/>
          <a:lstStyle/>
          <a:p>
            <a:pPr indent="0" marL="0">
              <a:buNone/>
            </a:pPr>
            <a:r>
              <a:rPr lang="en-US" sz="950" dirty="0">
                <a:solidFill>
                  <a:srgbClr val="2E8B57"/>
                </a:solidFill>
                <a:latin typeface="Segoe UI" pitchFamily="34" charset="0"/>
                <a:ea typeface="Segoe UI" pitchFamily="34" charset="-122"/>
                <a:cs typeface="Segoe UI" pitchFamily="34" charset="-120"/>
              </a:rPr>
              <a:t>A 64-byte cache line holds </a:t>
            </a:r>
            <a:pPr indent="0" marL="0">
              <a:buNone/>
            </a:pPr>
            <a:r>
              <a:rPr lang="en-US" sz="950" b="1" dirty="0">
                <a:solidFill>
                  <a:srgbClr val="2E8B57"/>
                </a:solidFill>
                <a:latin typeface="Segoe UI" pitchFamily="34" charset="0"/>
                <a:ea typeface="Segoe UI" pitchFamily="34" charset="-122"/>
                <a:cs typeface="Segoe UI" pitchFamily="34" charset="-120"/>
              </a:rPr>
              <a:t>8 elements</a:t>
            </a:r>
            <a:pPr indent="0" marL="0">
              <a:buNone/>
            </a:pPr>
            <a:r>
              <a:rPr lang="en-US" sz="950" dirty="0">
                <a:solidFill>
                  <a:srgbClr val="2E8B57"/>
                </a:solidFill>
                <a:latin typeface="Segoe UI" pitchFamily="34" charset="0"/>
                <a:ea typeface="Segoe UI" pitchFamily="34" charset="-122"/>
                <a:cs typeface="Segoe UI" pitchFamily="34" charset="-120"/>
              </a:rPr>
              <a:t>: one fetch serves 8 iterations.</a:t>
            </a:r>
            <a:endParaRPr lang="en-US" sz="950" dirty="0"/>
          </a:p>
        </p:txBody>
      </p:sp>
      <p:sp>
        <p:nvSpPr>
          <p:cNvPr id="38" name="Text 36"/>
          <p:cNvSpPr/>
          <p:nvPr/>
        </p:nvSpPr>
        <p:spPr>
          <a:xfrm>
            <a:off x="6400800" y="2184400"/>
            <a:ext cx="304800" cy="203200"/>
          </a:xfrm>
          <a:prstGeom prst="rect">
            <a:avLst/>
          </a:prstGeom>
          <a:solidFill>
            <a:srgbClr val="C9CED8"/>
          </a:solidFill>
          <a:ln w="9525">
            <a:solidFill>
              <a:srgbClr val="FFFFFF"/>
            </a:solidFill>
          </a:ln>
        </p:spPr>
        <p:txBody>
          <a:bodyPr wrap="square" lIns="0" tIns="0" rIns="0" bIns="0" rtlCol="0" anchor="ctr"/>
          <a:lstStyle/>
          <a:p>
            <a:pPr algn="ctr" indent="0" marL="0">
              <a:buNone/>
            </a:pPr>
            <a:r>
              <a:rPr lang="en-US" sz="700" b="1" dirty="0">
                <a:solidFill>
                  <a:srgbClr val="5B6475"/>
                </a:solidFill>
                <a:latin typeface="Segoe UI" pitchFamily="34" charset="0"/>
                <a:ea typeface="Segoe UI" pitchFamily="34" charset="-122"/>
                <a:cs typeface="Segoe UI" pitchFamily="34" charset="-120"/>
              </a:rPr>
              <a:t>hdr</a:t>
            </a:r>
            <a:endParaRPr lang="en-US" sz="700" dirty="0"/>
          </a:p>
        </p:txBody>
      </p:sp>
      <p:sp>
        <p:nvSpPr>
          <p:cNvPr id="39" name="Text 37"/>
          <p:cNvSpPr/>
          <p:nvPr/>
        </p:nvSpPr>
        <p:spPr>
          <a:xfrm>
            <a:off x="67056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0" name="Text 38"/>
          <p:cNvSpPr/>
          <p:nvPr/>
        </p:nvSpPr>
        <p:spPr>
          <a:xfrm>
            <a:off x="69342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1" name="Text 39"/>
          <p:cNvSpPr/>
          <p:nvPr/>
        </p:nvSpPr>
        <p:spPr>
          <a:xfrm>
            <a:off x="71628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42" name="Text 40"/>
          <p:cNvSpPr/>
          <p:nvPr/>
        </p:nvSpPr>
        <p:spPr>
          <a:xfrm>
            <a:off x="72898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3" name="Text 41"/>
          <p:cNvSpPr/>
          <p:nvPr/>
        </p:nvSpPr>
        <p:spPr>
          <a:xfrm>
            <a:off x="75184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4" name="Text 42"/>
          <p:cNvSpPr/>
          <p:nvPr/>
        </p:nvSpPr>
        <p:spPr>
          <a:xfrm>
            <a:off x="77470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45" name="Text 43"/>
          <p:cNvSpPr/>
          <p:nvPr/>
        </p:nvSpPr>
        <p:spPr>
          <a:xfrm>
            <a:off x="78740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6" name="Text 44"/>
          <p:cNvSpPr/>
          <p:nvPr/>
        </p:nvSpPr>
        <p:spPr>
          <a:xfrm>
            <a:off x="81026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47" name="Text 45"/>
          <p:cNvSpPr/>
          <p:nvPr/>
        </p:nvSpPr>
        <p:spPr>
          <a:xfrm>
            <a:off x="83312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48" name="Text 46"/>
          <p:cNvSpPr/>
          <p:nvPr/>
        </p:nvSpPr>
        <p:spPr>
          <a:xfrm>
            <a:off x="84582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49" name="Text 47"/>
          <p:cNvSpPr/>
          <p:nvPr/>
        </p:nvSpPr>
        <p:spPr>
          <a:xfrm>
            <a:off x="86868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50" name="Text 48"/>
          <p:cNvSpPr/>
          <p:nvPr/>
        </p:nvSpPr>
        <p:spPr>
          <a:xfrm>
            <a:off x="89154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51" name="Text 49"/>
          <p:cNvSpPr/>
          <p:nvPr/>
        </p:nvSpPr>
        <p:spPr>
          <a:xfrm>
            <a:off x="90424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52" name="Text 50"/>
          <p:cNvSpPr/>
          <p:nvPr/>
        </p:nvSpPr>
        <p:spPr>
          <a:xfrm>
            <a:off x="92710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53" name="Text 51"/>
          <p:cNvSpPr/>
          <p:nvPr/>
        </p:nvSpPr>
        <p:spPr>
          <a:xfrm>
            <a:off x="94996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54" name="Text 52"/>
          <p:cNvSpPr/>
          <p:nvPr/>
        </p:nvSpPr>
        <p:spPr>
          <a:xfrm>
            <a:off x="96266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55" name="Text 53"/>
          <p:cNvSpPr/>
          <p:nvPr/>
        </p:nvSpPr>
        <p:spPr>
          <a:xfrm>
            <a:off x="98552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56" name="Text 54"/>
          <p:cNvSpPr/>
          <p:nvPr/>
        </p:nvSpPr>
        <p:spPr>
          <a:xfrm>
            <a:off x="100838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57" name="Text 55"/>
          <p:cNvSpPr/>
          <p:nvPr/>
        </p:nvSpPr>
        <p:spPr>
          <a:xfrm>
            <a:off x="102108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58" name="Text 56"/>
          <p:cNvSpPr/>
          <p:nvPr/>
        </p:nvSpPr>
        <p:spPr>
          <a:xfrm>
            <a:off x="104394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59" name="Text 57"/>
          <p:cNvSpPr/>
          <p:nvPr/>
        </p:nvSpPr>
        <p:spPr>
          <a:xfrm>
            <a:off x="106680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60" name="Text 58"/>
          <p:cNvSpPr/>
          <p:nvPr/>
        </p:nvSpPr>
        <p:spPr>
          <a:xfrm>
            <a:off x="107950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x</a:t>
            </a:r>
            <a:endParaRPr lang="en-US" sz="700" dirty="0"/>
          </a:p>
        </p:txBody>
      </p:sp>
      <p:sp>
        <p:nvSpPr>
          <p:cNvPr id="61" name="Text 59"/>
          <p:cNvSpPr/>
          <p:nvPr/>
        </p:nvSpPr>
        <p:spPr>
          <a:xfrm>
            <a:off x="11023600" y="2184400"/>
            <a:ext cx="228600" cy="203200"/>
          </a:xfrm>
          <a:prstGeom prst="rect">
            <a:avLst/>
          </a:prstGeom>
          <a:solidFill>
            <a:srgbClr val="2E8B57"/>
          </a:solidFill>
          <a:ln w="9525">
            <a:solidFill>
              <a:srgbClr val="FFFFFF"/>
            </a:solidFill>
          </a:ln>
        </p:spPr>
        <p:txBody>
          <a:bodyPr wrap="square" lIns="0" tIns="0" rIns="0" bIns="0" rtlCol="0" anchor="ctr"/>
          <a:lstStyle/>
          <a:p>
            <a:pPr algn="ctr" indent="0" marL="0">
              <a:buNone/>
            </a:pPr>
            <a:r>
              <a:rPr lang="en-US" sz="700" b="1" dirty="0">
                <a:solidFill>
                  <a:srgbClr val="FFFFFF"/>
                </a:solidFill>
                <a:latin typeface="Segoe UI" pitchFamily="34" charset="0"/>
                <a:ea typeface="Segoe UI" pitchFamily="34" charset="-122"/>
                <a:cs typeface="Segoe UI" pitchFamily="34" charset="-120"/>
              </a:rPr>
              <a:t>y</a:t>
            </a:r>
            <a:endParaRPr lang="en-US" sz="700" dirty="0"/>
          </a:p>
        </p:txBody>
      </p:sp>
      <p:sp>
        <p:nvSpPr>
          <p:cNvPr id="62" name="Text 60"/>
          <p:cNvSpPr/>
          <p:nvPr/>
        </p:nvSpPr>
        <p:spPr>
          <a:xfrm>
            <a:off x="11252200" y="2184400"/>
            <a:ext cx="127000" cy="203200"/>
          </a:xfrm>
          <a:prstGeom prst="rect">
            <a:avLst/>
          </a:prstGeom>
          <a:solidFill>
            <a:srgbClr val="A8D5BA"/>
          </a:solidFill>
          <a:ln w="9525">
            <a:solidFill>
              <a:srgbClr val="FFFFFF"/>
            </a:solidFill>
          </a:ln>
        </p:spPr>
        <p:txBody>
          <a:bodyPr wrap="square" lIns="0" tIns="0" rIns="0" bIns="0" rtlCol="0" anchor="ctr"/>
          <a:lstStyle/>
          <a:p>
            <a:pPr algn="ctr" indent="0" marL="0">
              <a:buNone/>
            </a:pPr>
            <a:endParaRPr lang="en-US" sz="700" dirty="0"/>
          </a:p>
        </p:txBody>
      </p:sp>
      <p:sp>
        <p:nvSpPr>
          <p:cNvPr id="63" name="Shape 61"/>
          <p:cNvSpPr/>
          <p:nvPr/>
        </p:nvSpPr>
        <p:spPr>
          <a:xfrm>
            <a:off x="6705600" y="2540000"/>
            <a:ext cx="4673600" cy="0"/>
          </a:xfrm>
          <a:prstGeom prst="line">
            <a:avLst/>
          </a:prstGeom>
          <a:noFill/>
          <a:ln w="25400">
            <a:solidFill>
              <a:srgbClr val="2E8B57"/>
            </a:solidFill>
            <a:prstDash val="solid"/>
            <a:tailEnd type="triangle"/>
          </a:ln>
        </p:spPr>
      </p:sp>
      <p:sp>
        <p:nvSpPr>
          <p:cNvPr id="64" name="Text 62"/>
          <p:cNvSpPr txBox="1"/>
          <p:nvPr/>
        </p:nvSpPr>
        <p:spPr>
          <a:xfrm>
            <a:off x="6705600" y="2616200"/>
            <a:ext cx="4826000" cy="152400"/>
          </a:xfrm>
          <a:prstGeom prst="rect">
            <a:avLst/>
          </a:prstGeom>
          <a:noFill/>
          <a:ln/>
        </p:spPr>
        <p:txBody>
          <a:bodyPr wrap="square" lIns="0" tIns="0" rIns="0" bIns="0" rtlCol="0" anchor="t"/>
          <a:lstStyle/>
          <a:p>
            <a:pPr indent="0" marL="0">
              <a:buNone/>
            </a:pPr>
            <a:r>
              <a:rPr lang="en-US" sz="850" b="1" dirty="0">
                <a:solidFill>
                  <a:srgbClr val="2E8B57"/>
                </a:solidFill>
                <a:latin typeface="Segoe UI" pitchFamily="34" charset="0"/>
                <a:ea typeface="Segoe UI" pitchFamily="34" charset="-122"/>
                <a:cs typeface="Segoe UI" pitchFamily="34" charset="-120"/>
              </a:rPr>
              <a:t>one sequential scan; the CPU prefetches the next elements</a:t>
            </a:r>
            <a:endParaRPr lang="en-US" sz="850" dirty="0"/>
          </a:p>
        </p:txBody>
      </p:sp>
      <p:sp>
        <p:nvSpPr>
          <p:cNvPr id="65" name="Text 63"/>
          <p:cNvSpPr txBox="1"/>
          <p:nvPr/>
        </p:nvSpPr>
        <p:spPr>
          <a:xfrm>
            <a:off x="6400800" y="2895600"/>
            <a:ext cx="5130800" cy="330200"/>
          </a:xfrm>
          <a:prstGeom prst="rect">
            <a:avLst/>
          </a:prstGeom>
          <a:noFill/>
          <a:ln/>
        </p:spPr>
        <p:txBody>
          <a:bodyPr wrap="square" lIns="0" tIns="0" rIns="0" bIns="0" rtlCol="0" anchor="t"/>
          <a:lstStyle/>
          <a:p>
            <a:pPr indent="0" marL="0">
              <a:buNone/>
            </a:pPr>
            <a:r>
              <a:rPr lang="en-US" sz="850" dirty="0">
                <a:solidFill>
                  <a:srgbClr val="1F2430"/>
                </a:solidFill>
                <a:latin typeface="Consolas" pitchFamily="34" charset="0"/>
                <a:ea typeface="Consolas" pitchFamily="34" charset="-122"/>
                <a:cs typeface="Consolas" pitchFamily="34" charset="-120"/>
              </a:rPr>
              <a:t>Point[]</a:t>
            </a:r>
            <a:pPr indent="0" marL="0">
              <a:buNone/>
            </a:pPr>
            <a:r>
              <a:rPr lang="en-US" sz="850" dirty="0">
                <a:solidFill>
                  <a:srgbClr val="1F2430"/>
                </a:solidFill>
                <a:latin typeface="Segoe UI" pitchFamily="34" charset="0"/>
                <a:ea typeface="Segoe UI" pitchFamily="34" charset="-122"/>
                <a:cs typeface="Segoe UI" pitchFamily="34" charset="-120"/>
              </a:rPr>
              <a:t> holds the values: no references, no per-element headers, one allocation. Light cells = null flag and padding (8 B per element).</a:t>
            </a:r>
            <a:endParaRPr lang="en-US" sz="850" dirty="0"/>
          </a:p>
        </p:txBody>
      </p:sp>
      <p:sp>
        <p:nvSpPr>
          <p:cNvPr id="66" name="Text 64"/>
          <p:cNvSpPr txBox="1"/>
          <p:nvPr/>
        </p:nvSpPr>
        <p:spPr>
          <a:xfrm>
            <a:off x="6350000" y="3530600"/>
            <a:ext cx="5232400" cy="152400"/>
          </a:xfrm>
          <a:prstGeom prst="rect">
            <a:avLst/>
          </a:prstGeom>
          <a:noFill/>
          <a:ln/>
        </p:spPr>
        <p:txBody>
          <a:bodyPr wrap="square" lIns="0" tIns="0" rIns="0" bIns="0" rtlCol="0" anchor="t"/>
          <a:lstStyle/>
          <a:p>
            <a:pPr indent="0" marL="0">
              <a:buNone/>
            </a:pPr>
            <a:r>
              <a:rPr lang="en-US" sz="800" dirty="0">
                <a:solidFill>
                  <a:srgbClr val="2E8B57"/>
                </a:solidFill>
                <a:latin typeface="Segoe UI" pitchFamily="34" charset="0"/>
                <a:ea typeface="Segoe UI" pitchFamily="34" charset="-122"/>
                <a:cs typeface="Segoe UI" pitchFamily="34" charset="-120"/>
              </a:rPr>
              <a:t>per element: read x, y from the next 8 bytes</a:t>
            </a:r>
            <a:endParaRPr lang="en-US" sz="800" dirty="0"/>
          </a:p>
        </p:txBody>
      </p:sp>
      <p:sp>
        <p:nvSpPr>
          <p:cNvPr id="67" name="Text 65"/>
          <p:cNvSpPr txBox="1"/>
          <p:nvPr/>
        </p:nvSpPr>
        <p:spPr>
          <a:xfrm>
            <a:off x="457200" y="3962400"/>
            <a:ext cx="50800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BENEFITS</a:t>
            </a:r>
            <a:endParaRPr lang="en-US" sz="950" dirty="0"/>
          </a:p>
        </p:txBody>
      </p:sp>
      <p:sp>
        <p:nvSpPr>
          <p:cNvPr id="68" name="bullets-7A4FB5-vbenefit"/>
          <p:cNvSpPr txBox="1"/>
          <p:nvPr/>
        </p:nvSpPr>
        <p:spPr>
          <a:xfrm>
            <a:off x="457200" y="4165600"/>
            <a:ext cx="5537200" cy="2159000"/>
          </a:xfrm>
          <a:prstGeom prst="rect">
            <a:avLst/>
          </a:prstGeom>
          <a:noFill/>
          <a:ln/>
        </p:spPr>
        <p:txBody>
          <a:bodyPr wrap="square" lIns="0" tIns="0" rIns="0" bIns="0" rtlCol="0" anchor="t"/>
          <a:lstStyle/>
          <a:p>
            <a:pPr marL="165100" indent="-165100">
              <a:lnSpc>
                <a:spcPct val="105000"/>
              </a:lnSpc>
              <a:spcAft>
                <a:spcPts val="400"/>
              </a:spcAft>
              <a:buClr>
                <a:srgbClr val="7A4FB5"/>
              </a:buClr>
              <a:buSzPct val="100000"/>
              <a:buChar char="●"/>
            </a:pPr>
            <a:r>
              <a:rPr lang="en-US" sz="1000" b="1" dirty="0">
                <a:solidFill>
                  <a:srgbClr val="1F2430"/>
                </a:solidFill>
                <a:latin typeface="Segoe UI" pitchFamily="34" charset="0"/>
                <a:ea typeface="Segoe UI" pitchFamily="34" charset="-122"/>
                <a:cs typeface="Segoe UI" pitchFamily="34" charset="-120"/>
              </a:rPr>
              <a:t>Density:</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no header and no reference per element, so more data fits in memory and in cache.</a:t>
            </a:r>
            <a:endParaRPr lang="en-US" sz="1000" dirty="0"/>
          </a:p>
          <a:p>
            <a:pPr marL="165100" indent="-165100">
              <a:lnSpc>
                <a:spcPct val="105000"/>
              </a:lnSpc>
              <a:spcAft>
                <a:spcPts val="400"/>
              </a:spcAft>
              <a:buClr>
                <a:srgbClr val="7A4FB5"/>
              </a:buClr>
              <a:buSzPct val="100000"/>
              <a:buChar char="●"/>
            </a:pPr>
            <a:r>
              <a:rPr lang="en-US" sz="1000" b="1" dirty="0">
                <a:solidFill>
                  <a:srgbClr val="1F2430"/>
                </a:solidFill>
                <a:latin typeface="Segoe UI" pitchFamily="34" charset="0"/>
                <a:ea typeface="Segoe UI" pitchFamily="34" charset="-122"/>
                <a:cs typeface="Segoe UI" pitchFamily="34" charset="-120"/>
              </a:rPr>
              <a:t>Locality:</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elements sit side by side, so the CPU streams them instead of chasing pointers.</a:t>
            </a:r>
            <a:endParaRPr lang="en-US" sz="1000" dirty="0"/>
          </a:p>
          <a:p>
            <a:pPr marL="165100" indent="-165100">
              <a:lnSpc>
                <a:spcPct val="105000"/>
              </a:lnSpc>
              <a:spcAft>
                <a:spcPts val="400"/>
              </a:spcAft>
              <a:buClr>
                <a:srgbClr val="7A4FB5"/>
              </a:buClr>
              <a:buSzPct val="100000"/>
              <a:buChar char="●"/>
            </a:pPr>
            <a:r>
              <a:rPr lang="en-US" sz="1000" b="1" dirty="0">
                <a:solidFill>
                  <a:srgbClr val="1F2430"/>
                </a:solidFill>
                <a:latin typeface="Segoe UI" pitchFamily="34" charset="0"/>
                <a:ea typeface="Segoe UI" pitchFamily="34" charset="-122"/>
                <a:cs typeface="Segoe UI" pitchFamily="34" charset="-120"/>
              </a:rPr>
              <a:t>Less GC:</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one array instead of a million objects to allocate, trace and move.</a:t>
            </a:r>
            <a:endParaRPr lang="en-US" sz="1000" dirty="0"/>
          </a:p>
          <a:p>
            <a:pPr marL="165100" indent="-165100">
              <a:lnSpc>
                <a:spcPct val="105000"/>
              </a:lnSpc>
              <a:spcAft>
                <a:spcPts val="400"/>
              </a:spcAft>
              <a:buClr>
                <a:srgbClr val="7A4FB5"/>
              </a:buClr>
              <a:buSzPct val="100000"/>
              <a:buChar char="●"/>
            </a:pPr>
            <a:r>
              <a:rPr lang="en-US" sz="1000" b="1" dirty="0">
                <a:solidFill>
                  <a:srgbClr val="1F2430"/>
                </a:solidFill>
                <a:latin typeface="Segoe UI" pitchFamily="34" charset="0"/>
                <a:ea typeface="Segoe UI" pitchFamily="34" charset="-122"/>
                <a:cs typeface="Segoe UI" pitchFamily="34" charset="-120"/>
              </a:rPr>
              <a:t>Scalarization:</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the JIT can keep short-lived values in registers, with no allocation at all.</a:t>
            </a:r>
            <a:endParaRPr lang="en-US" sz="1000" dirty="0"/>
          </a:p>
          <a:p>
            <a:pPr marL="165100" indent="-165100">
              <a:lnSpc>
                <a:spcPct val="105000"/>
              </a:lnSpc>
              <a:spcAft>
                <a:spcPts val="400"/>
              </a:spcAft>
              <a:buClr>
                <a:srgbClr val="7A4FB5"/>
              </a:buClr>
              <a:buSzPct val="100000"/>
              <a:buChar char="●"/>
            </a:pPr>
            <a:r>
              <a:rPr lang="en-US" sz="1000" b="1" dirty="0">
                <a:solidFill>
                  <a:srgbClr val="1F2430"/>
                </a:solidFill>
                <a:latin typeface="Segoe UI" pitchFamily="34" charset="0"/>
                <a:ea typeface="Segoe UI" pitchFamily="34" charset="-122"/>
                <a:cs typeface="Segoe UI" pitchFamily="34" charset="-120"/>
              </a:rPr>
              <a:t>Value semantics:</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compares contents, and values are immutable and safe to share.</a:t>
            </a:r>
            <a:endParaRPr lang="en-US" sz="1000" dirty="0"/>
          </a:p>
        </p:txBody>
      </p:sp>
      <p:sp>
        <p:nvSpPr>
          <p:cNvPr id="69" name="Text 67"/>
          <p:cNvSpPr txBox="1"/>
          <p:nvPr/>
        </p:nvSpPr>
        <p:spPr>
          <a:xfrm>
            <a:off x="6197600" y="3962400"/>
            <a:ext cx="55372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MEASURED: 1M POINTS OF (SHORT X, SHORT Y)</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97600" y="4165600"/>
          <a:ext cx="5537200" cy="914400"/>
        </p:xfrm>
        <a:graphic>
          <a:graphicData uri="http://schemas.openxmlformats.org/drawingml/2006/table">
            <a:tbl>
              <a:tblPr/>
              <a:tblGrid>
                <a:gridCol w="1168400"/>
                <a:gridCol w="2489200"/>
                <a:gridCol w="1879600"/>
              </a:tblGrid>
              <a:tr h="0">
                <a:tc>
                  <a:txBody>
                    <a:bodyPr/>
                    <a:lstStyle/>
                    <a:p>
                      <a:pPr indent="0" marL="0">
                        <a:buNone/>
                      </a:pP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7A4FB5"/>
                          </a:solidFill>
                          <a:latin typeface="Segoe UI" pitchFamily="34" charset="0"/>
                          <a:ea typeface="Segoe UI" pitchFamily="34" charset="-122"/>
                          <a:cs typeface="Segoe UI" pitchFamily="34" charset="-120"/>
                        </a:rPr>
                        <a:t>record</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value record</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Memory</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20 MB</a:t>
                      </a:r>
                      <a:pPr indent="0" marL="0">
                        <a:buNone/>
                      </a:pPr>
                      <a:r>
                        <a:rPr lang="en-US" sz="950" dirty="0">
                          <a:solidFill>
                            <a:srgbClr val="1F2430"/>
                          </a:solidFill>
                          <a:latin typeface="Segoe UI" pitchFamily="34" charset="0"/>
                          <a:ea typeface="Segoe UI" pitchFamily="34" charset="-122"/>
                          <a:cs typeface="Segoe UI" pitchFamily="34" charset="-120"/>
                        </a:rPr>
                        <a:t>: refs + 1M objects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8 MB</a:t>
                      </a:r>
                      <a:pPr indent="0" marL="0">
                        <a:buNone/>
                      </a:pPr>
                      <a:r>
                        <a:rPr lang="en-US" sz="950" dirty="0">
                          <a:solidFill>
                            <a:srgbClr val="2E8B57"/>
                          </a:solidFill>
                          <a:latin typeface="Segoe UI" pitchFamily="34" charset="0"/>
                          <a:ea typeface="Segoe UI" pitchFamily="34" charset="-122"/>
                          <a:cs typeface="Segoe UI" pitchFamily="34" charset="-120"/>
                        </a:rPr>
                        <a:t>: one flat array</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Sum 10M points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1F2430"/>
                          </a:solidFill>
                          <a:latin typeface="Segoe UI" pitchFamily="34" charset="0"/>
                          <a:ea typeface="Segoe UI" pitchFamily="34" charset="-122"/>
                          <a:cs typeface="Segoe UI" pitchFamily="34" charset="-120"/>
                        </a:rPr>
                        <a:t>80–123 ms</a:t>
                      </a:r>
                      <a:pPr indent="0" marL="0">
                        <a:buNone/>
                      </a:pPr>
                      <a:r>
                        <a:rPr lang="en-US" sz="950" dirty="0">
                          <a:solidFill>
                            <a:srgbClr val="1F2430"/>
                          </a:solidFill>
                          <a:latin typeface="Segoe UI" pitchFamily="34" charset="0"/>
                          <a:ea typeface="Segoe UI" pitchFamily="34" charset="-122"/>
                          <a:cs typeface="Segoe UI" pitchFamily="34" charset="-120"/>
                        </a:rPr>
                        <a:t> scattered; 11 ms in allocation order</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950" b="1" dirty="0">
                          <a:solidFill>
                            <a:srgbClr val="2E8B57"/>
                          </a:solidFill>
                          <a:latin typeface="Segoe UI" pitchFamily="34" charset="0"/>
                          <a:ea typeface="Segoe UI" pitchFamily="34" charset="-122"/>
                          <a:cs typeface="Segoe UI" pitchFamily="34" charset="-120"/>
                        </a:rPr>
                        <a:t>10 ms</a:t>
                      </a:r>
                      <a:endParaRPr lang="en-US" sz="9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71" name="Shape 68"/>
          <p:cNvSpPr/>
          <p:nvPr/>
        </p:nvSpPr>
        <p:spPr>
          <a:xfrm>
            <a:off x="6197600" y="5257800"/>
            <a:ext cx="5537200" cy="863600"/>
          </a:xfrm>
          <a:prstGeom prst="roundRect">
            <a:avLst>
              <a:gd name="adj" fmla="val 8824"/>
            </a:avLst>
          </a:prstGeom>
          <a:solidFill>
            <a:srgbClr val="FDEBDC"/>
          </a:solidFill>
          <a:ln/>
        </p:spPr>
      </p:sp>
      <p:sp>
        <p:nvSpPr>
          <p:cNvPr id="72" name="Text 69"/>
          <p:cNvSpPr txBox="1"/>
          <p:nvPr/>
        </p:nvSpPr>
        <p:spPr>
          <a:xfrm>
            <a:off x="6350000" y="5359400"/>
            <a:ext cx="52324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NOT GUARANTEED</a:t>
            </a:r>
            <a:endParaRPr lang="en-US" sz="950" dirty="0"/>
          </a:p>
        </p:txBody>
      </p:sp>
      <p:sp>
        <p:nvSpPr>
          <p:cNvPr id="73" name="Text 70"/>
          <p:cNvSpPr txBox="1"/>
          <p:nvPr/>
        </p:nvSpPr>
        <p:spPr>
          <a:xfrm>
            <a:off x="6350000" y="5562600"/>
            <a:ext cx="5232400" cy="711200"/>
          </a:xfrm>
          <a:prstGeom prst="rect">
            <a:avLst/>
          </a:prstGeom>
          <a:noFill/>
          <a:ln/>
        </p:spPr>
        <p:txBody>
          <a:bodyPr wrap="square" lIns="0" tIns="0" rIns="0" bIns="0" rtlCol="0" anchor="t"/>
          <a:lstStyle/>
          <a:p>
            <a:pPr indent="0" marL="0">
              <a:buNone/>
            </a:pPr>
            <a:r>
              <a:rPr lang="en-US" sz="900" dirty="0">
                <a:solidFill>
                  <a:srgbClr val="1F2430"/>
                </a:solidFill>
                <a:latin typeface="Segoe UI" pitchFamily="34" charset="0"/>
                <a:ea typeface="Segoe UI" pitchFamily="34" charset="-122"/>
                <a:cs typeface="Segoe UI" pitchFamily="34" charset="-120"/>
              </a:rPr>
              <a:t>Flattening is a JVM optimization. In this build </a:t>
            </a:r>
            <a:pPr indent="0" marL="0">
              <a:buNone/>
            </a:pPr>
            <a:r>
              <a:rPr lang="en-US" sz="900" dirty="0">
                <a:solidFill>
                  <a:srgbClr val="1F2430"/>
                </a:solidFill>
                <a:latin typeface="Consolas" pitchFamily="34" charset="0"/>
                <a:ea typeface="Consolas" pitchFamily="34" charset="-122"/>
                <a:cs typeface="Consolas" pitchFamily="34" charset="-120"/>
              </a:rPr>
              <a:t>value record Point(int x, int y)</a:t>
            </a:r>
            <a:pPr indent="0" marL="0">
              <a:buNone/>
            </a:pPr>
            <a:r>
              <a:rPr lang="en-US" sz="900" dirty="0">
                <a:solidFill>
                  <a:srgbClr val="1F2430"/>
                </a:solidFill>
                <a:latin typeface="Segoe UI" pitchFamily="34" charset="0"/>
                <a:ea typeface="Segoe UI" pitchFamily="34" charset="-122"/>
                <a:cs typeface="Segoe UI" pitchFamily="34" charset="-120"/>
              </a:rPr>
              <a:t> was </a:t>
            </a:r>
            <a:pPr indent="0" marL="0">
              <a:buNone/>
            </a:pPr>
            <a:r>
              <a:rPr lang="en-US" sz="900" b="1" dirty="0">
                <a:solidFill>
                  <a:srgbClr val="1F2430"/>
                </a:solidFill>
                <a:latin typeface="Segoe UI" pitchFamily="34" charset="0"/>
                <a:ea typeface="Segoe UI" pitchFamily="34" charset="-122"/>
                <a:cs typeface="Segoe UI" pitchFamily="34" charset="-120"/>
              </a:rPr>
              <a:t>not</a:t>
            </a:r>
            <a:pPr indent="0" marL="0">
              <a:buNone/>
            </a:pPr>
            <a:r>
              <a:rPr lang="en-US" sz="900" dirty="0">
                <a:solidFill>
                  <a:srgbClr val="1F2430"/>
                </a:solidFill>
                <a:latin typeface="Segoe UI" pitchFamily="34" charset="0"/>
                <a:ea typeface="Segoe UI" pitchFamily="34" charset="-122"/>
                <a:cs typeface="Segoe UI" pitchFamily="34" charset="-120"/>
              </a:rPr>
              <a:t> flattened: 64 bits of fields plus a null flag do not fit one atomic 64-bit slot, so each element stayed a separate heap object.</a:t>
            </a:r>
            <a:endParaRPr lang="en-US" sz="9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Why flattened data is cache friendly</a:t>
            </a:r>
            <a:endParaRPr lang="en-US" sz="2400" dirty="0"/>
          </a:p>
        </p:txBody>
      </p:sp>
      <p:sp>
        <p:nvSpPr>
          <p:cNvPr id="3" name="Text 1"/>
          <p:cNvSpPr/>
          <p:nvPr/>
        </p:nvSpPr>
        <p:spPr>
          <a:xfrm>
            <a:off x="8823960" y="381000"/>
            <a:ext cx="291084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MEASURED · RYZEN 7 3700X · JDK 25</a:t>
            </a:r>
            <a:endParaRPr lang="en-US" sz="1000" dirty="0"/>
          </a:p>
        </p:txBody>
      </p:sp>
      <p:sp>
        <p:nvSpPr>
          <p:cNvPr id="4" name="Text 2"/>
          <p:cNvSpPr txBox="1"/>
          <p:nvPr/>
        </p:nvSpPr>
        <p:spPr>
          <a:xfrm>
            <a:off x="457200" y="812800"/>
            <a:ext cx="9144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The CPU reads memory in </a:t>
            </a:r>
            <a:pPr indent="0" marL="0">
              <a:buNone/>
            </a:pPr>
            <a:r>
              <a:rPr lang="en-US" sz="1200" b="1" dirty="0">
                <a:solidFill>
                  <a:srgbClr val="5B6475"/>
                </a:solidFill>
                <a:latin typeface="Segoe UI" pitchFamily="34" charset="0"/>
                <a:ea typeface="Segoe UI" pitchFamily="34" charset="-122"/>
                <a:cs typeface="Segoe UI" pitchFamily="34" charset="-120"/>
              </a:rPr>
              <a:t>64-byte cache lines</a:t>
            </a:r>
            <a:pPr indent="0" marL="0">
              <a:buNone/>
            </a:pPr>
            <a:r>
              <a:rPr lang="en-US" sz="1200" dirty="0">
                <a:solidFill>
                  <a:srgbClr val="5B6475"/>
                </a:solidFill>
                <a:latin typeface="Segoe UI" pitchFamily="34" charset="0"/>
                <a:ea typeface="Segoe UI" pitchFamily="34" charset="-122"/>
                <a:cs typeface="Segoe UI" pitchFamily="34" charset="-120"/>
              </a:rPr>
              <a:t> through a hierarchy of caches. Flattened data lets it fetch ahead; pointer chasing pays the full latency of whichever level holds the next object, on every hop.</a:t>
            </a:r>
            <a:endParaRPr lang="en-US" sz="1200" dirty="0"/>
          </a:p>
        </p:txBody>
      </p:sp>
      <p:sp>
        <p:nvSpPr>
          <p:cNvPr id="5" name="Text 3"/>
          <p:cNvSpPr txBox="1"/>
          <p:nvPr/>
        </p:nvSpPr>
        <p:spPr>
          <a:xfrm>
            <a:off x="457200" y="1371600"/>
            <a:ext cx="4191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MEMORY HIERARCHY (THIS MACHINE)</a:t>
            </a:r>
            <a:endParaRPr lang="en-US" sz="950" dirty="0"/>
          </a:p>
        </p:txBody>
      </p:sp>
      <p:sp>
        <p:nvSpPr>
          <p:cNvPr id="6" name="Shape 4"/>
          <p:cNvSpPr/>
          <p:nvPr/>
        </p:nvSpPr>
        <p:spPr>
          <a:xfrm>
            <a:off x="1600200" y="1625600"/>
            <a:ext cx="1905000" cy="431800"/>
          </a:xfrm>
          <a:prstGeom prst="roundRect">
            <a:avLst>
              <a:gd name="adj" fmla="val 11765"/>
            </a:avLst>
          </a:prstGeom>
          <a:solidFill>
            <a:srgbClr val="F4F6F9"/>
          </a:solidFill>
          <a:ln/>
        </p:spPr>
      </p:sp>
      <p:sp>
        <p:nvSpPr>
          <p:cNvPr id="7" name="Text 5"/>
          <p:cNvSpPr txBox="1"/>
          <p:nvPr/>
        </p:nvSpPr>
        <p:spPr>
          <a:xfrm>
            <a:off x="1701800" y="1625600"/>
            <a:ext cx="889000" cy="431800"/>
          </a:xfrm>
          <a:prstGeom prst="rect">
            <a:avLst/>
          </a:prstGeom>
          <a:noFill/>
          <a:ln/>
        </p:spPr>
        <p:txBody>
          <a:bodyPr wrap="square" lIns="0" tIns="0" rIns="0" bIns="0" rtlCol="0" anchor="ctr"/>
          <a:lstStyle/>
          <a:p>
            <a:pPr indent="0" marL="0">
              <a:buNone/>
            </a:pPr>
            <a:r>
              <a:rPr lang="en-US" sz="900" b="1" dirty="0">
                <a:solidFill>
                  <a:srgbClr val="1F2430"/>
                </a:solidFill>
                <a:latin typeface="Segoe UI" pitchFamily="34" charset="0"/>
                <a:ea typeface="Segoe UI" pitchFamily="34" charset="-122"/>
                <a:cs typeface="Segoe UI" pitchFamily="34" charset="-120"/>
              </a:rPr>
              <a:t>Core registers</a:t>
            </a:r>
            <a:endParaRPr lang="en-US" sz="900" dirty="0"/>
          </a:p>
        </p:txBody>
      </p:sp>
      <p:sp>
        <p:nvSpPr>
          <p:cNvPr id="8" name="Text 6"/>
          <p:cNvSpPr txBox="1"/>
          <p:nvPr/>
        </p:nvSpPr>
        <p:spPr>
          <a:xfrm>
            <a:off x="2514600" y="1625600"/>
            <a:ext cx="889000" cy="431800"/>
          </a:xfrm>
          <a:prstGeom prst="rect">
            <a:avLst/>
          </a:prstGeom>
          <a:noFill/>
          <a:ln/>
        </p:spPr>
        <p:txBody>
          <a:bodyPr wrap="square" lIns="0" tIns="0" rIns="0" bIns="0" rtlCol="0" anchor="ctr"/>
          <a:lstStyle/>
          <a:p>
            <a:pPr algn="r" indent="0" marL="0">
              <a:buNone/>
            </a:pPr>
            <a:r>
              <a:rPr lang="en-US" sz="950" b="1" dirty="0">
                <a:solidFill>
                  <a:srgbClr val="1F2430"/>
                </a:solidFill>
                <a:latin typeface="Segoe UI" pitchFamily="34" charset="0"/>
                <a:ea typeface="Segoe UI" pitchFamily="34" charset="-122"/>
                <a:cs typeface="Segoe UI" pitchFamily="34" charset="-120"/>
              </a:rPr>
              <a:t>&lt; 1 ns</a:t>
            </a:r>
            <a:endParaRPr lang="en-US" sz="950" dirty="0"/>
          </a:p>
        </p:txBody>
      </p:sp>
      <p:sp>
        <p:nvSpPr>
          <p:cNvPr id="9" name="Shape 7"/>
          <p:cNvSpPr/>
          <p:nvPr/>
        </p:nvSpPr>
        <p:spPr>
          <a:xfrm>
            <a:off x="1282700" y="2133600"/>
            <a:ext cx="2540000" cy="431800"/>
          </a:xfrm>
          <a:prstGeom prst="roundRect">
            <a:avLst>
              <a:gd name="adj" fmla="val 11765"/>
            </a:avLst>
          </a:prstGeom>
          <a:solidFill>
            <a:srgbClr val="D6E6F7"/>
          </a:solidFill>
          <a:ln/>
        </p:spPr>
      </p:sp>
      <p:sp>
        <p:nvSpPr>
          <p:cNvPr id="10" name="Text 8"/>
          <p:cNvSpPr txBox="1"/>
          <p:nvPr/>
        </p:nvSpPr>
        <p:spPr>
          <a:xfrm>
            <a:off x="1384300" y="2133600"/>
            <a:ext cx="1524000" cy="431800"/>
          </a:xfrm>
          <a:prstGeom prst="rect">
            <a:avLst/>
          </a:prstGeom>
          <a:noFill/>
          <a:ln/>
        </p:spPr>
        <p:txBody>
          <a:bodyPr wrap="square" lIns="0" tIns="0" rIns="0" bIns="0" rtlCol="0" anchor="ctr"/>
          <a:lstStyle/>
          <a:p>
            <a:pPr indent="0" marL="0">
              <a:buNone/>
            </a:pPr>
            <a:r>
              <a:rPr lang="en-US" sz="900" b="1" dirty="0">
                <a:solidFill>
                  <a:srgbClr val="1F2430"/>
                </a:solidFill>
                <a:latin typeface="Segoe UI" pitchFamily="34" charset="0"/>
                <a:ea typeface="Segoe UI" pitchFamily="34" charset="-122"/>
                <a:cs typeface="Segoe UI" pitchFamily="34" charset="-120"/>
              </a:rPr>
              <a:t>L1 data cache</a:t>
            </a:r>
            <a:endParaRPr lang="en-US" sz="900" dirty="0"/>
          </a:p>
          <a:p>
            <a:pPr indent="0" marL="0">
              <a:buNone/>
            </a:pPr>
            <a:r>
              <a:rPr lang="en-US" sz="750" dirty="0">
                <a:solidFill>
                  <a:srgbClr val="1F2430"/>
                </a:solidFill>
                <a:latin typeface="Segoe UI" pitchFamily="34" charset="0"/>
                <a:ea typeface="Segoe UI" pitchFamily="34" charset="-122"/>
                <a:cs typeface="Segoe UI" pitchFamily="34" charset="-120"/>
              </a:rPr>
              <a:t>32 KB per core</a:t>
            </a:r>
            <a:endParaRPr lang="en-US" sz="900" dirty="0"/>
          </a:p>
        </p:txBody>
      </p:sp>
      <p:sp>
        <p:nvSpPr>
          <p:cNvPr id="11" name="Text 9"/>
          <p:cNvSpPr txBox="1"/>
          <p:nvPr/>
        </p:nvSpPr>
        <p:spPr>
          <a:xfrm>
            <a:off x="2832100" y="2133600"/>
            <a:ext cx="889000" cy="431800"/>
          </a:xfrm>
          <a:prstGeom prst="rect">
            <a:avLst/>
          </a:prstGeom>
          <a:noFill/>
          <a:ln/>
        </p:spPr>
        <p:txBody>
          <a:bodyPr wrap="square" lIns="0" tIns="0" rIns="0" bIns="0" rtlCol="0" anchor="ctr"/>
          <a:lstStyle/>
          <a:p>
            <a:pPr algn="r" indent="0" marL="0">
              <a:buNone/>
            </a:pPr>
            <a:r>
              <a:rPr lang="en-US" sz="950" b="1" dirty="0">
                <a:solidFill>
                  <a:srgbClr val="1F2430"/>
                </a:solidFill>
                <a:latin typeface="Segoe UI" pitchFamily="34" charset="0"/>
                <a:ea typeface="Segoe UI" pitchFamily="34" charset="-122"/>
                <a:cs typeface="Segoe UI" pitchFamily="34" charset="-120"/>
              </a:rPr>
              <a:t>~1.2 ns</a:t>
            </a:r>
            <a:endParaRPr lang="en-US" sz="950" dirty="0"/>
          </a:p>
        </p:txBody>
      </p:sp>
      <p:sp>
        <p:nvSpPr>
          <p:cNvPr id="12" name="Shape 10"/>
          <p:cNvSpPr/>
          <p:nvPr/>
        </p:nvSpPr>
        <p:spPr>
          <a:xfrm>
            <a:off x="965200" y="2641600"/>
            <a:ext cx="3175000" cy="431800"/>
          </a:xfrm>
          <a:prstGeom prst="roundRect">
            <a:avLst>
              <a:gd name="adj" fmla="val 11765"/>
            </a:avLst>
          </a:prstGeom>
          <a:solidFill>
            <a:srgbClr val="A9C8EA"/>
          </a:solidFill>
          <a:ln/>
        </p:spPr>
      </p:sp>
      <p:sp>
        <p:nvSpPr>
          <p:cNvPr id="13" name="Text 11"/>
          <p:cNvSpPr txBox="1"/>
          <p:nvPr/>
        </p:nvSpPr>
        <p:spPr>
          <a:xfrm>
            <a:off x="1066800" y="2641600"/>
            <a:ext cx="2159000" cy="431800"/>
          </a:xfrm>
          <a:prstGeom prst="rect">
            <a:avLst/>
          </a:prstGeom>
          <a:noFill/>
          <a:ln/>
        </p:spPr>
        <p:txBody>
          <a:bodyPr wrap="square" lIns="0" tIns="0" rIns="0" bIns="0" rtlCol="0" anchor="ctr"/>
          <a:lstStyle/>
          <a:p>
            <a:pPr indent="0" marL="0">
              <a:buNone/>
            </a:pPr>
            <a:r>
              <a:rPr lang="en-US" sz="900" b="1" dirty="0">
                <a:solidFill>
                  <a:srgbClr val="1F2430"/>
                </a:solidFill>
                <a:latin typeface="Segoe UI" pitchFamily="34" charset="0"/>
                <a:ea typeface="Segoe UI" pitchFamily="34" charset="-122"/>
                <a:cs typeface="Segoe UI" pitchFamily="34" charset="-120"/>
              </a:rPr>
              <a:t>L2 cache</a:t>
            </a:r>
            <a:endParaRPr lang="en-US" sz="900" dirty="0"/>
          </a:p>
          <a:p>
            <a:pPr indent="0" marL="0">
              <a:buNone/>
            </a:pPr>
            <a:r>
              <a:rPr lang="en-US" sz="750" dirty="0">
                <a:solidFill>
                  <a:srgbClr val="1F2430"/>
                </a:solidFill>
                <a:latin typeface="Segoe UI" pitchFamily="34" charset="0"/>
                <a:ea typeface="Segoe UI" pitchFamily="34" charset="-122"/>
                <a:cs typeface="Segoe UI" pitchFamily="34" charset="-120"/>
              </a:rPr>
              <a:t>512 KB per core</a:t>
            </a:r>
            <a:endParaRPr lang="en-US" sz="900" dirty="0"/>
          </a:p>
        </p:txBody>
      </p:sp>
      <p:sp>
        <p:nvSpPr>
          <p:cNvPr id="14" name="Text 12"/>
          <p:cNvSpPr txBox="1"/>
          <p:nvPr/>
        </p:nvSpPr>
        <p:spPr>
          <a:xfrm>
            <a:off x="3149600" y="2641600"/>
            <a:ext cx="889000" cy="431800"/>
          </a:xfrm>
          <a:prstGeom prst="rect">
            <a:avLst/>
          </a:prstGeom>
          <a:noFill/>
          <a:ln/>
        </p:spPr>
        <p:txBody>
          <a:bodyPr wrap="square" lIns="0" tIns="0" rIns="0" bIns="0" rtlCol="0" anchor="ctr"/>
          <a:lstStyle/>
          <a:p>
            <a:pPr algn="r" indent="0" marL="0">
              <a:buNone/>
            </a:pPr>
            <a:r>
              <a:rPr lang="en-US" sz="950" b="1" dirty="0">
                <a:solidFill>
                  <a:srgbClr val="1F2430"/>
                </a:solidFill>
                <a:latin typeface="Segoe UI" pitchFamily="34" charset="0"/>
                <a:ea typeface="Segoe UI" pitchFamily="34" charset="-122"/>
                <a:cs typeface="Segoe UI" pitchFamily="34" charset="-120"/>
              </a:rPr>
              <a:t>~3 ns</a:t>
            </a:r>
            <a:endParaRPr lang="en-US" sz="950" dirty="0"/>
          </a:p>
        </p:txBody>
      </p:sp>
      <p:sp>
        <p:nvSpPr>
          <p:cNvPr id="15" name="Shape 13"/>
          <p:cNvSpPr/>
          <p:nvPr/>
        </p:nvSpPr>
        <p:spPr>
          <a:xfrm>
            <a:off x="647700" y="3149600"/>
            <a:ext cx="3810000" cy="431800"/>
          </a:xfrm>
          <a:prstGeom prst="roundRect">
            <a:avLst>
              <a:gd name="adj" fmla="val 11765"/>
            </a:avLst>
          </a:prstGeom>
          <a:solidFill>
            <a:srgbClr val="5B8CC6"/>
          </a:solidFill>
          <a:ln/>
        </p:spPr>
      </p:sp>
      <p:sp>
        <p:nvSpPr>
          <p:cNvPr id="16" name="Text 14"/>
          <p:cNvSpPr txBox="1"/>
          <p:nvPr/>
        </p:nvSpPr>
        <p:spPr>
          <a:xfrm>
            <a:off x="749300" y="3149600"/>
            <a:ext cx="2794000" cy="431800"/>
          </a:xfrm>
          <a:prstGeom prst="rect">
            <a:avLst/>
          </a:prstGeom>
          <a:noFill/>
          <a:ln/>
        </p:spPr>
        <p:txBody>
          <a:bodyPr wrap="square" lIns="0" tIns="0" rIns="0" bIns="0"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L3 cache</a:t>
            </a:r>
            <a:endParaRPr lang="en-US" sz="900" dirty="0"/>
          </a:p>
          <a:p>
            <a:pPr indent="0" marL="0">
              <a:buNone/>
            </a:pPr>
            <a:r>
              <a:rPr lang="en-US" sz="750" dirty="0">
                <a:solidFill>
                  <a:srgbClr val="FFFFFF"/>
                </a:solidFill>
                <a:latin typeface="Segoe UI" pitchFamily="34" charset="0"/>
                <a:ea typeface="Segoe UI" pitchFamily="34" charset="-122"/>
                <a:cs typeface="Segoe UI" pitchFamily="34" charset="-120"/>
              </a:rPr>
              <a:t>32 MB (2 × 16 MB, shared)</a:t>
            </a:r>
            <a:endParaRPr lang="en-US" sz="900" dirty="0"/>
          </a:p>
        </p:txBody>
      </p:sp>
      <p:sp>
        <p:nvSpPr>
          <p:cNvPr id="17" name="Text 15"/>
          <p:cNvSpPr txBox="1"/>
          <p:nvPr/>
        </p:nvSpPr>
        <p:spPr>
          <a:xfrm>
            <a:off x="3467100" y="3149600"/>
            <a:ext cx="889000" cy="431800"/>
          </a:xfrm>
          <a:prstGeom prst="rect">
            <a:avLst/>
          </a:prstGeom>
          <a:noFill/>
          <a:ln/>
        </p:spPr>
        <p:txBody>
          <a:bodyPr wrap="square" lIns="0" tIns="0" rIns="0" bIns="0"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~8–13 ns</a:t>
            </a:r>
            <a:endParaRPr lang="en-US" sz="950" dirty="0"/>
          </a:p>
        </p:txBody>
      </p:sp>
      <p:sp>
        <p:nvSpPr>
          <p:cNvPr id="18" name="Shape 16"/>
          <p:cNvSpPr/>
          <p:nvPr/>
        </p:nvSpPr>
        <p:spPr>
          <a:xfrm>
            <a:off x="457200" y="3657600"/>
            <a:ext cx="4191000" cy="431800"/>
          </a:xfrm>
          <a:prstGeom prst="roundRect">
            <a:avLst>
              <a:gd name="adj" fmla="val 11765"/>
            </a:avLst>
          </a:prstGeom>
          <a:solidFill>
            <a:srgbClr val="2F6FB0"/>
          </a:solidFill>
          <a:ln/>
        </p:spPr>
      </p:sp>
      <p:sp>
        <p:nvSpPr>
          <p:cNvPr id="19" name="Text 17"/>
          <p:cNvSpPr txBox="1"/>
          <p:nvPr/>
        </p:nvSpPr>
        <p:spPr>
          <a:xfrm>
            <a:off x="558800" y="3657600"/>
            <a:ext cx="3175000" cy="431800"/>
          </a:xfrm>
          <a:prstGeom prst="rect">
            <a:avLst/>
          </a:prstGeom>
          <a:noFill/>
          <a:ln/>
        </p:spPr>
        <p:txBody>
          <a:bodyPr wrap="square" lIns="0" tIns="0" rIns="0" bIns="0"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Main memory (DRAM)</a:t>
            </a:r>
            <a:endParaRPr lang="en-US" sz="900" dirty="0"/>
          </a:p>
          <a:p>
            <a:pPr indent="0" marL="0">
              <a:buNone/>
            </a:pPr>
            <a:r>
              <a:rPr lang="en-US" sz="750" dirty="0">
                <a:solidFill>
                  <a:srgbClr val="FFFFFF"/>
                </a:solidFill>
                <a:latin typeface="Segoe UI" pitchFamily="34" charset="0"/>
                <a:ea typeface="Segoe UI" pitchFamily="34" charset="-122"/>
                <a:cs typeface="Segoe UI" pitchFamily="34" charset="-120"/>
              </a:rPr>
              <a:t>GBs</a:t>
            </a:r>
            <a:endParaRPr lang="en-US" sz="900" dirty="0"/>
          </a:p>
        </p:txBody>
      </p:sp>
      <p:sp>
        <p:nvSpPr>
          <p:cNvPr id="20" name="Text 18"/>
          <p:cNvSpPr txBox="1"/>
          <p:nvPr/>
        </p:nvSpPr>
        <p:spPr>
          <a:xfrm>
            <a:off x="3657600" y="3657600"/>
            <a:ext cx="889000" cy="431800"/>
          </a:xfrm>
          <a:prstGeom prst="rect">
            <a:avLst/>
          </a:prstGeom>
          <a:noFill/>
          <a:ln/>
        </p:spPr>
        <p:txBody>
          <a:bodyPr wrap="square" lIns="0" tIns="0" rIns="0" bIns="0"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~100–110 ns</a:t>
            </a:r>
            <a:endParaRPr lang="en-US" sz="950" dirty="0"/>
          </a:p>
        </p:txBody>
      </p:sp>
      <p:sp>
        <p:nvSpPr>
          <p:cNvPr id="21" name="Text 19"/>
          <p:cNvSpPr txBox="1"/>
          <p:nvPr/>
        </p:nvSpPr>
        <p:spPr>
          <a:xfrm>
            <a:off x="457200" y="4191000"/>
            <a:ext cx="4191000" cy="152400"/>
          </a:xfrm>
          <a:prstGeom prst="rect">
            <a:avLst/>
          </a:prstGeom>
          <a:noFill/>
          <a:ln/>
        </p:spPr>
        <p:txBody>
          <a:bodyPr wrap="square" lIns="0" tIns="0" rIns="0" bIns="0" rtlCol="0" anchor="t"/>
          <a:lstStyle/>
          <a:p>
            <a:pPr indent="0" marL="0">
              <a:buNone/>
            </a:pPr>
            <a:r>
              <a:rPr lang="en-US" sz="800" dirty="0">
                <a:solidFill>
                  <a:srgbClr val="5B6475"/>
                </a:solidFill>
                <a:latin typeface="Segoe UI" pitchFamily="34" charset="0"/>
                <a:ea typeface="Segoe UI" pitchFamily="34" charset="-122"/>
                <a:cs typeface="Segoe UI" pitchFamily="34" charset="-120"/>
              </a:rPr>
              <a:t>Latencies measured with a random pointer chase; DRAM is about </a:t>
            </a:r>
            <a:pPr indent="0" marL="0">
              <a:buNone/>
            </a:pPr>
            <a:r>
              <a:rPr lang="en-US" sz="800" b="1" dirty="0">
                <a:solidFill>
                  <a:srgbClr val="5B6475"/>
                </a:solidFill>
                <a:latin typeface="Segoe UI" pitchFamily="34" charset="0"/>
                <a:ea typeface="Segoe UI" pitchFamily="34" charset="-122"/>
                <a:cs typeface="Segoe UI" pitchFamily="34" charset="-120"/>
              </a:rPr>
              <a:t>90×</a:t>
            </a:r>
            <a:pPr indent="0" marL="0">
              <a:buNone/>
            </a:pPr>
            <a:r>
              <a:rPr lang="en-US" sz="800" dirty="0">
                <a:solidFill>
                  <a:srgbClr val="5B6475"/>
                </a:solidFill>
                <a:latin typeface="Segoe UI" pitchFamily="34" charset="0"/>
                <a:ea typeface="Segoe UI" pitchFamily="34" charset="-122"/>
                <a:cs typeface="Segoe UI" pitchFamily="34" charset="-120"/>
              </a:rPr>
              <a:t> slower than L1.</a:t>
            </a:r>
            <a:endParaRPr lang="en-US" sz="800" dirty="0"/>
          </a:p>
        </p:txBody>
      </p:sp>
      <p:sp>
        <p:nvSpPr>
          <p:cNvPr id="22" name="Text 20"/>
          <p:cNvSpPr txBox="1"/>
          <p:nvPr/>
        </p:nvSpPr>
        <p:spPr>
          <a:xfrm>
            <a:off x="4876800" y="1371600"/>
            <a:ext cx="6858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TIME PER ELEMENT VS WORKING-SET SIZE (LOG SCALE)</a:t>
            </a:r>
            <a:endParaRPr lang="en-US" sz="950" dirty="0"/>
          </a:p>
        </p:txBody>
      </p:sp>
      <p:graphicFrame>
        <p:nvGraphicFramePr>
          <p:cNvPr id="23" name="latency chart" descr=""/>
          <p:cNvGraphicFramePr/>
          <p:nvPr/>
        </p:nvGraphicFramePr>
        <p:xfrm>
          <a:off x="4876800" y="1549400"/>
          <a:ext cx="6858000" cy="259080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4876800" y="4191000"/>
            <a:ext cx="6858000" cy="152400"/>
          </a:xfrm>
          <a:prstGeom prst="rect">
            <a:avLst/>
          </a:prstGeom>
          <a:noFill/>
          <a:ln/>
        </p:spPr>
        <p:txBody>
          <a:bodyPr wrap="square" lIns="0" tIns="0" rIns="0" bIns="0" rtlCol="0" anchor="t"/>
          <a:lstStyle/>
          <a:p>
            <a:pPr algn="ctr" indent="0" marL="0">
              <a:buNone/>
            </a:pPr>
            <a:r>
              <a:rPr lang="en-US" sz="800" dirty="0">
                <a:solidFill>
                  <a:srgbClr val="5B6475"/>
                </a:solidFill>
                <a:latin typeface="Segoe UI" pitchFamily="34" charset="0"/>
                <a:ea typeface="Segoe UI" pitchFamily="34" charset="-122"/>
                <a:cs typeface="Segoe UI" pitchFamily="34" charset="-120"/>
              </a:rPr>
              <a:t>Fits in L1 ≤ 32K · L2 ≤ 512K · L3 ≤ 16M per core cluster · beyond that, DRAM</a:t>
            </a:r>
            <a:endParaRPr lang="en-US" sz="800" dirty="0"/>
          </a:p>
        </p:txBody>
      </p:sp>
      <p:sp>
        <p:nvSpPr>
          <p:cNvPr id="25" name="Shape 22"/>
          <p:cNvSpPr/>
          <p:nvPr/>
        </p:nvSpPr>
        <p:spPr>
          <a:xfrm>
            <a:off x="457200" y="4470400"/>
            <a:ext cx="5537200" cy="1879600"/>
          </a:xfrm>
          <a:prstGeom prst="roundRect">
            <a:avLst>
              <a:gd name="adj" fmla="val 4054"/>
            </a:avLst>
          </a:prstGeom>
          <a:solidFill>
            <a:srgbClr val="FDEBDC"/>
          </a:solidFill>
          <a:ln/>
        </p:spPr>
      </p:sp>
      <p:sp>
        <p:nvSpPr>
          <p:cNvPr id="26" name="Text 23"/>
          <p:cNvSpPr txBox="1"/>
          <p:nvPr/>
        </p:nvSpPr>
        <p:spPr>
          <a:xfrm>
            <a:off x="635000" y="4584700"/>
            <a:ext cx="51816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POINTER CHASING: IDENTITY OBJECTS</a:t>
            </a:r>
            <a:endParaRPr lang="en-US" sz="950" dirty="0"/>
          </a:p>
        </p:txBody>
      </p:sp>
      <p:sp>
        <p:nvSpPr>
          <p:cNvPr id="27" name="bullets-E76F00-chase"/>
          <p:cNvSpPr txBox="1"/>
          <p:nvPr/>
        </p:nvSpPr>
        <p:spPr>
          <a:xfrm>
            <a:off x="635000" y="4813300"/>
            <a:ext cx="5181600" cy="1473200"/>
          </a:xfrm>
          <a:prstGeom prst="rect">
            <a:avLst/>
          </a:prstGeom>
          <a:noFill/>
          <a:ln/>
        </p:spPr>
        <p:txBody>
          <a:bodyPr wrap="square" lIns="0" tIns="0" rIns="0" bIns="0" rtlCol="0" anchor="t"/>
          <a:lstStyle/>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The next address is known only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after</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the current load returns, so loads cannot overlap.</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Random addresses defeat the hardware prefetcher.</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On a large heap each hop is a trip to DRAM: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~110 ns</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per element (measured).</a:t>
            </a:r>
            <a:endParaRPr lang="en-US" sz="1000" dirty="0"/>
          </a:p>
          <a:p>
            <a:pPr marL="165100" indent="-165100">
              <a:lnSpc>
                <a:spcPct val="105000"/>
              </a:lnSpc>
              <a:spcAft>
                <a:spcPts val="400"/>
              </a:spcAft>
              <a:buClr>
                <a:srgbClr val="E76F00"/>
              </a:buClr>
              <a:buSzPct val="100000"/>
              <a:buChar char="●"/>
            </a:pPr>
            <a:r>
              <a:rPr lang="en-US" sz="1000" dirty="0">
                <a:solidFill>
                  <a:srgbClr val="1F2430"/>
                </a:solidFill>
                <a:latin typeface="Segoe UI" pitchFamily="34" charset="0"/>
                <a:ea typeface="Segoe UI" pitchFamily="34" charset="-122"/>
                <a:cs typeface="Segoe UI" pitchFamily="34" charset="-120"/>
              </a:rPr>
              <a:t>A whole 64-byte line is fetched to use one small object; the rest of the line is wasted.</a:t>
            </a:r>
            <a:endParaRPr lang="en-US" sz="1000" dirty="0"/>
          </a:p>
        </p:txBody>
      </p:sp>
      <p:sp>
        <p:nvSpPr>
          <p:cNvPr id="28" name="Shape 25"/>
          <p:cNvSpPr/>
          <p:nvPr/>
        </p:nvSpPr>
        <p:spPr>
          <a:xfrm>
            <a:off x="6197600" y="4470400"/>
            <a:ext cx="5537200" cy="1879600"/>
          </a:xfrm>
          <a:prstGeom prst="roundRect">
            <a:avLst>
              <a:gd name="adj" fmla="val 4054"/>
            </a:avLst>
          </a:prstGeom>
          <a:solidFill>
            <a:srgbClr val="E3F0FB"/>
          </a:solidFill>
          <a:ln/>
        </p:spPr>
      </p:sp>
      <p:sp>
        <p:nvSpPr>
          <p:cNvPr id="29" name="Text 26"/>
          <p:cNvSpPr txBox="1"/>
          <p:nvPr/>
        </p:nvSpPr>
        <p:spPr>
          <a:xfrm>
            <a:off x="6375400" y="4584700"/>
            <a:ext cx="51816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FLATTENED: VALUE OBJECTS</a:t>
            </a:r>
            <a:endParaRPr lang="en-US" sz="950" dirty="0"/>
          </a:p>
        </p:txBody>
      </p:sp>
      <p:sp>
        <p:nvSpPr>
          <p:cNvPr id="30" name="bullets-2F6FB0-flat"/>
          <p:cNvSpPr txBox="1"/>
          <p:nvPr/>
        </p:nvSpPr>
        <p:spPr>
          <a:xfrm>
            <a:off x="6375400" y="4813300"/>
            <a:ext cx="5181600" cy="1473200"/>
          </a:xfrm>
          <a:prstGeom prst="rect">
            <a:avLst/>
          </a:prstGeom>
          <a:noFill/>
          <a:ln/>
        </p:spPr>
        <p:txBody>
          <a:bodyPr wrap="square" lIns="0" tIns="0" rIns="0" bIns="0" rtlCol="0" anchor="t"/>
          <a:lstStyle/>
          <a:p>
            <a:pPr marL="165100" indent="-165100">
              <a:lnSpc>
                <a:spcPct val="105000"/>
              </a:lnSpc>
              <a:spcAft>
                <a:spcPts val="400"/>
              </a:spcAft>
              <a:buClr>
                <a:srgbClr val="2F6FB0"/>
              </a:buClr>
              <a:buSzPct val="100000"/>
              <a:buChar char="●"/>
            </a:pPr>
            <a:r>
              <a:rPr lang="en-US" sz="1000" dirty="0">
                <a:solidFill>
                  <a:srgbClr val="1F2430"/>
                </a:solidFill>
                <a:latin typeface="Segoe UI" pitchFamily="34" charset="0"/>
                <a:ea typeface="Segoe UI" pitchFamily="34" charset="-122"/>
                <a:cs typeface="Segoe UI" pitchFamily="34" charset="-120"/>
              </a:rPr>
              <a:t>Addresses are predictable: the prefetcher streams the next lines into L2 and L1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before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they are needed.</a:t>
            </a:r>
            <a:endParaRPr lang="en-US" sz="1000" dirty="0"/>
          </a:p>
          <a:p>
            <a:pPr marL="165100" indent="-165100">
              <a:lnSpc>
                <a:spcPct val="105000"/>
              </a:lnSpc>
              <a:spcAft>
                <a:spcPts val="400"/>
              </a:spcAft>
              <a:buClr>
                <a:srgbClr val="2F6FB0"/>
              </a:buClr>
              <a:buSzPct val="100000"/>
              <a:buChar char="●"/>
            </a:pPr>
            <a:r>
              <a:rPr lang="en-US" sz="1000" dirty="0">
                <a:solidFill>
                  <a:srgbClr val="1F2430"/>
                </a:solidFill>
                <a:latin typeface="Segoe UI" pitchFamily="34" charset="0"/>
                <a:ea typeface="Segoe UI" pitchFamily="34" charset="-122"/>
                <a:cs typeface="Segoe UI" pitchFamily="34" charset="-120"/>
              </a:rPr>
              <a:t>Every byte of each line is used: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8 elements</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per 64-byte line.</a:t>
            </a:r>
            <a:endParaRPr lang="en-US" sz="1000" dirty="0"/>
          </a:p>
          <a:p>
            <a:pPr marL="165100" indent="-165100">
              <a:lnSpc>
                <a:spcPct val="105000"/>
              </a:lnSpc>
              <a:spcAft>
                <a:spcPts val="400"/>
              </a:spcAft>
              <a:buClr>
                <a:srgbClr val="2F6FB0"/>
              </a:buClr>
              <a:buSzPct val="100000"/>
              <a:buChar char="●"/>
            </a:pPr>
            <a:r>
              <a:rPr lang="en-US" sz="1000" dirty="0">
                <a:solidFill>
                  <a:srgbClr val="1F2430"/>
                </a:solidFill>
                <a:latin typeface="Segoe UI" pitchFamily="34" charset="0"/>
                <a:ea typeface="Segoe UI" pitchFamily="34" charset="-122"/>
                <a:cs typeface="Segoe UI" pitchFamily="34" charset="-120"/>
              </a:rPr>
              <a:t>Many loads are in flight at once: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0.24 ns</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per element from L1, still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0.42 ns</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from DRAM (measured).</a:t>
            </a:r>
            <a:endParaRPr lang="en-US" sz="1000" dirty="0"/>
          </a:p>
          <a:p>
            <a:pPr marL="165100" indent="-165100">
              <a:lnSpc>
                <a:spcPct val="105000"/>
              </a:lnSpc>
              <a:spcAft>
                <a:spcPts val="400"/>
              </a:spcAft>
              <a:buClr>
                <a:srgbClr val="2F6FB0"/>
              </a:buClr>
              <a:buSzPct val="100000"/>
              <a:buChar char="●"/>
            </a:pPr>
            <a:r>
              <a:rPr lang="en-US" sz="1000" dirty="0">
                <a:solidFill>
                  <a:srgbClr val="1F2430"/>
                </a:solidFill>
                <a:latin typeface="Segoe UI" pitchFamily="34" charset="0"/>
                <a:ea typeface="Segoe UI" pitchFamily="34" charset="-122"/>
                <a:cs typeface="Segoe UI" pitchFamily="34" charset="-120"/>
              </a:rPr>
              <a:t>At 256 MB that is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~265×</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faster per element than chasing pointers.</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Proposed: null markers for Java types</a:t>
            </a:r>
            <a:endParaRPr lang="en-US" sz="2400" dirty="0"/>
          </a:p>
        </p:txBody>
      </p:sp>
      <p:sp>
        <p:nvSpPr>
          <p:cNvPr id="3" name="Text 1"/>
          <p:cNvSpPr/>
          <p:nvPr/>
        </p:nvSpPr>
        <p:spPr>
          <a:xfrm>
            <a:off x="8580120" y="381000"/>
            <a:ext cx="31546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DRAFT JEP 8303099 · NOT YET IN A JDK</a:t>
            </a:r>
            <a:endParaRPr lang="en-US" sz="1000" dirty="0"/>
          </a:p>
        </p:txBody>
      </p:sp>
      <p:sp>
        <p:nvSpPr>
          <p:cNvPr id="4" name="Text 2"/>
          <p:cNvSpPr txBox="1"/>
          <p:nvPr/>
        </p:nvSpPr>
        <p:spPr>
          <a:xfrm>
            <a:off x="457200" y="812800"/>
            <a:ext cx="9144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 draft JEP adds </a:t>
            </a:r>
            <a:pPr indent="0" marL="0">
              <a:buNone/>
            </a:pPr>
            <a:r>
              <a:rPr lang="en-US" sz="1200" dirty="0">
                <a:solidFill>
                  <a:srgbClr val="5B6475"/>
                </a:solidFill>
                <a:latin typeface="Consolas" pitchFamily="34" charset="0"/>
                <a:ea typeface="Consolas" pitchFamily="34" charset="-122"/>
                <a:cs typeface="Consolas" pitchFamily="34" charset="-120"/>
              </a:rPr>
              <a:t>!</a:t>
            </a:r>
            <a:pPr indent="0" marL="0">
              <a:buNone/>
            </a:pPr>
            <a:r>
              <a:rPr lang="en-US" sz="1200" dirty="0">
                <a:solidFill>
                  <a:srgbClr val="5B6475"/>
                </a:solidFill>
                <a:latin typeface="Segoe UI" pitchFamily="34" charset="0"/>
                <a:ea typeface="Segoe UI" pitchFamily="34" charset="-122"/>
                <a:cs typeface="Segoe UI" pitchFamily="34" charset="-120"/>
              </a:rPr>
              <a:t> (null-restricted) and </a:t>
            </a:r>
            <a:pPr indent="0" marL="0">
              <a:buNone/>
            </a:pPr>
            <a:r>
              <a:rPr lang="en-US" sz="1200" dirty="0">
                <a:solidFill>
                  <a:srgbClr val="5B6475"/>
                </a:solidFill>
                <a:latin typeface="Consolas" pitchFamily="34" charset="0"/>
                <a:ea typeface="Consolas" pitchFamily="34" charset="-122"/>
                <a:cs typeface="Consolas" pitchFamily="34" charset="-120"/>
              </a:rPr>
              <a:t>?</a:t>
            </a:r>
            <a:pPr indent="0" marL="0">
              <a:buNone/>
            </a:pPr>
            <a:r>
              <a:rPr lang="en-US" sz="1200" dirty="0">
                <a:solidFill>
                  <a:srgbClr val="5B6475"/>
                </a:solidFill>
                <a:latin typeface="Segoe UI" pitchFamily="34" charset="0"/>
                <a:ea typeface="Segoe UI" pitchFamily="34" charset="-122"/>
                <a:cs typeface="Segoe UI" pitchFamily="34" charset="-120"/>
              </a:rPr>
              <a:t> (nullable) to Java types, so the compiler and the JVM can enforce what today lives only in comments and annotations. Kotlin has worked this way since 1.0.</a:t>
            </a:r>
            <a:endParaRPr lang="en-US" sz="1200" dirty="0"/>
          </a:p>
        </p:txBody>
      </p:sp>
      <p:sp>
        <p:nvSpPr>
          <p:cNvPr id="5" name="Text 3"/>
          <p:cNvSpPr txBox="1"/>
          <p:nvPr/>
        </p:nvSpPr>
        <p:spPr>
          <a:xfrm>
            <a:off x="457200" y="1371600"/>
            <a:ext cx="55372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THREE KINDS OF TYPE</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74800"/>
          <a:ext cx="5537200" cy="914400"/>
        </p:xfrm>
        <a:graphic>
          <a:graphicData uri="http://schemas.openxmlformats.org/drawingml/2006/table">
            <a:tbl>
              <a:tblPr/>
              <a:tblGrid>
                <a:gridCol w="1066800"/>
                <a:gridCol w="4470400"/>
              </a:tblGrid>
              <a:tr h="0">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Type</a:t>
                      </a:r>
                      <a:endParaRPr lang="en-US" sz="10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50" b="1" dirty="0">
                          <a:solidFill>
                            <a:srgbClr val="5B6475"/>
                          </a:solidFill>
                          <a:latin typeface="Segoe UI" pitchFamily="34" charset="0"/>
                          <a:ea typeface="Segoe UI" pitchFamily="34" charset="-122"/>
                          <a:cs typeface="Segoe UI" pitchFamily="34" charset="-120"/>
                        </a:rPr>
                        <a:t>Meaning</a:t>
                      </a:r>
                      <a:endParaRPr lang="en-US" sz="10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1050" b="1" dirty="0">
                          <a:solidFill>
                            <a:srgbClr val="2E8B57"/>
                          </a:solidFill>
                          <a:latin typeface="Consolas" pitchFamily="34" charset="0"/>
                          <a:ea typeface="Consolas" pitchFamily="34" charset="-122"/>
                          <a:cs typeface="Consolas" pitchFamily="34" charset="-120"/>
                        </a:rPr>
                        <a:t>String!</a:t>
                      </a:r>
                      <a:endParaRPr lang="en-US" sz="105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b="1" dirty="0">
                          <a:solidFill>
                            <a:srgbClr val="1F2430"/>
                          </a:solidFill>
                          <a:latin typeface="Segoe UI" pitchFamily="34" charset="0"/>
                          <a:ea typeface="Segoe UI" pitchFamily="34" charset="-122"/>
                          <a:cs typeface="Segoe UI" pitchFamily="34" charset="-120"/>
                        </a:rPr>
                        <a:t>Null-restricted</a:t>
                      </a:r>
                      <a:pPr indent="0" marL="0">
                        <a:buNone/>
                      </a:pPr>
                      <a:r>
                        <a:rPr lang="en-US" sz="1050" dirty="0">
                          <a:solidFill>
                            <a:srgbClr val="1F2430"/>
                          </a:solidFill>
                          <a:latin typeface="Segoe UI" pitchFamily="34" charset="0"/>
                          <a:ea typeface="Segoe UI" pitchFamily="34" charset="-122"/>
                          <a:cs typeface="Segoe UI" pitchFamily="34" charset="-120"/>
                        </a:rPr>
                        <a:t>: can never hold null.</a:t>
                      </a:r>
                      <a:endParaRPr lang="en-US" sz="10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E76F00"/>
                          </a:solidFill>
                          <a:latin typeface="Consolas" pitchFamily="34" charset="0"/>
                          <a:ea typeface="Consolas" pitchFamily="34" charset="-122"/>
                          <a:cs typeface="Consolas" pitchFamily="34" charset="-120"/>
                        </a:rPr>
                        <a:t>String?</a:t>
                      </a:r>
                      <a:endParaRPr lang="en-US" sz="105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b="1" dirty="0">
                          <a:solidFill>
                            <a:srgbClr val="1F2430"/>
                          </a:solidFill>
                          <a:latin typeface="Segoe UI" pitchFamily="34" charset="0"/>
                          <a:ea typeface="Segoe UI" pitchFamily="34" charset="-122"/>
                          <a:cs typeface="Segoe UI" pitchFamily="34" charset="-120"/>
                        </a:rPr>
                        <a:t>Nullable</a:t>
                      </a:r>
                      <a:pPr indent="0" marL="0">
                        <a:buNone/>
                      </a:pPr>
                      <a:r>
                        <a:rPr lang="en-US" sz="1050" dirty="0">
                          <a:solidFill>
                            <a:srgbClr val="1F2430"/>
                          </a:solidFill>
                          <a:latin typeface="Segoe UI" pitchFamily="34" charset="0"/>
                          <a:ea typeface="Segoe UI" pitchFamily="34" charset="-122"/>
                          <a:cs typeface="Segoe UI" pitchFamily="34" charset="-120"/>
                        </a:rPr>
                        <a:t>: null is allowed, on purpose.</a:t>
                      </a:r>
                      <a:endParaRPr lang="en-US" sz="10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50" b="1" dirty="0">
                          <a:solidFill>
                            <a:srgbClr val="5B6475"/>
                          </a:solidFill>
                          <a:latin typeface="Consolas" pitchFamily="34" charset="0"/>
                          <a:ea typeface="Consolas" pitchFamily="34" charset="-122"/>
                          <a:cs typeface="Consolas" pitchFamily="34" charset="-120"/>
                        </a:rPr>
                        <a:t>String</a:t>
                      </a:r>
                      <a:endParaRPr lang="en-US" sz="105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50" b="1" dirty="0">
                          <a:solidFill>
                            <a:srgbClr val="1F2430"/>
                          </a:solidFill>
                          <a:latin typeface="Segoe UI" pitchFamily="34" charset="0"/>
                          <a:ea typeface="Segoe UI" pitchFamily="34" charset="-122"/>
                          <a:cs typeface="Segoe UI" pitchFamily="34" charset="-120"/>
                        </a:rPr>
                        <a:t>Unspecified</a:t>
                      </a:r>
                      <a:pPr indent="0" marL="0">
                        <a:buNone/>
                      </a:pPr>
                      <a:r>
                        <a:rPr lang="en-US" sz="1050" dirty="0">
                          <a:solidFill>
                            <a:srgbClr val="1F2430"/>
                          </a:solidFill>
                          <a:latin typeface="Segoe UI" pitchFamily="34" charset="0"/>
                          <a:ea typeface="Segoe UI" pitchFamily="34" charset="-122"/>
                          <a:cs typeface="Segoe UI" pitchFamily="34" charset="-120"/>
                        </a:rPr>
                        <a:t>: today's meaning, so existing code is unchanged.</a:t>
                      </a:r>
                      <a:endParaRPr lang="en-US" sz="105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7" name="Text 4"/>
          <p:cNvSpPr txBox="1"/>
          <p:nvPr/>
        </p:nvSpPr>
        <p:spPr>
          <a:xfrm>
            <a:off x="457200" y="2870200"/>
            <a:ext cx="55372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WHAT GETS CHECKED</a:t>
            </a:r>
            <a:endParaRPr lang="en-US" sz="950" dirty="0"/>
          </a:p>
        </p:txBody>
      </p:sp>
      <p:sp>
        <p:nvSpPr>
          <p:cNvPr id="8" name="bullets-7A4FB5-nullmark"/>
          <p:cNvSpPr txBox="1"/>
          <p:nvPr/>
        </p:nvSpPr>
        <p:spPr>
          <a:xfrm>
            <a:off x="457200" y="3073400"/>
            <a:ext cx="5537200" cy="2540000"/>
          </a:xfrm>
          <a:prstGeom prst="rect">
            <a:avLst/>
          </a:prstGeom>
          <a:noFill/>
          <a:ln/>
        </p:spPr>
        <p:txBody>
          <a:bodyPr wrap="square" lIns="0" tIns="0" rIns="0" bIns="0" rtlCol="0" anchor="t"/>
          <a:lstStyle/>
          <a:p>
            <a:pPr marL="165100" indent="-165100">
              <a:lnSpc>
                <a:spcPct val="105000"/>
              </a:lnSpc>
              <a:spcAft>
                <a:spcPts val="400"/>
              </a:spcAft>
              <a:buClr>
                <a:srgbClr val="7A4FB5"/>
              </a:buClr>
              <a:buSzPct val="100000"/>
              <a:buChar char="●"/>
            </a:pPr>
            <a:r>
              <a:rPr lang="en-US" sz="1050" b="1" dirty="0">
                <a:solidFill>
                  <a:srgbClr val="1F2430"/>
                </a:solidFill>
                <a:latin typeface="Segoe UI" pitchFamily="34" charset="0"/>
                <a:ea typeface="Segoe UI" pitchFamily="34" charset="-122"/>
                <a:cs typeface="Segoe UI" pitchFamily="34" charset="-120"/>
              </a:rPr>
              <a:t>Compile time:</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errors for an uninitialized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String!</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field or array element, or a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null</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literal assigned to one; warnings for unsafe conversions and for dereferencing a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String?</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a:t>
            </a:r>
            <a:endParaRPr lang="en-US" sz="1050" dirty="0"/>
          </a:p>
          <a:p>
            <a:pPr marL="165100" indent="-165100">
              <a:lnSpc>
                <a:spcPct val="105000"/>
              </a:lnSpc>
              <a:spcAft>
                <a:spcPts val="400"/>
              </a:spcAft>
              <a:buClr>
                <a:srgbClr val="7A4FB5"/>
              </a:buClr>
              <a:buSzPct val="100000"/>
              <a:buChar char="●"/>
            </a:pPr>
            <a:r>
              <a:rPr lang="en-US" sz="1050" b="1" dirty="0">
                <a:solidFill>
                  <a:srgbClr val="1F2430"/>
                </a:solidFill>
                <a:latin typeface="Segoe UI" pitchFamily="34" charset="0"/>
                <a:ea typeface="Segoe UI" pitchFamily="34" charset="-122"/>
                <a:cs typeface="Segoe UI" pitchFamily="34" charset="-120"/>
              </a:rPr>
              <a:t>Run time:</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converting null into a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type throws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NullPointerException</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at that boundary, not deep inside later code.</a:t>
            </a:r>
            <a:endParaRPr lang="en-US" sz="1050" dirty="0"/>
          </a:p>
          <a:p>
            <a:pPr marL="165100" indent="-165100">
              <a:lnSpc>
                <a:spcPct val="105000"/>
              </a:lnSpc>
              <a:spcAft>
                <a:spcPts val="400"/>
              </a:spcAft>
              <a:buClr>
                <a:srgbClr val="7A4FB5"/>
              </a:buClr>
              <a:buSzPct val="100000"/>
              <a:buChar char="●"/>
            </a:pPr>
            <a:r>
              <a:rPr lang="en-US" sz="1050" b="1" dirty="0">
                <a:solidFill>
                  <a:srgbClr val="1F2430"/>
                </a:solidFill>
                <a:latin typeface="Segoe UI" pitchFamily="34" charset="0"/>
                <a:ea typeface="Segoe UI" pitchFamily="34" charset="-122"/>
                <a:cs typeface="Segoe UI" pitchFamily="34" charset="-120"/>
              </a:rPr>
              <a:t>Everywhere types go:</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fields, arrays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String![]</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generics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Box&lt;String!&gt;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T!</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a:t>
            </a:r>
            <a:endParaRPr lang="en-US" sz="1050" dirty="0"/>
          </a:p>
          <a:p>
            <a:pPr marL="165100" indent="-165100">
              <a:lnSpc>
                <a:spcPct val="105000"/>
              </a:lnSpc>
              <a:spcAft>
                <a:spcPts val="400"/>
              </a:spcAft>
              <a:buClr>
                <a:srgbClr val="7A4FB5"/>
              </a:buClr>
              <a:buSzPct val="100000"/>
              <a:buChar char="●"/>
            </a:pPr>
            <a:r>
              <a:rPr lang="en-US" sz="1050" b="1" dirty="0">
                <a:solidFill>
                  <a:srgbClr val="1F2430"/>
                </a:solidFill>
                <a:latin typeface="Segoe UI" pitchFamily="34" charset="0"/>
                <a:ea typeface="Segoe UI" pitchFamily="34" charset="-122"/>
                <a:cs typeface="Segoe UI" pitchFamily="34" charset="-120"/>
              </a:rPr>
              <a:t>Pays off for value classes:</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a null-restricted value needs no null flag, so it can be flattened more tightly. The </a:t>
            </a:r>
            <a:pPr indent="0" marL="0">
              <a:lnSpc>
                <a:spcPct val="105000"/>
              </a:lnSpc>
              <a:buNone/>
            </a:pPr>
            <a:r>
              <a:rPr lang="en-US" sz="1050" dirty="0">
                <a:solidFill>
                  <a:srgbClr val="1F2430"/>
                </a:solidFill>
                <a:latin typeface="Consolas" pitchFamily="34" charset="0"/>
                <a:ea typeface="Consolas" pitchFamily="34" charset="-122"/>
                <a:cs typeface="Consolas" pitchFamily="34" charset="-120"/>
              </a:rPr>
              <a:t>Point(int x, int y)</a:t>
            </a:r>
            <a:pPr indent="0" marL="0">
              <a:lnSpc>
                <a:spcPct val="105000"/>
              </a:lnSpc>
              <a:buNone/>
            </a:pPr>
            <a:r>
              <a:rPr lang="en-US" sz="1050" dirty="0">
                <a:solidFill>
                  <a:srgbClr val="1F2430"/>
                </a:solidFill>
                <a:latin typeface="Segoe UI" pitchFamily="34" charset="0"/>
                <a:ea typeface="Segoe UI" pitchFamily="34" charset="-122"/>
                <a:cs typeface="Segoe UI" pitchFamily="34" charset="-120"/>
              </a:rPr>
              <a:t> that missed flattening on the previous slides would fit in 64 bits.</a:t>
            </a:r>
            <a:endParaRPr lang="en-US" sz="1050" dirty="0"/>
          </a:p>
        </p:txBody>
      </p:sp>
      <p:sp>
        <p:nvSpPr>
          <p:cNvPr id="9" name="Shape 6"/>
          <p:cNvSpPr/>
          <p:nvPr/>
        </p:nvSpPr>
        <p:spPr>
          <a:xfrm>
            <a:off x="6197600" y="1371600"/>
            <a:ext cx="5537200" cy="1364615"/>
          </a:xfrm>
          <a:prstGeom prst="roundRect">
            <a:avLst>
              <a:gd name="adj" fmla="val 5584"/>
            </a:avLst>
          </a:prstGeom>
          <a:solidFill>
            <a:srgbClr val="1E2230"/>
          </a:solidFill>
          <a:ln/>
        </p:spPr>
      </p:sp>
      <p:sp>
        <p:nvSpPr>
          <p:cNvPr id="10" name="Text 7"/>
          <p:cNvSpPr txBox="1"/>
          <p:nvPr/>
        </p:nvSpPr>
        <p:spPr>
          <a:xfrm>
            <a:off x="6324600" y="14859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 proposed syntax (does not compile yet)</a:t>
            </a:r>
            <a:endParaRPr lang="en-US" sz="900" dirty="0"/>
          </a:p>
        </p:txBody>
      </p:sp>
      <p:sp>
        <p:nvSpPr>
          <p:cNvPr id="11" name="Text 8"/>
          <p:cNvSpPr txBox="1"/>
          <p:nvPr/>
        </p:nvSpPr>
        <p:spPr>
          <a:xfrm>
            <a:off x="6324600" y="1727200"/>
            <a:ext cx="5283200" cy="907415"/>
          </a:xfrm>
          <a:prstGeom prst="rect">
            <a:avLst/>
          </a:prstGeom>
          <a:noFill/>
          <a:ln/>
        </p:spPr>
        <p:txBody>
          <a:bodyPr wrap="square" lIns="0" tIns="0" rIns="0" bIns="0" rtlCol="0" anchor="t"/>
          <a:lstStyle/>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private String</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name;</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never null</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private String</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nickname;</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may be null, on purpose</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String</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labels = new String</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"x", "y" };</a:t>
            </a:r>
            <a:endParaRPr lang="en-US" sz="950" dirty="0"/>
          </a:p>
          <a:p>
            <a:pPr indent="0" marL="0">
              <a:lnSpc>
                <a:spcPts val="1349"/>
              </a:lnSpc>
              <a:buNone/>
            </a:pP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Object</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o = maybeNull;</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NPE if maybeNull is null</a:t>
            </a:r>
            <a:endParaRPr lang="en-US" sz="950" dirty="0"/>
          </a:p>
        </p:txBody>
      </p:sp>
      <p:sp>
        <p:nvSpPr>
          <p:cNvPr id="12" name="Shape 9"/>
          <p:cNvSpPr/>
          <p:nvPr/>
        </p:nvSpPr>
        <p:spPr>
          <a:xfrm>
            <a:off x="6197600" y="2863215"/>
            <a:ext cx="5537200" cy="1878584"/>
          </a:xfrm>
          <a:prstGeom prst="roundRect">
            <a:avLst>
              <a:gd name="adj" fmla="val 4056"/>
            </a:avLst>
          </a:prstGeom>
          <a:solidFill>
            <a:srgbClr val="1E2230"/>
          </a:solidFill>
          <a:ln/>
        </p:spPr>
      </p:sp>
      <p:sp>
        <p:nvSpPr>
          <p:cNvPr id="13" name="Text 10"/>
          <p:cNvSpPr txBox="1"/>
          <p:nvPr/>
        </p:nvSpPr>
        <p:spPr>
          <a:xfrm>
            <a:off x="6324600" y="2977515"/>
            <a:ext cx="5283200" cy="177800"/>
          </a:xfrm>
          <a:prstGeom prst="rect">
            <a:avLst/>
          </a:prstGeom>
          <a:noFill/>
          <a:ln/>
        </p:spPr>
        <p:txBody>
          <a:bodyPr wrap="square" lIns="0" tIns="0" rIns="0" bIns="0" rtlCol="0" anchor="t"/>
          <a:lstStyle/>
          <a:p>
            <a:pPr indent="0" marL="0">
              <a:buNone/>
            </a:pPr>
            <a:r>
              <a:rPr lang="en-US" sz="900" b="1" dirty="0">
                <a:solidFill>
                  <a:srgbClr val="C792EA"/>
                </a:solidFill>
                <a:latin typeface="Segoe UI" pitchFamily="34" charset="0"/>
                <a:ea typeface="Segoe UI" pitchFamily="34" charset="-122"/>
                <a:cs typeface="Segoe UI" pitchFamily="34" charset="-120"/>
              </a:rPr>
              <a:t>Kotlin · works today (real kotlinc 1.6.20 output)</a:t>
            </a:r>
            <a:endParaRPr lang="en-US" sz="900" dirty="0"/>
          </a:p>
        </p:txBody>
      </p:sp>
      <p:sp>
        <p:nvSpPr>
          <p:cNvPr id="14" name="Text 11"/>
          <p:cNvSpPr txBox="1"/>
          <p:nvPr/>
        </p:nvSpPr>
        <p:spPr>
          <a:xfrm>
            <a:off x="6324600" y="3218815"/>
            <a:ext cx="5283200" cy="1421384"/>
          </a:xfrm>
          <a:prstGeom prst="rect">
            <a:avLst/>
          </a:prstGeom>
          <a:noFill/>
          <a:ln/>
        </p:spPr>
        <p:txBody>
          <a:bodyPr wrap="square" lIns="0" tIns="0" rIns="0" bIns="0" rtlCol="0" anchor="t"/>
          <a:lstStyle/>
          <a:p>
            <a:pPr indent="0" marL="0">
              <a:lnSpc>
                <a:spcPts val="1349"/>
              </a:lnSpc>
              <a:buNone/>
            </a:pPr>
            <a:r>
              <a:rPr lang="en-US" sz="950" dirty="0">
                <a:solidFill>
                  <a:srgbClr val="C792EA"/>
                </a:solidFill>
                <a:latin typeface="Consolas" pitchFamily="34" charset="0"/>
                <a:ea typeface="Consolas" pitchFamily="34" charset="-122"/>
                <a:cs typeface="Consolas" pitchFamily="34" charset="-120"/>
              </a:rPr>
              <a:t>fun</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greet(name: String): String = "Hello, " + name</a:t>
            </a:r>
            <a:endParaRPr lang="en-US" sz="950" dirty="0"/>
          </a:p>
          <a:p>
            <a:pPr indent="0" marL="0">
              <a:lnSpc>
                <a:spcPts val="1349"/>
              </a:lnSpc>
              <a:buNone/>
            </a:pPr>
            <a:endParaRPr lang="en-US" sz="950" dirty="0"/>
          </a:p>
          <a:p>
            <a:pPr indent="0" marL="0">
              <a:lnSpc>
                <a:spcPts val="1349"/>
              </a:lnSpc>
              <a:buNone/>
            </a:pPr>
            <a:r>
              <a:rPr lang="en-US" sz="950" dirty="0">
                <a:solidFill>
                  <a:srgbClr val="C792EA"/>
                </a:solidFill>
                <a:latin typeface="Consolas" pitchFamily="34" charset="0"/>
                <a:ea typeface="Consolas" pitchFamily="34" charset="-122"/>
                <a:cs typeface="Consolas" pitchFamily="34" charset="-120"/>
              </a:rPr>
              <a:t>val</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name: String = "Ada"</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non-null by default</a:t>
            </a:r>
            <a:endParaRPr lang="en-US" sz="950" dirty="0"/>
          </a:p>
          <a:p>
            <a:pPr indent="0" marL="0">
              <a:lnSpc>
                <a:spcPts val="1349"/>
              </a:lnSpc>
              <a:buNone/>
            </a:pPr>
            <a:r>
              <a:rPr lang="en-US" sz="950" dirty="0">
                <a:solidFill>
                  <a:srgbClr val="C792EA"/>
                </a:solidFill>
                <a:latin typeface="Consolas" pitchFamily="34" charset="0"/>
                <a:ea typeface="Consolas" pitchFamily="34" charset="-122"/>
                <a:cs typeface="Consolas" pitchFamily="34" charset="-120"/>
              </a:rPr>
              <a:t>val</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nick: String</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 null</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 opts in to null</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println(nick</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length </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0)</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safe call + elvis</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greet(nick)</a:t>
            </a:r>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 rejected by the compiler:</a:t>
            </a:r>
            <a:endParaRPr lang="en-US" sz="950" dirty="0"/>
          </a:p>
          <a:p>
            <a:pPr indent="0" marL="0">
              <a:lnSpc>
                <a:spcPts val="1349"/>
              </a:lnSpc>
              <a:buNone/>
            </a:pPr>
            <a:r>
              <a:rPr lang="en-US" sz="950" b="1" dirty="0">
                <a:solidFill>
                  <a:srgbClr val="FF7B72"/>
                </a:solidFill>
                <a:latin typeface="Consolas" pitchFamily="34" charset="0"/>
                <a:ea typeface="Consolas" pitchFamily="34" charset="-122"/>
                <a:cs typeface="Consolas" pitchFamily="34" charset="-120"/>
              </a:rPr>
              <a:t>error: type mismatch: inferred type is String? but</a:t>
            </a:r>
            <a:endParaRPr lang="en-US" sz="950" dirty="0"/>
          </a:p>
          <a:p>
            <a:pPr indent="0" marL="0">
              <a:lnSpc>
                <a:spcPts val="1349"/>
              </a:lnSpc>
              <a:buNone/>
            </a:pPr>
            <a:r>
              <a:rPr lang="en-US" sz="950" b="1" dirty="0">
                <a:solidFill>
                  <a:srgbClr val="FF7B72"/>
                </a:solidFill>
                <a:latin typeface="Consolas" pitchFamily="34" charset="0"/>
                <a:ea typeface="Consolas" pitchFamily="34" charset="-122"/>
                <a:cs typeface="Consolas" pitchFamily="34" charset="-120"/>
              </a:rPr>
              <a:t>       String was expected</a:t>
            </a:r>
            <a:endParaRPr lang="en-US" sz="950" dirty="0"/>
          </a:p>
        </p:txBody>
      </p:sp>
      <p:sp>
        <p:nvSpPr>
          <p:cNvPr id="15" name="Text 12"/>
          <p:cNvSpPr txBox="1"/>
          <p:nvPr/>
        </p:nvSpPr>
        <p:spPr>
          <a:xfrm>
            <a:off x="6197600" y="4868799"/>
            <a:ext cx="5537200" cy="635000"/>
          </a:xfrm>
          <a:prstGeom prst="rect">
            <a:avLst/>
          </a:prstGeom>
          <a:noFill/>
          <a:ln/>
        </p:spPr>
        <p:txBody>
          <a:bodyPr wrap="square" lIns="0" tIns="0" rIns="0" bIns="0" rtlCol="0" anchor="t"/>
          <a:lstStyle/>
          <a:p>
            <a:pPr indent="0" marL="0">
              <a:buNone/>
            </a:pPr>
            <a:r>
              <a:rPr lang="en-US" sz="1050" b="1" dirty="0">
                <a:solidFill>
                  <a:srgbClr val="1F2430"/>
                </a:solidFill>
                <a:latin typeface="Segoe UI" pitchFamily="34" charset="0"/>
                <a:ea typeface="Segoe UI" pitchFamily="34" charset="-122"/>
                <a:cs typeface="Segoe UI" pitchFamily="34" charset="-120"/>
              </a:rPr>
              <a:t>Key difference:</a:t>
            </a:r>
            <a:pPr indent="0" marL="0">
              <a:buNone/>
            </a:pPr>
            <a:r>
              <a:rPr lang="en-US" sz="1050" dirty="0">
                <a:solidFill>
                  <a:srgbClr val="1F2430"/>
                </a:solidFill>
                <a:latin typeface="Segoe UI" pitchFamily="34" charset="0"/>
                <a:ea typeface="Segoe UI" pitchFamily="34" charset="-122"/>
                <a:cs typeface="Segoe UI" pitchFamily="34" charset="-120"/>
              </a:rPr>
              <a:t> in Kotlin an unmarked </a:t>
            </a:r>
            <a:pPr indent="0" marL="0">
              <a:buNone/>
            </a:pPr>
            <a:r>
              <a:rPr lang="en-US" sz="1050" dirty="0">
                <a:solidFill>
                  <a:srgbClr val="1F2430"/>
                </a:solidFill>
                <a:latin typeface="Consolas" pitchFamily="34" charset="0"/>
                <a:ea typeface="Consolas" pitchFamily="34" charset="-122"/>
                <a:cs typeface="Consolas" pitchFamily="34" charset="-120"/>
              </a:rPr>
              <a:t>String</a:t>
            </a:r>
            <a:pPr indent="0" marL="0">
              <a:buNone/>
            </a:pPr>
            <a:r>
              <a:rPr lang="en-US" sz="1050" dirty="0">
                <a:solidFill>
                  <a:srgbClr val="1F2430"/>
                </a:solidFill>
                <a:latin typeface="Segoe UI" pitchFamily="34" charset="0"/>
                <a:ea typeface="Segoe UI" pitchFamily="34" charset="-122"/>
                <a:cs typeface="Segoe UI" pitchFamily="34" charset="-120"/>
              </a:rPr>
              <a:t> means non-null. Java keeps unmarked types “unspecified”, so the billions of existing lines keep compiling, and teams add </a:t>
            </a:r>
            <a:pPr indent="0" marL="0">
              <a:buNone/>
            </a:pPr>
            <a:r>
              <a:rPr lang="en-US" sz="1050" dirty="0">
                <a:solidFill>
                  <a:srgbClr val="1F2430"/>
                </a:solidFill>
                <a:latin typeface="Consolas" pitchFamily="34" charset="0"/>
                <a:ea typeface="Consolas" pitchFamily="34" charset="-122"/>
                <a:cs typeface="Consolas" pitchFamily="34" charset="-120"/>
              </a:rPr>
              <a:t>!</a:t>
            </a:r>
            <a:pPr indent="0" marL="0">
              <a:buNone/>
            </a:pPr>
            <a:r>
              <a:rPr lang="en-US" sz="1050" dirty="0">
                <a:solidFill>
                  <a:srgbClr val="1F2430"/>
                </a:solidFill>
                <a:latin typeface="Segoe UI" pitchFamily="34" charset="0"/>
                <a:ea typeface="Segoe UI" pitchFamily="34" charset="-122"/>
                <a:cs typeface="Segoe UI" pitchFamily="34" charset="-120"/>
              </a:rPr>
              <a:t> and </a:t>
            </a:r>
            <a:pPr indent="0" marL="0">
              <a:buNone/>
            </a:pPr>
            <a:r>
              <a:rPr lang="en-US" sz="1050" dirty="0">
                <a:solidFill>
                  <a:srgbClr val="1F2430"/>
                </a:solidFill>
                <a:latin typeface="Consolas" pitchFamily="34" charset="0"/>
                <a:ea typeface="Consolas" pitchFamily="34" charset="-122"/>
                <a:cs typeface="Consolas" pitchFamily="34" charset="-120"/>
              </a:rPr>
              <a:t>?</a:t>
            </a:r>
            <a:pPr indent="0" marL="0">
              <a:buNone/>
            </a:pPr>
            <a:r>
              <a:rPr lang="en-US" sz="1050" dirty="0">
                <a:solidFill>
                  <a:srgbClr val="1F2430"/>
                </a:solidFill>
                <a:latin typeface="Segoe UI" pitchFamily="34" charset="0"/>
                <a:ea typeface="Segoe UI" pitchFamily="34" charset="-122"/>
                <a:cs typeface="Segoe UI" pitchFamily="34" charset="-120"/>
              </a:rPr>
              <a:t> gradually.</a:t>
            </a:r>
            <a:endParaRPr lang="en-US" sz="1050" dirty="0"/>
          </a:p>
        </p:txBody>
      </p:sp>
      <p:sp>
        <p:nvSpPr>
          <p:cNvPr id="16" name="Shape 13"/>
          <p:cNvSpPr/>
          <p:nvPr/>
        </p:nvSpPr>
        <p:spPr>
          <a:xfrm>
            <a:off x="457200" y="5740400"/>
            <a:ext cx="11277600" cy="609600"/>
          </a:xfrm>
          <a:prstGeom prst="roundRect">
            <a:avLst>
              <a:gd name="adj" fmla="val 12500"/>
            </a:avLst>
          </a:prstGeom>
          <a:solidFill>
            <a:srgbClr val="FDEBDC"/>
          </a:solidFill>
          <a:ln/>
        </p:spPr>
      </p:sp>
      <p:sp>
        <p:nvSpPr>
          <p:cNvPr id="17" name="Text 14"/>
          <p:cNvSpPr txBox="1"/>
          <p:nvPr/>
        </p:nvSpPr>
        <p:spPr>
          <a:xfrm>
            <a:off x="660400" y="5842000"/>
            <a:ext cx="254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STATUS</a:t>
            </a:r>
            <a:endParaRPr lang="en-US" sz="950" dirty="0"/>
          </a:p>
        </p:txBody>
      </p:sp>
      <p:sp>
        <p:nvSpPr>
          <p:cNvPr id="18" name="Text 15"/>
          <p:cNvSpPr txBox="1"/>
          <p:nvPr/>
        </p:nvSpPr>
        <p:spPr>
          <a:xfrm>
            <a:off x="660400" y="6045200"/>
            <a:ext cx="10871200" cy="254000"/>
          </a:xfrm>
          <a:prstGeom prst="rect">
            <a:avLst/>
          </a:prstGeom>
          <a:noFill/>
          <a:ln/>
        </p:spPr>
        <p:txBody>
          <a:bodyPr wrap="square" lIns="0" tIns="0" rIns="0" bIns="0" rtlCol="0" anchor="t"/>
          <a:lstStyle/>
          <a:p>
            <a:pPr indent="0" marL="0">
              <a:buNone/>
            </a:pPr>
            <a:r>
              <a:rPr lang="en-US" sz="950" dirty="0">
                <a:solidFill>
                  <a:srgbClr val="1F2430"/>
                </a:solidFill>
                <a:latin typeface="Segoe UI" pitchFamily="34" charset="0"/>
                <a:ea typeface="Segoe UI" pitchFamily="34" charset="-122"/>
                <a:cs typeface="Segoe UI" pitchFamily="34" charset="-120"/>
              </a:rPr>
              <a:t>Draft JEP “Null-Restricted and Nullable Types (Preview)”, with no target release yet. Syntax and details may change.</a:t>
            </a:r>
            <a:endParaRPr lang="en-US" sz="95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NullAway: null safety you can use today</a:t>
            </a:r>
            <a:endParaRPr lang="en-US" sz="2400" dirty="0"/>
          </a:p>
        </p:txBody>
      </p:sp>
      <p:sp>
        <p:nvSpPr>
          <p:cNvPr id="3" name="Text 1"/>
          <p:cNvSpPr/>
          <p:nvPr/>
        </p:nvSpPr>
        <p:spPr>
          <a:xfrm>
            <a:off x="9067800" y="381000"/>
            <a:ext cx="26670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ERROR PRONE PLUGIN · FROM UBER</a:t>
            </a:r>
            <a:endParaRPr lang="en-US" sz="1000" dirty="0"/>
          </a:p>
        </p:txBody>
      </p:sp>
      <p:sp>
        <p:nvSpPr>
          <p:cNvPr id="4" name="Text 2"/>
          <p:cNvSpPr txBox="1"/>
          <p:nvPr/>
        </p:nvSpPr>
        <p:spPr>
          <a:xfrm>
            <a:off x="457200" y="812800"/>
            <a:ext cx="91440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NullAway checks JSpecify nullness annotations at compile time, today, on any JDK 17+. It uses the same three-way model as Java's proposed </a:t>
            </a:r>
            <a:pPr indent="0" marL="0">
              <a:buNone/>
            </a:pPr>
            <a:r>
              <a:rPr lang="en-US" sz="1200" dirty="0">
                <a:solidFill>
                  <a:srgbClr val="5B6475"/>
                </a:solidFill>
                <a:latin typeface="Consolas" pitchFamily="34" charset="0"/>
                <a:ea typeface="Consolas" pitchFamily="34" charset="-122"/>
                <a:cs typeface="Consolas" pitchFamily="34" charset="-120"/>
              </a:rPr>
              <a:t>String!</a:t>
            </a:r>
            <a:pPr indent="0" marL="0">
              <a:buNone/>
            </a:pPr>
            <a:r>
              <a:rPr lang="en-US" sz="1200" dirty="0">
                <a:solidFill>
                  <a:srgbClr val="5B6475"/>
                </a:solidFill>
                <a:latin typeface="Segoe UI" pitchFamily="34" charset="0"/>
                <a:ea typeface="Segoe UI" pitchFamily="34" charset="-122"/>
                <a:cs typeface="Segoe UI" pitchFamily="34" charset="-120"/>
              </a:rPr>
              <a:t> / </a:t>
            </a:r>
            <a:pPr indent="0" marL="0">
              <a:buNone/>
            </a:pPr>
            <a:r>
              <a:rPr lang="en-US" sz="1200" dirty="0">
                <a:solidFill>
                  <a:srgbClr val="5B6475"/>
                </a:solidFill>
                <a:latin typeface="Consolas" pitchFamily="34" charset="0"/>
                <a:ea typeface="Consolas" pitchFamily="34" charset="-122"/>
                <a:cs typeface="Consolas" pitchFamily="34" charset="-120"/>
              </a:rPr>
              <a:t>String?</a:t>
            </a:r>
            <a:pPr indent="0" marL="0">
              <a:buNone/>
            </a:pPr>
            <a:r>
              <a:rPr lang="en-US" sz="1200" dirty="0">
                <a:solidFill>
                  <a:srgbClr val="5B6475"/>
                </a:solidFill>
                <a:latin typeface="Segoe UI" pitchFamily="34" charset="0"/>
                <a:ea typeface="Segoe UI" pitchFamily="34" charset="-122"/>
                <a:cs typeface="Segoe UI" pitchFamily="34" charset="-120"/>
              </a:rPr>
              <a:t> types.</a:t>
            </a:r>
            <a:endParaRPr lang="en-US" sz="1200" dirty="0"/>
          </a:p>
        </p:txBody>
      </p:sp>
      <p:sp>
        <p:nvSpPr>
          <p:cNvPr id="5" name="Text 3"/>
          <p:cNvSpPr txBox="1"/>
          <p:nvPr/>
        </p:nvSpPr>
        <p:spPr>
          <a:xfrm>
            <a:off x="457200" y="1371600"/>
            <a:ext cx="55372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HOW IT WORKS</a:t>
            </a:r>
            <a:endParaRPr lang="en-US" sz="950" dirty="0"/>
          </a:p>
        </p:txBody>
      </p:sp>
      <p:sp>
        <p:nvSpPr>
          <p:cNvPr id="6" name="bullets-7A4FB5-nullaway"/>
          <p:cNvSpPr txBox="1"/>
          <p:nvPr/>
        </p:nvSpPr>
        <p:spPr>
          <a:xfrm>
            <a:off x="457200" y="1574800"/>
            <a:ext cx="5537200" cy="1651000"/>
          </a:xfrm>
          <a:prstGeom prst="rect">
            <a:avLst/>
          </a:prstGeom>
          <a:noFill/>
          <a:ln/>
        </p:spPr>
        <p:txBody>
          <a:bodyPr wrap="square" lIns="0" tIns="0" rIns="0" bIns="0" rtlCol="0" anchor="t"/>
          <a:lstStyle/>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Runs inside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javac</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as an Error Prone plugin and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fails the build</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on a possible NPE. Its README puts the build-time overhead at usually under 10%.</a:t>
            </a:r>
            <a:endParaRPr lang="en-US" sz="1000" dirty="0"/>
          </a:p>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Inside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@NullMarked</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code every type is </a:t>
            </a:r>
            <a:pPr indent="0" marL="0">
              <a:lnSpc>
                <a:spcPct val="105000"/>
              </a:lnSpc>
              <a:buNone/>
            </a:pPr>
            <a:r>
              <a:rPr lang="en-US" sz="1000" b="1" dirty="0">
                <a:solidFill>
                  <a:srgbClr val="1F2430"/>
                </a:solidFill>
                <a:latin typeface="Segoe UI" pitchFamily="34" charset="0"/>
                <a:ea typeface="Segoe UI" pitchFamily="34" charset="-122"/>
                <a:cs typeface="Segoe UI" pitchFamily="34" charset="-120"/>
              </a:rPr>
              <a:t>non-null</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unless marked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@Nullable</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 as in Kotlin.</a:t>
            </a:r>
            <a:endParaRPr lang="en-US" sz="1000" dirty="0"/>
          </a:p>
          <a:p>
            <a:pPr marL="165100" indent="-165100">
              <a:lnSpc>
                <a:spcPct val="105000"/>
              </a:lnSpc>
              <a:spcAft>
                <a:spcPts val="400"/>
              </a:spcAft>
              <a:buClr>
                <a:srgbClr val="7A4FB5"/>
              </a:buClr>
              <a:buSzPct val="100000"/>
              <a:buChar char="●"/>
            </a:pPr>
            <a:r>
              <a:rPr lang="en-US" sz="1000" dirty="0">
                <a:solidFill>
                  <a:srgbClr val="1F2430"/>
                </a:solidFill>
                <a:latin typeface="Segoe UI" pitchFamily="34" charset="0"/>
                <a:ea typeface="Segoe UI" pitchFamily="34" charset="-122"/>
                <a:cs typeface="Segoe UI" pitchFamily="34" charset="-120"/>
              </a:rPr>
              <a:t>Checks dereferences, arguments, returns and field initialization, and understands null checks such as </a:t>
            </a:r>
            <a:pPr indent="0" marL="0">
              <a:lnSpc>
                <a:spcPct val="105000"/>
              </a:lnSpc>
              <a:buNone/>
            </a:pPr>
            <a:r>
              <a:rPr lang="en-US" sz="1000" dirty="0">
                <a:solidFill>
                  <a:srgbClr val="1F2430"/>
                </a:solidFill>
                <a:latin typeface="Consolas" pitchFamily="34" charset="0"/>
                <a:ea typeface="Consolas" pitchFamily="34" charset="-122"/>
                <a:cs typeface="Consolas" pitchFamily="34" charset="-120"/>
              </a:rPr>
              <a:t>if (x != null)</a:t>
            </a:r>
            <a:pPr indent="0" marL="0">
              <a:lnSpc>
                <a:spcPct val="105000"/>
              </a:lnSpc>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7" name="Text 5"/>
          <p:cNvSpPr txBox="1"/>
          <p:nvPr/>
        </p:nvSpPr>
        <p:spPr>
          <a:xfrm>
            <a:off x="457200" y="3048000"/>
            <a:ext cx="5537200" cy="177800"/>
          </a:xfrm>
          <a:prstGeom prst="rect">
            <a:avLst/>
          </a:prstGeom>
          <a:noFill/>
          <a:ln/>
        </p:spPr>
        <p:txBody>
          <a:bodyPr wrap="square" lIns="0" tIns="0" rIns="0" bIns="0" rtlCol="0" anchor="t"/>
          <a:lstStyle/>
          <a:p>
            <a:pPr indent="0" marL="0">
              <a:buNone/>
            </a:pPr>
            <a:r>
              <a:rPr lang="en-US" sz="950" b="1" dirty="0">
                <a:solidFill>
                  <a:srgbClr val="7A4FB5"/>
                </a:solidFill>
                <a:latin typeface="Segoe UI" pitchFamily="34" charset="0"/>
                <a:ea typeface="Segoe UI" pitchFamily="34" charset="-122"/>
                <a:cs typeface="Segoe UI" pitchFamily="34" charset="-120"/>
              </a:rPr>
              <a:t>PREPARES YOU FOR JAVA'S NULL MARKERS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251200"/>
          <a:ext cx="5537200" cy="914400"/>
        </p:xfrm>
        <a:graphic>
          <a:graphicData uri="http://schemas.openxmlformats.org/drawingml/2006/table">
            <a:tbl>
              <a:tblPr/>
              <a:tblGrid>
                <a:gridCol w="3302000"/>
                <a:gridCol w="2235200"/>
              </a:tblGrid>
              <a:tr h="0">
                <a:tc>
                  <a:txBody>
                    <a:bodyPr/>
                    <a:lstStyle/>
                    <a:p>
                      <a:pPr indent="0" marL="0">
                        <a:buNone/>
                      </a:pPr>
                      <a:r>
                        <a:rPr lang="en-US" sz="1000" b="1" dirty="0">
                          <a:solidFill>
                            <a:srgbClr val="5B6475"/>
                          </a:solidFill>
                          <a:latin typeface="Segoe UI" pitchFamily="34" charset="0"/>
                          <a:ea typeface="Segoe UI" pitchFamily="34" charset="-122"/>
                          <a:cs typeface="Segoe UI" pitchFamily="34" charset="-120"/>
                        </a:rPr>
                        <a:t>JSpecify + NullAway today</a:t>
                      </a:r>
                      <a:endParaRPr lang="en-US" sz="100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indent="0" marL="0">
                        <a:buNone/>
                      </a:pPr>
                      <a:r>
                        <a:rPr lang="en-US" sz="1000" b="1" dirty="0">
                          <a:solidFill>
                            <a:srgbClr val="5B6475"/>
                          </a:solidFill>
                          <a:latin typeface="Segoe UI" pitchFamily="34" charset="0"/>
                          <a:ea typeface="Segoe UI" pitchFamily="34" charset="-122"/>
                          <a:cs typeface="Segoe UI" pitchFamily="34" charset="-120"/>
                        </a:rPr>
                        <a:t>Proposed Java type</a:t>
                      </a:r>
                      <a:endParaRPr lang="en-US" sz="1000" dirty="0">
                        <a:latin typeface="Segoe UI" charset="0"/>
                        <a:ea typeface="Segoe UI" charset="0"/>
                        <a:cs typeface="Segoe UI"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1000" dirty="0">
                          <a:solidFill>
                            <a:srgbClr val="1F2430"/>
                          </a:solidFill>
                          <a:latin typeface="Consolas" pitchFamily="34" charset="0"/>
                          <a:ea typeface="Consolas" pitchFamily="34" charset="-122"/>
                          <a:cs typeface="Consolas" pitchFamily="34" charset="-120"/>
                        </a:rPr>
                        <a:t>String  (inside @NullMarked)</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00" dirty="0">
                          <a:solidFill>
                            <a:srgbClr val="2E8B57"/>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00" dirty="0">
                          <a:solidFill>
                            <a:srgbClr val="1F2430"/>
                          </a:solidFill>
                          <a:latin typeface="Consolas" pitchFamily="34" charset="0"/>
                          <a:ea typeface="Consolas" pitchFamily="34" charset="-122"/>
                          <a:cs typeface="Consolas" pitchFamily="34" charset="-120"/>
                        </a:rPr>
                        <a:t>@Nullable String</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00" dirty="0">
                          <a:solidFill>
                            <a:srgbClr val="E76F00"/>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1000" dirty="0">
                          <a:solidFill>
                            <a:srgbClr val="1F2430"/>
                          </a:solidFill>
                          <a:latin typeface="Consolas" pitchFamily="34" charset="0"/>
                          <a:ea typeface="Consolas" pitchFamily="34" charset="-122"/>
                          <a:cs typeface="Consolas" pitchFamily="34" charset="-120"/>
                        </a:rPr>
                        <a:t>String  (unannotated code)</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indent="0" marL="0">
                        <a:buNone/>
                      </a:pPr>
                      <a:r>
                        <a:rPr lang="en-US" sz="1000" dirty="0">
                          <a:solidFill>
                            <a:srgbClr val="5B6475"/>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76200" marR="76200" marT="38100" marB="38100" anchor="t">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9" name="Text 6"/>
          <p:cNvSpPr txBox="1"/>
          <p:nvPr/>
        </p:nvSpPr>
        <p:spPr>
          <a:xfrm>
            <a:off x="457200" y="4241800"/>
            <a:ext cx="5537200" cy="177800"/>
          </a:xfrm>
          <a:prstGeom prst="rect">
            <a:avLst/>
          </a:prstGeom>
          <a:noFill/>
          <a:ln/>
        </p:spPr>
        <p:txBody>
          <a:bodyPr wrap="square" lIns="0" tIns="0" rIns="0" bIns="0" rtlCol="0" anchor="t"/>
          <a:lstStyle/>
          <a:p>
            <a:pPr indent="0" marL="0">
              <a:buNone/>
            </a:pPr>
            <a:r>
              <a:rPr lang="en-US" sz="900" dirty="0">
                <a:solidFill>
                  <a:srgbClr val="5B6475"/>
                </a:solidFill>
                <a:latin typeface="Segoe UI" pitchFamily="34" charset="0"/>
                <a:ea typeface="Segoe UI" pitchFamily="34" charset="-122"/>
                <a:cs typeface="Segoe UI" pitchFamily="34" charset="-120"/>
              </a:rPr>
              <a:t>Code annotated today already states its nullness the way the proposed types will.</a:t>
            </a:r>
            <a:endParaRPr lang="en-US" sz="900" dirty="0"/>
          </a:p>
        </p:txBody>
      </p:sp>
      <p:sp>
        <p:nvSpPr>
          <p:cNvPr id="10" name="Shape 7"/>
          <p:cNvSpPr/>
          <p:nvPr/>
        </p:nvSpPr>
        <p:spPr>
          <a:xfrm>
            <a:off x="6197600" y="1371600"/>
            <a:ext cx="5537200" cy="2040890"/>
          </a:xfrm>
          <a:prstGeom prst="roundRect">
            <a:avLst>
              <a:gd name="adj" fmla="val 3734"/>
            </a:avLst>
          </a:prstGeom>
          <a:solidFill>
            <a:srgbClr val="1E2230"/>
          </a:solidFill>
          <a:ln/>
        </p:spPr>
      </p:sp>
      <p:sp>
        <p:nvSpPr>
          <p:cNvPr id="11" name="Text 8"/>
          <p:cNvSpPr txBox="1"/>
          <p:nvPr/>
        </p:nvSpPr>
        <p:spPr>
          <a:xfrm>
            <a:off x="6324600" y="1485900"/>
            <a:ext cx="5283200" cy="177800"/>
          </a:xfrm>
          <a:prstGeom prst="rect">
            <a:avLst/>
          </a:prstGeom>
          <a:noFill/>
          <a:ln/>
        </p:spPr>
        <p:txBody>
          <a:bodyPr wrap="square" lIns="0" tIns="0" rIns="0" bIns="0" rtlCol="0" anchor="t"/>
          <a:lstStyle/>
          <a:p>
            <a:pPr indent="0" marL="0">
              <a:buNone/>
            </a:pPr>
            <a:r>
              <a:rPr lang="en-US" sz="900" b="1" dirty="0">
                <a:solidFill>
                  <a:srgbClr val="79B8FF"/>
                </a:solidFill>
                <a:latin typeface="Segoe UI" pitchFamily="34" charset="0"/>
                <a:ea typeface="Segoe UI" pitchFamily="34" charset="-122"/>
                <a:cs typeface="Segoe UI" pitchFamily="34" charset="-120"/>
              </a:rPr>
              <a:t>Java + JSpecify annotations</a:t>
            </a:r>
            <a:endParaRPr lang="en-US" sz="900" dirty="0"/>
          </a:p>
        </p:txBody>
      </p:sp>
      <p:sp>
        <p:nvSpPr>
          <p:cNvPr id="12" name="Text 9"/>
          <p:cNvSpPr txBox="1"/>
          <p:nvPr/>
        </p:nvSpPr>
        <p:spPr>
          <a:xfrm>
            <a:off x="6324600" y="1727200"/>
            <a:ext cx="5283200" cy="1583690"/>
          </a:xfrm>
          <a:prstGeom prst="rect">
            <a:avLst/>
          </a:prstGeom>
          <a:noFill/>
          <a:ln/>
        </p:spPr>
        <p:txBody>
          <a:bodyPr wrap="square" lIns="0" tIns="0" rIns="0" bIns="0" rtlCol="0" anchor="t"/>
          <a:lstStyle/>
          <a:p>
            <a:pPr indent="0" marL="0">
              <a:lnSpc>
                <a:spcPts val="1207"/>
              </a:lnSpc>
              <a:buNone/>
            </a:pPr>
            <a:r>
              <a:rPr lang="en-US" sz="850" b="1" dirty="0">
                <a:solidFill>
                  <a:srgbClr val="FFB86C"/>
                </a:solidFill>
                <a:latin typeface="Consolas" pitchFamily="34" charset="0"/>
                <a:ea typeface="Consolas" pitchFamily="34" charset="-122"/>
                <a:cs typeface="Consolas" pitchFamily="34" charset="-120"/>
              </a:rPr>
              <a:t>@NullMarked</a:t>
            </a:r>
            <a:pPr indent="0" marL="0">
              <a:lnSpc>
                <a:spcPts val="1207"/>
              </a:lnSpc>
              <a:buNone/>
            </a:pPr>
            <a:r>
              <a:rPr lang="en-US" sz="850" dirty="0">
                <a:solidFill>
                  <a:srgbClr val="8A93A6"/>
                </a:solidFill>
                <a:latin typeface="Consolas" pitchFamily="34" charset="0"/>
                <a:ea typeface="Consolas" pitchFamily="34" charset="-122"/>
                <a:cs typeface="Consolas" pitchFamily="34" charset="-120"/>
              </a:rPr>
              <a:t>                         // non-null by default</a:t>
            </a:r>
            <a:endParaRPr lang="en-US" sz="850" dirty="0"/>
          </a:p>
          <a:p>
            <a:pPr indent="0" marL="0">
              <a:lnSpc>
                <a:spcPts val="1207"/>
              </a:lnSpc>
              <a:buNone/>
            </a:pPr>
            <a:r>
              <a:rPr lang="en-US" sz="850" dirty="0">
                <a:solidFill>
                  <a:srgbClr val="C792EA"/>
                </a:solidFill>
                <a:latin typeface="Consolas" pitchFamily="34" charset="0"/>
                <a:ea typeface="Consolas" pitchFamily="34" charset="-122"/>
                <a:cs typeface="Consolas" pitchFamily="34" charset="-120"/>
              </a:rPr>
              <a:t>public class</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Greeter {</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static </a:t>
            </a:r>
            <a:pPr indent="0" marL="0">
              <a:lnSpc>
                <a:spcPts val="1207"/>
              </a:lnSpc>
              <a:buNone/>
            </a:pPr>
            <a:r>
              <a:rPr lang="en-US" sz="850" b="1" dirty="0">
                <a:solidFill>
                  <a:srgbClr val="FFB86C"/>
                </a:solidFill>
                <a:latin typeface="Consolas" pitchFamily="34" charset="0"/>
                <a:ea typeface="Consolas" pitchFamily="34" charset="-122"/>
                <a:cs typeface="Consolas" pitchFamily="34" charset="-120"/>
              </a:rPr>
              <a:t>@Nullable</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String findNick(String user) { … }</a:t>
            </a:r>
            <a:endParaRPr lang="en-US" sz="850" dirty="0"/>
          </a:p>
          <a:p>
            <a:pPr indent="0" marL="0">
              <a:lnSpc>
                <a:spcPts val="1207"/>
              </a:lnSpc>
              <a:buNone/>
            </a:pP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static int nickLength(String user) {</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String nick = findNick(user);</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return </a:t>
            </a:r>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nick.length()</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static String caller() { return greet(</a:t>
            </a:r>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null</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a:t>
            </a:r>
            <a:endParaRPr lang="en-US" sz="850" dirty="0"/>
          </a:p>
        </p:txBody>
      </p:sp>
      <p:sp>
        <p:nvSpPr>
          <p:cNvPr id="13" name="Shape 10"/>
          <p:cNvSpPr/>
          <p:nvPr/>
        </p:nvSpPr>
        <p:spPr>
          <a:xfrm>
            <a:off x="6197600" y="3514090"/>
            <a:ext cx="5537200" cy="967867"/>
          </a:xfrm>
          <a:prstGeom prst="roundRect">
            <a:avLst>
              <a:gd name="adj" fmla="val 7873"/>
            </a:avLst>
          </a:prstGeom>
          <a:solidFill>
            <a:srgbClr val="1E2230"/>
          </a:solidFill>
          <a:ln/>
        </p:spPr>
      </p:sp>
      <p:sp>
        <p:nvSpPr>
          <p:cNvPr id="14" name="Text 11"/>
          <p:cNvSpPr txBox="1"/>
          <p:nvPr/>
        </p:nvSpPr>
        <p:spPr>
          <a:xfrm>
            <a:off x="6324600" y="3628390"/>
            <a:ext cx="5283200" cy="177800"/>
          </a:xfrm>
          <a:prstGeom prst="rect">
            <a:avLst/>
          </a:prstGeom>
          <a:noFill/>
          <a:ln/>
        </p:spPr>
        <p:txBody>
          <a:bodyPr wrap="square" lIns="0" tIns="0" rIns="0" bIns="0" rtlCol="0" anchor="t"/>
          <a:lstStyle/>
          <a:p>
            <a:pPr indent="0" marL="0">
              <a:buNone/>
            </a:pPr>
            <a:r>
              <a:rPr lang="en-US" sz="900" b="1" dirty="0">
                <a:solidFill>
                  <a:srgbClr val="FF7B72"/>
                </a:solidFill>
                <a:latin typeface="Segoe UI" pitchFamily="34" charset="0"/>
                <a:ea typeface="Segoe UI" pitchFamily="34" charset="-122"/>
                <a:cs typeface="Segoe UI" pitchFamily="34" charset="-120"/>
              </a:rPr>
              <a:t>Real NullAway output: the build fails</a:t>
            </a:r>
            <a:endParaRPr lang="en-US" sz="900" dirty="0"/>
          </a:p>
        </p:txBody>
      </p:sp>
      <p:sp>
        <p:nvSpPr>
          <p:cNvPr id="15" name="Text 12"/>
          <p:cNvSpPr txBox="1"/>
          <p:nvPr/>
        </p:nvSpPr>
        <p:spPr>
          <a:xfrm>
            <a:off x="6324600" y="3869690"/>
            <a:ext cx="5283200" cy="510667"/>
          </a:xfrm>
          <a:prstGeom prst="rect">
            <a:avLst/>
          </a:prstGeom>
          <a:noFill/>
          <a:ln/>
        </p:spPr>
        <p:txBody>
          <a:bodyPr wrap="square" lIns="0" tIns="0" rIns="0" bIns="0" rtlCol="0" anchor="t"/>
          <a:lstStyle/>
          <a:p>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[NullAway]</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dereferenced expression nick is @Nullable</a:t>
            </a:r>
            <a:endParaRPr lang="en-US" sz="850" dirty="0"/>
          </a:p>
          <a:p>
            <a:pPr indent="0" marL="0">
              <a:lnSpc>
                <a:spcPts val="1207"/>
              </a:lnSpc>
              <a:buNone/>
            </a:pPr>
            <a:r>
              <a:rPr lang="en-US" sz="850" b="1" dirty="0">
                <a:solidFill>
                  <a:srgbClr val="FF7B72"/>
                </a:solidFill>
                <a:latin typeface="Consolas" pitchFamily="34" charset="0"/>
                <a:ea typeface="Consolas" pitchFamily="34" charset="-122"/>
                <a:cs typeface="Consolas" pitchFamily="34" charset="-120"/>
              </a:rPr>
              <a:t>[NullAway]</a:t>
            </a:r>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passing @Nullable parameter 'null'</a:t>
            </a:r>
            <a:endParaRPr lang="en-US" sz="850" dirty="0"/>
          </a:p>
          <a:p>
            <a:pPr indent="0" marL="0">
              <a:lnSpc>
                <a:spcPts val="1207"/>
              </a:lnSpc>
              <a:buNone/>
            </a:pPr>
            <a:r>
              <a:rPr lang="en-US" sz="850" dirty="0">
                <a:solidFill>
                  <a:srgbClr val="E6E9EF"/>
                </a:solidFill>
                <a:latin typeface="Consolas" pitchFamily="34" charset="0"/>
                <a:ea typeface="Consolas" pitchFamily="34" charset="-122"/>
                <a:cs typeface="Consolas" pitchFamily="34" charset="-120"/>
              </a:rPr>
              <a:t>           where @NonNull is required</a:t>
            </a:r>
            <a:endParaRPr lang="en-US" sz="850" dirty="0"/>
          </a:p>
        </p:txBody>
      </p:sp>
      <p:sp>
        <p:nvSpPr>
          <p:cNvPr id="16" name="Text 13"/>
          <p:cNvSpPr txBox="1"/>
          <p:nvPr/>
        </p:nvSpPr>
        <p:spPr>
          <a:xfrm>
            <a:off x="457200" y="49784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WHO IS ON BOARD</a:t>
            </a:r>
            <a:endParaRPr lang="en-US" sz="950" dirty="0"/>
          </a:p>
        </p:txBody>
      </p:sp>
      <p:sp>
        <p:nvSpPr>
          <p:cNvPr id="17" name="Shape 14"/>
          <p:cNvSpPr/>
          <p:nvPr/>
        </p:nvSpPr>
        <p:spPr>
          <a:xfrm>
            <a:off x="457200" y="5181600"/>
            <a:ext cx="2705100" cy="1143000"/>
          </a:xfrm>
          <a:prstGeom prst="roundRect">
            <a:avLst>
              <a:gd name="adj" fmla="val 6667"/>
            </a:avLst>
          </a:prstGeom>
          <a:solidFill>
            <a:srgbClr val="E8F4EE"/>
          </a:solidFill>
          <a:ln/>
        </p:spPr>
      </p:sp>
      <p:sp>
        <p:nvSpPr>
          <p:cNvPr id="18" name="Text 15"/>
          <p:cNvSpPr txBox="1"/>
          <p:nvPr/>
        </p:nvSpPr>
        <p:spPr>
          <a:xfrm>
            <a:off x="584200" y="5283200"/>
            <a:ext cx="2451100" cy="2032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Spring Framework 7 · Spring Boot 4</a:t>
            </a:r>
            <a:endParaRPr lang="en-US" sz="1050" dirty="0"/>
          </a:p>
        </p:txBody>
      </p:sp>
      <p:sp>
        <p:nvSpPr>
          <p:cNvPr id="19" name="Text 16"/>
          <p:cNvSpPr txBox="1"/>
          <p:nvPr/>
        </p:nvSpPr>
        <p:spPr>
          <a:xfrm>
            <a:off x="584200" y="5537200"/>
            <a:ext cx="2451100" cy="736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Annotated with JSpecify and </a:t>
            </a:r>
            <a:pPr indent="0" marL="0">
              <a:buNone/>
            </a:pPr>
            <a:r>
              <a:rPr lang="en-US" sz="1000" b="1" dirty="0">
                <a:solidFill>
                  <a:srgbClr val="1F2430"/>
                </a:solidFill>
                <a:latin typeface="Segoe UI" pitchFamily="34" charset="0"/>
                <a:ea typeface="Segoe UI" pitchFamily="34" charset="-122"/>
                <a:cs typeface="Segoe UI" pitchFamily="34" charset="-120"/>
              </a:rPr>
              <a:t>checked with NullAway</a:t>
            </a:r>
            <a:pPr indent="0" marL="0">
              <a:buNone/>
            </a:pPr>
            <a:r>
              <a:rPr lang="en-US" sz="1000" dirty="0">
                <a:solidFill>
                  <a:srgbClr val="1F2430"/>
                </a:solidFill>
                <a:latin typeface="Segoe UI" pitchFamily="34" charset="0"/>
                <a:ea typeface="Segoe UI" pitchFamily="34" charset="-122"/>
                <a:cs typeface="Segoe UI" pitchFamily="34" charset="-120"/>
              </a:rPr>
              <a:t> in Spring's own build.</a:t>
            </a:r>
            <a:endParaRPr lang="en-US" sz="1000" dirty="0"/>
          </a:p>
        </p:txBody>
      </p:sp>
      <p:sp>
        <p:nvSpPr>
          <p:cNvPr id="20" name="Shape 17"/>
          <p:cNvSpPr/>
          <p:nvPr/>
        </p:nvSpPr>
        <p:spPr>
          <a:xfrm>
            <a:off x="3314700" y="5181600"/>
            <a:ext cx="2705100" cy="1143000"/>
          </a:xfrm>
          <a:prstGeom prst="roundRect">
            <a:avLst>
              <a:gd name="adj" fmla="val 6667"/>
            </a:avLst>
          </a:prstGeom>
          <a:solidFill>
            <a:srgbClr val="E8F4EE"/>
          </a:solidFill>
          <a:ln/>
        </p:spPr>
      </p:sp>
      <p:sp>
        <p:nvSpPr>
          <p:cNvPr id="21" name="Text 18"/>
          <p:cNvSpPr txBox="1"/>
          <p:nvPr/>
        </p:nvSpPr>
        <p:spPr>
          <a:xfrm>
            <a:off x="3441700" y="5283200"/>
            <a:ext cx="2451100" cy="2032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Guava 33.4.1+</a:t>
            </a:r>
            <a:endParaRPr lang="en-US" sz="1050" dirty="0"/>
          </a:p>
        </p:txBody>
      </p:sp>
      <p:sp>
        <p:nvSpPr>
          <p:cNvPr id="22" name="Text 19"/>
          <p:cNvSpPr txBox="1"/>
          <p:nvPr/>
        </p:nvSpPr>
        <p:spPr>
          <a:xfrm>
            <a:off x="3441700" y="5537200"/>
            <a:ext cx="2451100" cy="736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Ships JSpecify </a:t>
            </a:r>
            <a:pPr indent="0" marL="0">
              <a:buNone/>
            </a:pPr>
            <a:r>
              <a:rPr lang="en-US" sz="1000" dirty="0">
                <a:solidFill>
                  <a:srgbClr val="1F2430"/>
                </a:solidFill>
                <a:latin typeface="Consolas" pitchFamily="34" charset="0"/>
                <a:ea typeface="Consolas" pitchFamily="34" charset="-122"/>
                <a:cs typeface="Consolas" pitchFamily="34" charset="-120"/>
              </a:rPr>
              <a:t>@NullMarked</a:t>
            </a:r>
            <a:pPr indent="0" marL="0">
              <a:buNone/>
            </a:pPr>
            <a:r>
              <a:rPr lang="en-US" sz="1000" dirty="0">
                <a:solidFill>
                  <a:srgbClr val="1F2430"/>
                </a:solidFill>
                <a:latin typeface="Segoe UI" pitchFamily="34" charset="0"/>
                <a:ea typeface="Segoe UI" pitchFamily="34" charset="-122"/>
                <a:cs typeface="Segoe UI" pitchFamily="34" charset="-120"/>
              </a:rPr>
              <a:t> annotations on most packages; NullAway reads them automatically.</a:t>
            </a:r>
            <a:endParaRPr lang="en-US" sz="1000" dirty="0"/>
          </a:p>
        </p:txBody>
      </p:sp>
      <p:sp>
        <p:nvSpPr>
          <p:cNvPr id="23" name="Shape 20"/>
          <p:cNvSpPr/>
          <p:nvPr/>
        </p:nvSpPr>
        <p:spPr>
          <a:xfrm>
            <a:off x="6172200" y="5181600"/>
            <a:ext cx="2705100" cy="1143000"/>
          </a:xfrm>
          <a:prstGeom prst="roundRect">
            <a:avLst>
              <a:gd name="adj" fmla="val 6667"/>
            </a:avLst>
          </a:prstGeom>
          <a:solidFill>
            <a:srgbClr val="E8F4EE"/>
          </a:solidFill>
          <a:ln/>
        </p:spPr>
      </p:sp>
      <p:sp>
        <p:nvSpPr>
          <p:cNvPr id="24" name="Text 21"/>
          <p:cNvSpPr txBox="1"/>
          <p:nvPr/>
        </p:nvSpPr>
        <p:spPr>
          <a:xfrm>
            <a:off x="6299200" y="5283200"/>
            <a:ext cx="2451100" cy="2032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Caffeine</a:t>
            </a:r>
            <a:endParaRPr lang="en-US" sz="1050" dirty="0"/>
          </a:p>
        </p:txBody>
      </p:sp>
      <p:sp>
        <p:nvSpPr>
          <p:cNvPr id="25" name="Text 22"/>
          <p:cNvSpPr txBox="1"/>
          <p:nvPr/>
        </p:nvSpPr>
        <p:spPr>
          <a:xfrm>
            <a:off x="6299200" y="5537200"/>
            <a:ext cx="2451100" cy="736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Annotates its API with JSpecify, so calls into it are checked too.</a:t>
            </a:r>
            <a:endParaRPr lang="en-US" sz="1000" dirty="0"/>
          </a:p>
        </p:txBody>
      </p:sp>
      <p:sp>
        <p:nvSpPr>
          <p:cNvPr id="26" name="Shape 23"/>
          <p:cNvSpPr/>
          <p:nvPr/>
        </p:nvSpPr>
        <p:spPr>
          <a:xfrm>
            <a:off x="9029700" y="5181600"/>
            <a:ext cx="2705100" cy="1143000"/>
          </a:xfrm>
          <a:prstGeom prst="roundRect">
            <a:avLst>
              <a:gd name="adj" fmla="val 6667"/>
            </a:avLst>
          </a:prstGeom>
          <a:solidFill>
            <a:srgbClr val="E8F4EE"/>
          </a:solidFill>
          <a:ln/>
        </p:spPr>
      </p:sp>
      <p:sp>
        <p:nvSpPr>
          <p:cNvPr id="27" name="Text 24"/>
          <p:cNvSpPr txBox="1"/>
          <p:nvPr/>
        </p:nvSpPr>
        <p:spPr>
          <a:xfrm>
            <a:off x="9156700" y="5283200"/>
            <a:ext cx="2451100" cy="2032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Uber</a:t>
            </a:r>
            <a:endParaRPr lang="en-US" sz="1050" dirty="0"/>
          </a:p>
        </p:txBody>
      </p:sp>
      <p:sp>
        <p:nvSpPr>
          <p:cNvPr id="28" name="Text 25"/>
          <p:cNvSpPr txBox="1"/>
          <p:nvPr/>
        </p:nvSpPr>
        <p:spPr>
          <a:xfrm>
            <a:off x="9156700" y="5537200"/>
            <a:ext cx="2451100" cy="736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Created NullAway and open-sourced it; runs it on its own Java and Android code.</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04800"/>
            <a:ext cx="9652000" cy="431800"/>
          </a:xfrm>
          <a:prstGeom prst="rect">
            <a:avLst/>
          </a:prstGeom>
          <a:noFill/>
          <a:ln/>
        </p:spPr>
        <p:txBody>
          <a:bodyPr wrap="square" lIns="0" tIns="0" rIns="0" bIns="0" rtlCol="0" anchor="t"/>
          <a:lstStyle/>
          <a:p>
            <a:pPr indent="0" marL="0">
              <a:buNone/>
            </a:pPr>
            <a:r>
              <a:rPr lang="en-US" sz="2100" b="1" dirty="0">
                <a:solidFill>
                  <a:srgbClr val="1F2430"/>
                </a:solidFill>
                <a:latin typeface="Segoe UI" pitchFamily="34" charset="0"/>
                <a:ea typeface="Segoe UI" pitchFamily="34" charset="-122"/>
                <a:cs typeface="Segoe UI" pitchFamily="34" charset="-120"/>
              </a:rPr>
              <a:t>What happens to primitive types when value classes are introduced</a:t>
            </a:r>
            <a:endParaRPr lang="en-US" sz="2100" dirty="0"/>
          </a:p>
        </p:txBody>
      </p:sp>
      <p:sp>
        <p:nvSpPr>
          <p:cNvPr id="3" name="Text 1"/>
          <p:cNvSpPr/>
          <p:nvPr/>
        </p:nvSpPr>
        <p:spPr>
          <a:xfrm>
            <a:off x="10124440" y="381000"/>
            <a:ext cx="161036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JDK 28-EA PREVIEW</a:t>
            </a:r>
            <a:endParaRPr lang="en-US" sz="1000" dirty="0"/>
          </a:p>
        </p:txBody>
      </p:sp>
      <p:sp>
        <p:nvSpPr>
          <p:cNvPr id="4" name="Text 2"/>
          <p:cNvSpPr txBox="1"/>
          <p:nvPr/>
        </p:nvSpPr>
        <p:spPr>
          <a:xfrm>
            <a:off x="457200" y="1574800"/>
            <a:ext cx="11277600" cy="381000"/>
          </a:xfrm>
          <a:prstGeom prst="rect">
            <a:avLst/>
          </a:prstGeom>
          <a:noFill/>
          <a:ln/>
        </p:spPr>
        <p:txBody>
          <a:bodyPr wrap="square" lIns="0" tIns="0" rIns="0" bIns="0" rtlCol="0" anchor="t"/>
          <a:lstStyle/>
          <a:p>
            <a:pPr indent="0" marL="0">
              <a:buNone/>
            </a:pPr>
            <a:r>
              <a:rPr lang="en-US" sz="1100" dirty="0">
                <a:solidFill>
                  <a:srgbClr val="5B6475"/>
                </a:solidFill>
                <a:latin typeface="Consolas" pitchFamily="34" charset="0"/>
                <a:ea typeface="Consolas" pitchFamily="34" charset="-122"/>
                <a:cs typeface="Consolas" pitchFamily="34" charset="-120"/>
              </a:rPr>
              <a:t>int</a:t>
            </a:r>
            <a:pPr indent="0" marL="0">
              <a:buNone/>
            </a:pPr>
            <a:r>
              <a:rPr lang="en-US" sz="1100" dirty="0">
                <a:solidFill>
                  <a:srgbClr val="5B6475"/>
                </a:solidFill>
                <a:latin typeface="Segoe UI" pitchFamily="34" charset="0"/>
                <a:ea typeface="Segoe UI" pitchFamily="34" charset="-122"/>
                <a:cs typeface="Segoe UI" pitchFamily="34" charset="-120"/>
              </a:rPr>
              <a:t> stays a primitive. Instead the wrapper classes such as </a:t>
            </a:r>
            <a:pPr indent="0" marL="0">
              <a:buNone/>
            </a:pPr>
            <a:r>
              <a:rPr lang="en-US" sz="1100" dirty="0">
                <a:solidFill>
                  <a:srgbClr val="5B6475"/>
                </a:solidFill>
                <a:latin typeface="Consolas" pitchFamily="34" charset="0"/>
                <a:ea typeface="Consolas" pitchFamily="34" charset="-122"/>
                <a:cs typeface="Consolas" pitchFamily="34" charset="-120"/>
              </a:rPr>
              <a:t>Integer</a:t>
            </a:r>
            <a:pPr indent="0" marL="0">
              <a:buNone/>
            </a:pPr>
            <a:r>
              <a:rPr lang="en-US" sz="1100" dirty="0">
                <a:solidFill>
                  <a:srgbClr val="5B6475"/>
                </a:solidFill>
                <a:latin typeface="Segoe UI" pitchFamily="34" charset="0"/>
                <a:ea typeface="Segoe UI" pitchFamily="34" charset="-122"/>
                <a:cs typeface="Segoe UI" pitchFamily="34" charset="-120"/>
              </a:rPr>
              <a:t> become </a:t>
            </a:r>
            <a:pPr indent="0" marL="0">
              <a:buNone/>
            </a:pPr>
            <a:r>
              <a:rPr lang="en-US" sz="1100" b="1" dirty="0">
                <a:solidFill>
                  <a:srgbClr val="5B6475"/>
                </a:solidFill>
                <a:latin typeface="Segoe UI" pitchFamily="34" charset="0"/>
                <a:ea typeface="Segoe UI" pitchFamily="34" charset="-122"/>
                <a:cs typeface="Segoe UI" pitchFamily="34" charset="-120"/>
              </a:rPr>
              <a:t>value classes</a:t>
            </a:r>
            <a:pPr indent="0" marL="0">
              <a:buNone/>
            </a:pPr>
            <a:r>
              <a:rPr lang="en-US" sz="1100" dirty="0">
                <a:solidFill>
                  <a:srgbClr val="5B6475"/>
                </a:solidFill>
                <a:latin typeface="Segoe UI" pitchFamily="34" charset="0"/>
                <a:ea typeface="Segoe UI" pitchFamily="34" charset="-122"/>
                <a:cs typeface="Segoe UI" pitchFamily="34" charset="-120"/>
              </a:rPr>
              <a:t>: no identity, </a:t>
            </a:r>
            <a:pPr indent="0" marL="0">
              <a:buNone/>
            </a:pPr>
            <a:r>
              <a:rPr lang="en-US" sz="1100" dirty="0">
                <a:solidFill>
                  <a:srgbClr val="5B6475"/>
                </a:solidFill>
                <a:latin typeface="Consolas" pitchFamily="34" charset="0"/>
                <a:ea typeface="Consolas" pitchFamily="34" charset="-122"/>
                <a:cs typeface="Consolas" pitchFamily="34" charset="-120"/>
              </a:rPr>
              <a:t>==</a:t>
            </a:r>
            <a:pPr indent="0" marL="0">
              <a:buNone/>
            </a:pPr>
            <a:r>
              <a:rPr lang="en-US" sz="1100" dirty="0">
                <a:solidFill>
                  <a:srgbClr val="5B6475"/>
                </a:solidFill>
                <a:latin typeface="Segoe UI" pitchFamily="34" charset="0"/>
                <a:ea typeface="Segoe UI" pitchFamily="34" charset="-122"/>
                <a:cs typeface="Segoe UI" pitchFamily="34" charset="-120"/>
              </a:rPr>
              <a:t> compares values. The main remaining difference between </a:t>
            </a:r>
            <a:pPr indent="0" marL="0">
              <a:buNone/>
            </a:pPr>
            <a:r>
              <a:rPr lang="en-US" sz="1100" dirty="0">
                <a:solidFill>
                  <a:srgbClr val="5B6475"/>
                </a:solidFill>
                <a:latin typeface="Consolas" pitchFamily="34" charset="0"/>
                <a:ea typeface="Consolas" pitchFamily="34" charset="-122"/>
                <a:cs typeface="Consolas" pitchFamily="34" charset="-120"/>
              </a:rPr>
              <a:t>int</a:t>
            </a:r>
            <a:pPr indent="0" marL="0">
              <a:buNone/>
            </a:pPr>
            <a:r>
              <a:rPr lang="en-US" sz="1100" dirty="0">
                <a:solidFill>
                  <a:srgbClr val="5B6475"/>
                </a:solidFill>
                <a:latin typeface="Segoe UI" pitchFamily="34" charset="0"/>
                <a:ea typeface="Segoe UI" pitchFamily="34" charset="-122"/>
                <a:cs typeface="Segoe UI" pitchFamily="34" charset="-120"/>
              </a:rPr>
              <a:t> and </a:t>
            </a:r>
            <a:pPr indent="0" marL="0">
              <a:buNone/>
            </a:pPr>
            <a:r>
              <a:rPr lang="en-US" sz="1100" dirty="0">
                <a:solidFill>
                  <a:srgbClr val="5B6475"/>
                </a:solidFill>
                <a:latin typeface="Consolas" pitchFamily="34" charset="0"/>
                <a:ea typeface="Consolas" pitchFamily="34" charset="-122"/>
                <a:cs typeface="Consolas" pitchFamily="34" charset="-120"/>
              </a:rPr>
              <a:t>Integer</a:t>
            </a:r>
            <a:pPr indent="0" marL="0">
              <a:buNone/>
            </a:pPr>
            <a:r>
              <a:rPr lang="en-US" sz="1100" dirty="0">
                <a:solidFill>
                  <a:srgbClr val="5B6475"/>
                </a:solidFill>
                <a:latin typeface="Segoe UI" pitchFamily="34" charset="0"/>
                <a:ea typeface="Segoe UI" pitchFamily="34" charset="-122"/>
                <a:cs typeface="Segoe UI" pitchFamily="34" charset="-120"/>
              </a:rPr>
              <a:t> is </a:t>
            </a:r>
            <a:pPr indent="0" marL="0">
              <a:buNone/>
            </a:pPr>
            <a:r>
              <a:rPr lang="en-US" sz="1100" b="1" dirty="0">
                <a:solidFill>
                  <a:srgbClr val="5B6475"/>
                </a:solidFill>
                <a:latin typeface="Segoe UI" pitchFamily="34" charset="0"/>
                <a:ea typeface="Segoe UI" pitchFamily="34" charset="-122"/>
                <a:cs typeface="Segoe UI" pitchFamily="34" charset="-120"/>
              </a:rPr>
              <a:t>null</a:t>
            </a:r>
            <a:pPr indent="0" marL="0">
              <a:buNone/>
            </a:pPr>
            <a:r>
              <a:rPr lang="en-US" sz="1100" dirty="0">
                <a:solidFill>
                  <a:srgbClr val="5B6475"/>
                </a:solidFill>
                <a:latin typeface="Segoe UI" pitchFamily="34" charset="0"/>
                <a:ea typeface="Segoe UI" pitchFamily="34" charset="-122"/>
                <a:cs typeface="Segoe UI" pitchFamily="34" charset="-120"/>
              </a:rPr>
              <a:t>.</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838200"/>
          <a:ext cx="11277600" cy="914400"/>
        </p:xfrm>
        <a:graphic>
          <a:graphicData uri="http://schemas.openxmlformats.org/drawingml/2006/table">
            <a:tbl>
              <a:tblPr/>
              <a:tblGrid>
                <a:gridCol w="1117600"/>
                <a:gridCol w="1270000"/>
                <a:gridCol w="1270000"/>
                <a:gridCol w="1270000"/>
                <a:gridCol w="1270000"/>
                <a:gridCol w="1270000"/>
                <a:gridCol w="1270000"/>
                <a:gridCol w="1270000"/>
                <a:gridCol w="1270000"/>
              </a:tblGrid>
              <a:tr h="20320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Primitive</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byte</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short</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int</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long</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float</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double</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char</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boolean</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20320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Size</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1 B (8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2 B (16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4 B (32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8 B (64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4 B (32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8 B (64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2 B (16 bits)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Segoe UI" pitchFamily="34" charset="0"/>
                          <a:ea typeface="Segoe UI" pitchFamily="34" charset="-122"/>
                          <a:cs typeface="Segoe UI" pitchFamily="34" charset="-120"/>
                        </a:rPr>
                        <a:t>JVM-specific</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20320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Wrapper class</a:t>
                      </a:r>
                      <a:endParaRPr lang="en-US" sz="950" dirty="0">
                        <a:latin typeface="Segoe UI" charset="0"/>
                        <a:ea typeface="Segoe UI" charset="0"/>
                        <a:cs typeface="Segoe UI"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Byte</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Short</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Integer</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Long</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Float</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Double</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Character</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5B6475"/>
                          </a:solidFill>
                          <a:latin typeface="Consolas" pitchFamily="34" charset="0"/>
                          <a:ea typeface="Consolas" pitchFamily="34" charset="-122"/>
                          <a:cs typeface="Consolas" pitchFamily="34" charset="-120"/>
                        </a:rPr>
                        <a:t>Boolean</a:t>
                      </a:r>
                      <a:endParaRPr lang="en-US" sz="950" dirty="0">
                        <a:latin typeface="Consolas" charset="0"/>
                        <a:ea typeface="Consolas" charset="0"/>
                        <a:cs typeface="Consolas" charset="0"/>
                      </a:endParaRPr>
                    </a:p>
                  </a:txBody>
                  <a:tcPr marL="50800" marR="50800" marT="25400" marB="254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6" name="Text 3"/>
          <p:cNvSpPr txBox="1"/>
          <p:nvPr/>
        </p:nvSpPr>
        <p:spPr>
          <a:xfrm>
            <a:off x="457200" y="2082800"/>
            <a:ext cx="5969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INT VS INTEGER, BEFORE AND AFTER</a:t>
            </a:r>
            <a:endParaRPr lang="en-US" sz="9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2286000"/>
          <a:ext cx="5969000" cy="914400"/>
        </p:xfrm>
        <a:graphic>
          <a:graphicData uri="http://schemas.openxmlformats.org/drawingml/2006/table">
            <a:tbl>
              <a:tblPr/>
              <a:tblGrid>
                <a:gridCol w="1016000"/>
                <a:gridCol w="762000"/>
                <a:gridCol w="1219200"/>
                <a:gridCol w="1574800"/>
                <a:gridCol w="1397000"/>
              </a:tblGrid>
              <a:tr h="0">
                <a:tc>
                  <a:txBody>
                    <a:bodyPr/>
                    <a:lstStyle/>
                    <a:p>
                      <a:pPr algn="ctr" indent="0" marL="0">
                        <a:buNone/>
                      </a:pP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00" b="1" dirty="0">
                          <a:solidFill>
                            <a:srgbClr val="5B6475"/>
                          </a:solidFill>
                          <a:latin typeface="Segoe UI" pitchFamily="34" charset="0"/>
                          <a:ea typeface="Segoe UI" pitchFamily="34" charset="-122"/>
                          <a:cs typeface="Segoe UI" pitchFamily="34" charset="-120"/>
                        </a:rPr>
                        <a:t>int</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00" b="1" dirty="0">
                          <a:solidFill>
                            <a:srgbClr val="5B6475"/>
                          </a:solidFill>
                          <a:latin typeface="Segoe UI" pitchFamily="34" charset="0"/>
                          <a:ea typeface="Segoe UI" pitchFamily="34" charset="-122"/>
                          <a:cs typeface="Segoe UI" pitchFamily="34" charset="-120"/>
                        </a:rPr>
                        <a:t>Integer today</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00" b="1" dirty="0">
                          <a:solidFill>
                            <a:srgbClr val="2F6FB0"/>
                          </a:solidFill>
                          <a:latin typeface="Segoe UI" pitchFamily="34" charset="0"/>
                          <a:ea typeface="Segoe UI" pitchFamily="34" charset="-122"/>
                          <a:cs typeface="Segoe UI" pitchFamily="34" charset="-120"/>
                        </a:rPr>
                        <a:t>Integer, value class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00" b="1" dirty="0">
                          <a:solidFill>
                            <a:srgbClr val="2E8B57"/>
                          </a:solidFill>
                          <a:latin typeface="Segoe UI" pitchFamily="34" charset="0"/>
                          <a:ea typeface="Segoe UI" pitchFamily="34" charset="-122"/>
                          <a:cs typeface="Segoe UI" pitchFamily="34" charset="-120"/>
                        </a:rPr>
                        <a:t>Integer! (proposed)</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Identity</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none</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C0392B"/>
                          </a:solidFill>
                          <a:latin typeface="Segoe UI" pitchFamily="34" charset="0"/>
                          <a:ea typeface="Segoe UI" pitchFamily="34" charset="-122"/>
                          <a:cs typeface="Segoe UI" pitchFamily="34" charset="-120"/>
                        </a:rPr>
                        <a:t>yes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F6FB0"/>
                          </a:solidFill>
                          <a:latin typeface="Segoe UI" pitchFamily="34" charset="0"/>
                          <a:ea typeface="Segoe UI" pitchFamily="34" charset="-122"/>
                          <a:cs typeface="Segoe UI" pitchFamily="34" charset="-120"/>
                        </a:rPr>
                        <a:t>none</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E8B57"/>
                          </a:solidFill>
                          <a:latin typeface="Segoe UI" pitchFamily="34" charset="0"/>
                          <a:ea typeface="Segoe UI" pitchFamily="34" charset="-122"/>
                          <a:cs typeface="Segoe UI" pitchFamily="34" charset="-120"/>
                        </a:rPr>
                        <a:t>none</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Can be null</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no</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yes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yes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E8B57"/>
                          </a:solidFill>
                          <a:latin typeface="Segoe UI" pitchFamily="34" charset="0"/>
                          <a:ea typeface="Segoe UI" pitchFamily="34" charset="-122"/>
                          <a:cs typeface="Segoe UI" pitchFamily="34" charset="-120"/>
                        </a:rPr>
                        <a:t>no</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 compares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values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C0392B"/>
                          </a:solidFill>
                          <a:latin typeface="Segoe UI" pitchFamily="34" charset="0"/>
                          <a:ea typeface="Segoe UI" pitchFamily="34" charset="-122"/>
                          <a:cs typeface="Segoe UI" pitchFamily="34" charset="-120"/>
                        </a:rPr>
                        <a:t>references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F6FB0"/>
                          </a:solidFill>
                          <a:latin typeface="Segoe UI" pitchFamily="34" charset="0"/>
                          <a:ea typeface="Segoe UI" pitchFamily="34" charset="-122"/>
                          <a:cs typeface="Segoe UI" pitchFamily="34" charset="-120"/>
                        </a:rPr>
                        <a:t>values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E8B57"/>
                          </a:solidFill>
                          <a:latin typeface="Segoe UI" pitchFamily="34" charset="0"/>
                          <a:ea typeface="Segoe UI" pitchFamily="34" charset="-122"/>
                          <a:cs typeface="Segoe UI" pitchFamily="34" charset="-120"/>
                        </a:rPr>
                        <a:t>values</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synchronized</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n/a</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allowed</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F6FB0"/>
                          </a:solidFill>
                          <a:latin typeface="Segoe UI" pitchFamily="34" charset="0"/>
                          <a:ea typeface="Segoe UI" pitchFamily="34" charset="-122"/>
                          <a:cs typeface="Segoe UI" pitchFamily="34" charset="-120"/>
                        </a:rPr>
                        <a:t>compile error</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E8B57"/>
                          </a:solidFill>
                          <a:latin typeface="Segoe UI" pitchFamily="34" charset="0"/>
                          <a:ea typeface="Segoe UI" pitchFamily="34" charset="-122"/>
                          <a:cs typeface="Segoe UI" pitchFamily="34" charset="-120"/>
                        </a:rPr>
                        <a:t>compile error</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00" b="1" dirty="0">
                          <a:solidFill>
                            <a:srgbClr val="5B6475"/>
                          </a:solidFill>
                          <a:latin typeface="Segoe UI" pitchFamily="34" charset="0"/>
                          <a:ea typeface="Segoe UI" pitchFamily="34" charset="-122"/>
                          <a:cs typeface="Segoe UI" pitchFamily="34" charset="-120"/>
                        </a:rPr>
                        <a:t>Heap layout</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1F2430"/>
                          </a:solidFill>
                          <a:latin typeface="Segoe UI" pitchFamily="34" charset="0"/>
                          <a:ea typeface="Segoe UI" pitchFamily="34" charset="-122"/>
                          <a:cs typeface="Segoe UI" pitchFamily="34" charset="-120"/>
                        </a:rPr>
                        <a:t>4 B inline</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C0392B"/>
                          </a:solidFill>
                          <a:latin typeface="Segoe UI" pitchFamily="34" charset="0"/>
                          <a:ea typeface="Segoe UI" pitchFamily="34" charset="-122"/>
                          <a:cs typeface="Segoe UI" pitchFamily="34" charset="-120"/>
                        </a:rPr>
                        <a:t>own object + ref</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F6FB0"/>
                          </a:solidFill>
                          <a:latin typeface="Segoe UI" pitchFamily="34" charset="0"/>
                          <a:ea typeface="Segoe UI" pitchFamily="34" charset="-122"/>
                          <a:cs typeface="Segoe UI" pitchFamily="34" charset="-120"/>
                        </a:rPr>
                        <a:t>can be flattened; may need a null bit</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00" dirty="0">
                          <a:solidFill>
                            <a:srgbClr val="2E8B57"/>
                          </a:solidFill>
                          <a:latin typeface="Segoe UI" pitchFamily="34" charset="0"/>
                          <a:ea typeface="Segoe UI" pitchFamily="34" charset="-122"/>
                          <a:cs typeface="Segoe UI" pitchFamily="34" charset="-120"/>
                        </a:rPr>
                        <a:t>no null bit needed</a:t>
                      </a:r>
                      <a:endParaRPr lang="en-US" sz="900" dirty="0">
                        <a:latin typeface="Segoe UI" charset="0"/>
                        <a:ea typeface="Segoe UI" charset="0"/>
                        <a:cs typeface="Segoe UI" charset="0"/>
                      </a:endParaRPr>
                    </a:p>
                  </a:txBody>
                  <a:tcPr marL="50800" marR="50800" marT="38100" marB="381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8" name="Shape 4"/>
          <p:cNvSpPr/>
          <p:nvPr/>
        </p:nvSpPr>
        <p:spPr>
          <a:xfrm>
            <a:off x="6654800" y="2082800"/>
            <a:ext cx="5080000" cy="1618894"/>
          </a:xfrm>
          <a:prstGeom prst="roundRect">
            <a:avLst>
              <a:gd name="adj" fmla="val 4707"/>
            </a:avLst>
          </a:prstGeom>
          <a:solidFill>
            <a:srgbClr val="1E2230"/>
          </a:solidFill>
          <a:ln/>
        </p:spPr>
      </p:sp>
      <p:sp>
        <p:nvSpPr>
          <p:cNvPr id="9" name="Text 5"/>
          <p:cNvSpPr txBox="1"/>
          <p:nvPr/>
        </p:nvSpPr>
        <p:spPr>
          <a:xfrm>
            <a:off x="6781800" y="2197100"/>
            <a:ext cx="48260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Measured: JDK 25 vs JDK 28-ea --enable-preview</a:t>
            </a:r>
            <a:endParaRPr lang="en-US" sz="900" dirty="0"/>
          </a:p>
        </p:txBody>
      </p:sp>
      <p:sp>
        <p:nvSpPr>
          <p:cNvPr id="10" name="Text 6"/>
          <p:cNvSpPr txBox="1"/>
          <p:nvPr/>
        </p:nvSpPr>
        <p:spPr>
          <a:xfrm>
            <a:off x="6781800" y="2438400"/>
            <a:ext cx="4826000" cy="1161694"/>
          </a:xfrm>
          <a:prstGeom prst="rect">
            <a:avLst/>
          </a:prstGeom>
          <a:noFill/>
          <a:ln/>
        </p:spPr>
        <p:txBody>
          <a:bodyPr wrap="square" lIns="0" tIns="0" rIns="0" bIns="0" rtlCol="0" anchor="t"/>
          <a:lstStyle/>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Integer a = Integer.valueOf(1000);</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Integer b = Integer.valueOf(1000);</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a == b                  </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JDK 25: </a:t>
            </a:r>
            <a:pPr indent="0" marL="0">
              <a:lnSpc>
                <a:spcPts val="1250"/>
              </a:lnSpc>
              <a:buNone/>
            </a:pPr>
            <a:r>
              <a:rPr lang="en-US" sz="880" b="1" dirty="0">
                <a:solidFill>
                  <a:srgbClr val="FF7B72"/>
                </a:solidFill>
                <a:latin typeface="Consolas" pitchFamily="34" charset="0"/>
                <a:ea typeface="Consolas" pitchFamily="34" charset="-122"/>
                <a:cs typeface="Consolas" pitchFamily="34" charset="-120"/>
              </a:rPr>
              <a:t>false</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28-ea preview: </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true</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Integer.class.isValue() </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true</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synchronized (a) {}     </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error: unexpected type,</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required: identity class</a:t>
            </a:r>
            <a:endParaRPr lang="en-US" sz="880" dirty="0"/>
          </a:p>
        </p:txBody>
      </p:sp>
      <p:sp>
        <p:nvSpPr>
          <p:cNvPr id="11" name="Text 7"/>
          <p:cNvSpPr txBox="1"/>
          <p:nvPr/>
        </p:nvSpPr>
        <p:spPr>
          <a:xfrm>
            <a:off x="6654800" y="3777894"/>
            <a:ext cx="5080000" cy="381000"/>
          </a:xfrm>
          <a:prstGeom prst="rect">
            <a:avLst/>
          </a:prstGeom>
          <a:noFill/>
          <a:ln/>
        </p:spPr>
        <p:txBody>
          <a:bodyPr wrap="square" lIns="0" tIns="0" rIns="0" bIns="0" rtlCol="0" anchor="t"/>
          <a:lstStyle/>
          <a:p>
            <a:pPr indent="0" marL="0">
              <a:buNone/>
            </a:pPr>
            <a:r>
              <a:rPr lang="en-US" sz="900" dirty="0">
                <a:solidFill>
                  <a:srgbClr val="5B6475"/>
                </a:solidFill>
                <a:latin typeface="Segoe UI" pitchFamily="34" charset="0"/>
                <a:ea typeface="Segoe UI" pitchFamily="34" charset="-122"/>
                <a:cs typeface="Segoe UI" pitchFamily="34" charset="-120"/>
              </a:rPr>
              <a:t>Draft JEP 402 would also allow </a:t>
            </a:r>
            <a:pPr indent="0" marL="0">
              <a:buNone/>
            </a:pPr>
            <a:r>
              <a:rPr lang="en-US" sz="900" dirty="0">
                <a:solidFill>
                  <a:srgbClr val="5B6475"/>
                </a:solidFill>
                <a:latin typeface="Consolas" pitchFamily="34" charset="0"/>
                <a:ea typeface="Consolas" pitchFamily="34" charset="-122"/>
                <a:cs typeface="Consolas" pitchFamily="34" charset="-120"/>
              </a:rPr>
              <a:t>List&lt;int&gt;</a:t>
            </a:r>
            <a:pPr indent="0" marL="0">
              <a:buNone/>
            </a:pPr>
            <a:r>
              <a:rPr lang="en-US" sz="900" dirty="0">
                <a:solidFill>
                  <a:srgbClr val="5B6475"/>
                </a:solidFill>
                <a:latin typeface="Segoe UI" pitchFamily="34" charset="0"/>
                <a:ea typeface="Segoe UI" pitchFamily="34" charset="-122"/>
                <a:cs typeface="Segoe UI" pitchFamily="34" charset="-120"/>
              </a:rPr>
              <a:t>, boxing to </a:t>
            </a:r>
            <a:pPr indent="0" marL="0">
              <a:buNone/>
            </a:pPr>
            <a:r>
              <a:rPr lang="en-US" sz="900" dirty="0">
                <a:solidFill>
                  <a:srgbClr val="5B6475"/>
                </a:solidFill>
                <a:latin typeface="Consolas" pitchFamily="34" charset="0"/>
                <a:ea typeface="Consolas" pitchFamily="34" charset="-122"/>
                <a:cs typeface="Consolas" pitchFamily="34" charset="-120"/>
              </a:rPr>
              <a:t>Integer</a:t>
            </a:r>
            <a:pPr indent="0" marL="0">
              <a:buNone/>
            </a:pPr>
            <a:r>
              <a:rPr lang="en-US" sz="900" dirty="0">
                <a:solidFill>
                  <a:srgbClr val="5B6475"/>
                </a:solidFill>
                <a:latin typeface="Segoe UI" pitchFamily="34" charset="0"/>
                <a:ea typeface="Segoe UI" pitchFamily="34" charset="-122"/>
                <a:cs typeface="Segoe UI" pitchFamily="34" charset="-120"/>
              </a:rPr>
              <a:t> at generic boundaries, so at first it is no faster than </a:t>
            </a:r>
            <a:pPr indent="0" marL="0">
              <a:buNone/>
            </a:pPr>
            <a:r>
              <a:rPr lang="en-US" sz="900" dirty="0">
                <a:solidFill>
                  <a:srgbClr val="5B6475"/>
                </a:solidFill>
                <a:latin typeface="Consolas" pitchFamily="34" charset="0"/>
                <a:ea typeface="Consolas" pitchFamily="34" charset="-122"/>
                <a:cs typeface="Consolas" pitchFamily="34" charset="-120"/>
              </a:rPr>
              <a:t>List&lt;Integer&gt;</a:t>
            </a:r>
            <a:pPr indent="0" marL="0">
              <a:buNone/>
            </a:pPr>
            <a:r>
              <a:rPr lang="en-US" sz="900" dirty="0">
                <a:solidFill>
                  <a:srgbClr val="5B6475"/>
                </a:solidFill>
                <a:latin typeface="Segoe UI" pitchFamily="34" charset="0"/>
                <a:ea typeface="Segoe UI" pitchFamily="34" charset="-122"/>
                <a:cs typeface="Segoe UI" pitchFamily="34" charset="-120"/>
              </a:rPr>
              <a:t>.</a:t>
            </a:r>
            <a:endParaRPr lang="en-US" sz="900" dirty="0"/>
          </a:p>
        </p:txBody>
      </p:sp>
      <p:sp>
        <p:nvSpPr>
          <p:cNvPr id="12" name="Shape 8"/>
          <p:cNvSpPr/>
          <p:nvPr/>
        </p:nvSpPr>
        <p:spPr>
          <a:xfrm>
            <a:off x="457200" y="4241800"/>
            <a:ext cx="11277600" cy="1574800"/>
          </a:xfrm>
          <a:prstGeom prst="roundRect">
            <a:avLst>
              <a:gd name="adj" fmla="val 4839"/>
            </a:avLst>
          </a:prstGeom>
          <a:solidFill>
            <a:srgbClr val="E3EEF8"/>
          </a:solidFill>
          <a:ln/>
        </p:spPr>
      </p:sp>
      <p:sp>
        <p:nvSpPr>
          <p:cNvPr id="13" name="Text 9"/>
          <p:cNvSpPr txBox="1"/>
          <p:nvPr/>
        </p:nvSpPr>
        <p:spPr>
          <a:xfrm>
            <a:off x="660400" y="4356100"/>
            <a:ext cx="889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IF JAVA NULL MARKERS ARE INTRODUCED: INTEGER! IS BASICALLY INT</a:t>
            </a:r>
            <a:endParaRPr lang="en-US" sz="950" dirty="0"/>
          </a:p>
        </p:txBody>
      </p:sp>
      <p:sp>
        <p:nvSpPr>
          <p:cNvPr id="14" name="Text 10"/>
          <p:cNvSpPr txBox="1"/>
          <p:nvPr/>
        </p:nvSpPr>
        <p:spPr>
          <a:xfrm>
            <a:off x="660400" y="4572000"/>
            <a:ext cx="5334000" cy="6350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A value-class </a:t>
            </a:r>
            <a:pPr indent="0" marL="0">
              <a:buNone/>
            </a:pPr>
            <a:r>
              <a:rPr lang="en-US" sz="1000" dirty="0">
                <a:solidFill>
                  <a:srgbClr val="1F2430"/>
                </a:solidFill>
                <a:latin typeface="Consolas" pitchFamily="34" charset="0"/>
                <a:ea typeface="Consolas" pitchFamily="34" charset="-122"/>
                <a:cs typeface="Consolas" pitchFamily="34" charset="-120"/>
              </a:rPr>
              <a:t>Integer</a:t>
            </a:r>
            <a:pPr indent="0" marL="0">
              <a:buNone/>
            </a:pPr>
            <a:r>
              <a:rPr lang="en-US" sz="1000" dirty="0">
                <a:solidFill>
                  <a:srgbClr val="1F2430"/>
                </a:solidFill>
                <a:latin typeface="Segoe UI" pitchFamily="34" charset="0"/>
                <a:ea typeface="Segoe UI" pitchFamily="34" charset="-122"/>
                <a:cs typeface="Segoe UI" pitchFamily="34" charset="-120"/>
              </a:rPr>
              <a:t> that is also null-restricted has no identity and no null, which is exactly what an </a:t>
            </a:r>
            <a:pPr indent="0" marL="0">
              <a:buNone/>
            </a:pPr>
            <a:r>
              <a:rPr lang="en-US" sz="1000" dirty="0">
                <a:solidFill>
                  <a:srgbClr val="1F2430"/>
                </a:solidFill>
                <a:latin typeface="Consolas" pitchFamily="34" charset="0"/>
                <a:ea typeface="Consolas" pitchFamily="34" charset="-122"/>
                <a:cs typeface="Consolas" pitchFamily="34" charset="-120"/>
              </a:rPr>
              <a:t>int</a:t>
            </a:r>
            <a:pPr indent="0" marL="0">
              <a:buNone/>
            </a:pPr>
            <a:r>
              <a:rPr lang="en-US" sz="1000" dirty="0">
                <a:solidFill>
                  <a:srgbClr val="1F2430"/>
                </a:solidFill>
                <a:latin typeface="Segoe UI" pitchFamily="34" charset="0"/>
                <a:ea typeface="Segoe UI" pitchFamily="34" charset="-122"/>
                <a:cs typeface="Segoe UI" pitchFamily="34" charset="-120"/>
              </a:rPr>
              <a:t> is. The draft null-restricted types JEP describes boxing and unboxing this way:</a:t>
            </a:r>
            <a:endParaRPr lang="en-US" sz="1000" dirty="0"/>
          </a:p>
        </p:txBody>
      </p:sp>
      <p:sp>
        <p:nvSpPr>
          <p:cNvPr id="15" name="Shape 11"/>
          <p:cNvSpPr/>
          <p:nvPr/>
        </p:nvSpPr>
        <p:spPr>
          <a:xfrm>
            <a:off x="6223000" y="4394200"/>
            <a:ext cx="5308600" cy="1157224"/>
          </a:xfrm>
          <a:prstGeom prst="roundRect">
            <a:avLst>
              <a:gd name="adj" fmla="val 6585"/>
            </a:avLst>
          </a:prstGeom>
          <a:solidFill>
            <a:srgbClr val="1E2230"/>
          </a:solidFill>
          <a:ln/>
        </p:spPr>
      </p:sp>
      <p:sp>
        <p:nvSpPr>
          <p:cNvPr id="16" name="Text 12"/>
          <p:cNvSpPr txBox="1"/>
          <p:nvPr/>
        </p:nvSpPr>
        <p:spPr>
          <a:xfrm>
            <a:off x="6350000" y="4508500"/>
            <a:ext cx="50546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Proposed syntax, not compilable today</a:t>
            </a:r>
            <a:endParaRPr lang="en-US" sz="900" dirty="0"/>
          </a:p>
        </p:txBody>
      </p:sp>
      <p:sp>
        <p:nvSpPr>
          <p:cNvPr id="17" name="Text 13"/>
          <p:cNvSpPr txBox="1"/>
          <p:nvPr/>
        </p:nvSpPr>
        <p:spPr>
          <a:xfrm>
            <a:off x="6350000" y="4749800"/>
            <a:ext cx="5054600" cy="700024"/>
          </a:xfrm>
          <a:prstGeom prst="rect">
            <a:avLst/>
          </a:prstGeom>
          <a:noFill/>
          <a:ln/>
        </p:spPr>
        <p:txBody>
          <a:bodyPr wrap="square" lIns="0" tIns="0" rIns="0" bIns="0" rtlCol="0" anchor="t"/>
          <a:lstStyle/>
          <a:p>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int</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x = 42;</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Integer! y = x;   </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boxing: int → Integer!</a:t>
            </a:r>
            <a:endParaRPr lang="en-US" sz="900" dirty="0"/>
          </a:p>
          <a:p>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int</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z = y;        </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unboxing: no null check, no NPE</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Integer  n = x;   </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nullable: unboxing n may throw</a:t>
            </a:r>
            <a:endParaRPr lang="en-US" sz="900" dirty="0"/>
          </a:p>
        </p:txBody>
      </p:sp>
      <p:sp>
        <p:nvSpPr>
          <p:cNvPr id="18" name="Text 14"/>
          <p:cNvSpPr txBox="1"/>
          <p:nvPr/>
        </p:nvSpPr>
        <p:spPr>
          <a:xfrm>
            <a:off x="660400" y="5308600"/>
            <a:ext cx="5334000" cy="406400"/>
          </a:xfrm>
          <a:prstGeom prst="rect">
            <a:avLst/>
          </a:prstGeom>
          <a:noFill/>
          <a:ln/>
        </p:spPr>
        <p:txBody>
          <a:bodyPr wrap="square" lIns="0" tIns="0" rIns="0" bIns="0" rtlCol="0" anchor="t"/>
          <a:lstStyle/>
          <a:p>
            <a:pPr indent="0" marL="0">
              <a:buNone/>
            </a:pPr>
            <a:r>
              <a:rPr lang="en-US" sz="900" dirty="0">
                <a:solidFill>
                  <a:srgbClr val="5B6475"/>
                </a:solidFill>
                <a:latin typeface="Segoe UI" pitchFamily="34" charset="0"/>
                <a:ea typeface="Segoe UI" pitchFamily="34" charset="-122"/>
                <a:cs typeface="Segoe UI" pitchFamily="34" charset="-120"/>
              </a:rPr>
              <a:t>Not a full merge: the drafts keep </a:t>
            </a:r>
            <a:pPr indent="0" marL="0">
              <a:buNone/>
            </a:pPr>
            <a:r>
              <a:rPr lang="en-US" sz="900" dirty="0">
                <a:solidFill>
                  <a:srgbClr val="5B6475"/>
                </a:solidFill>
                <a:latin typeface="Consolas" pitchFamily="34" charset="0"/>
                <a:ea typeface="Consolas" pitchFamily="34" charset="-122"/>
                <a:cs typeface="Consolas" pitchFamily="34" charset="-120"/>
              </a:rPr>
              <a:t>int</a:t>
            </a:r>
            <a:pPr indent="0" marL="0">
              <a:buNone/>
            </a:pPr>
            <a:r>
              <a:rPr lang="en-US" sz="900" dirty="0">
                <a:solidFill>
                  <a:srgbClr val="5B6475"/>
                </a:solidFill>
                <a:latin typeface="Segoe UI" pitchFamily="34" charset="0"/>
                <a:ea typeface="Segoe UI" pitchFamily="34" charset="-122"/>
                <a:cs typeface="Segoe UI" pitchFamily="34" charset="-120"/>
              </a:rPr>
              <a:t> and </a:t>
            </a:r>
            <a:pPr indent="0" marL="0">
              <a:buNone/>
            </a:pPr>
            <a:r>
              <a:rPr lang="en-US" sz="900" dirty="0">
                <a:solidFill>
                  <a:srgbClr val="5B6475"/>
                </a:solidFill>
                <a:latin typeface="Consolas" pitchFamily="34" charset="0"/>
                <a:ea typeface="Consolas" pitchFamily="34" charset="-122"/>
                <a:cs typeface="Consolas" pitchFamily="34" charset="-120"/>
              </a:rPr>
              <a:t>Integer!</a:t>
            </a:r>
            <a:pPr indent="0" marL="0">
              <a:buNone/>
            </a:pPr>
            <a:r>
              <a:rPr lang="en-US" sz="900" dirty="0">
                <a:solidFill>
                  <a:srgbClr val="5B6475"/>
                </a:solidFill>
                <a:latin typeface="Segoe UI" pitchFamily="34" charset="0"/>
                <a:ea typeface="Segoe UI" pitchFamily="34" charset="-122"/>
                <a:cs typeface="Segoe UI" pitchFamily="34" charset="-120"/>
              </a:rPr>
              <a:t> as distinct types at the JVM level, and a nullable </a:t>
            </a:r>
            <a:pPr indent="0" marL="0">
              <a:buNone/>
            </a:pPr>
            <a:r>
              <a:rPr lang="en-US" sz="900" dirty="0">
                <a:solidFill>
                  <a:srgbClr val="5B6475"/>
                </a:solidFill>
                <a:latin typeface="Consolas" pitchFamily="34" charset="0"/>
                <a:ea typeface="Consolas" pitchFamily="34" charset="-122"/>
                <a:cs typeface="Consolas" pitchFamily="34" charset="-120"/>
              </a:rPr>
              <a:t>int</a:t>
            </a:r>
            <a:pPr indent="0" marL="0">
              <a:buNone/>
            </a:pPr>
            <a:r>
              <a:rPr lang="en-US" sz="900" dirty="0">
                <a:solidFill>
                  <a:srgbClr val="5B6475"/>
                </a:solidFill>
                <a:latin typeface="Segoe UI" pitchFamily="34" charset="0"/>
                <a:ea typeface="Segoe UI" pitchFamily="34" charset="-122"/>
                <a:cs typeface="Segoe UI" pitchFamily="34" charset="-120"/>
              </a:rPr>
              <a:t> is a non-goal.</a:t>
            </a:r>
            <a:endParaRPr lang="en-US" sz="900" dirty="0"/>
          </a:p>
        </p:txBody>
      </p:sp>
      <p:sp>
        <p:nvSpPr>
          <p:cNvPr id="19" name="Text 15"/>
          <p:cNvSpPr txBox="1"/>
          <p:nvPr/>
        </p:nvSpPr>
        <p:spPr>
          <a:xfrm>
            <a:off x="457200" y="5969000"/>
            <a:ext cx="11277600" cy="381000"/>
          </a:xfrm>
          <a:prstGeom prst="rect">
            <a:avLst/>
          </a:prstGeom>
          <a:noFill/>
          <a:ln/>
        </p:spPr>
        <p:txBody>
          <a:bodyPr wrap="square" lIns="0" tIns="0" rIns="0" bIns="0" rtlCol="0" anchor="t"/>
          <a:lstStyle/>
          <a:p>
            <a:pPr indent="0" marL="0">
              <a:buNone/>
            </a:pPr>
            <a:r>
              <a:rPr lang="en-US" sz="1000" b="1" dirty="0">
                <a:solidFill>
                  <a:srgbClr val="5B6475"/>
                </a:solidFill>
                <a:latin typeface="Segoe UI" pitchFamily="34" charset="0"/>
                <a:ea typeface="Segoe UI" pitchFamily="34" charset="-122"/>
                <a:cs typeface="Segoe UI" pitchFamily="34" charset="-120"/>
              </a:rPr>
              <a:t>Status:</a:t>
            </a:r>
            <a:pPr indent="0" marL="0">
              <a:buNone/>
            </a:pPr>
            <a:r>
              <a:rPr lang="en-US" sz="1000" dirty="0">
                <a:solidFill>
                  <a:srgbClr val="5B6475"/>
                </a:solidFill>
                <a:latin typeface="Segoe UI" pitchFamily="34" charset="0"/>
                <a:ea typeface="Segoe UI" pitchFamily="34" charset="-122"/>
                <a:cs typeface="Segoe UI" pitchFamily="34" charset="-120"/>
              </a:rPr>
              <a:t> value classes are a preview in JDK 28-ea (JEP 401). Enhanced primitive boxing (JEP 402) and null-restricted types are drafts with no target release.</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304800"/>
            <a:ext cx="8890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Existing Java Bytes Codes For Primitive Types</a:t>
            </a:r>
            <a:endParaRPr lang="en-US" sz="2400" dirty="0"/>
          </a:p>
        </p:txBody>
      </p:sp>
      <p:sp>
        <p:nvSpPr>
          <p:cNvPr id="3" name="Text 1"/>
          <p:cNvSpPr/>
          <p:nvPr/>
        </p:nvSpPr>
        <p:spPr>
          <a:xfrm>
            <a:off x="10287000" y="381000"/>
            <a:ext cx="14478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JAVAP ON JDK 25</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JVM instructions are </a:t>
            </a:r>
            <a:pPr indent="0" marL="0">
              <a:buNone/>
            </a:pPr>
            <a:r>
              <a:rPr lang="en-US" sz="1200" b="1" dirty="0">
                <a:solidFill>
                  <a:srgbClr val="5B6475"/>
                </a:solidFill>
                <a:latin typeface="Segoe UI" pitchFamily="34" charset="0"/>
                <a:ea typeface="Segoe UI" pitchFamily="34" charset="-122"/>
                <a:cs typeface="Segoe UI" pitchFamily="34" charset="-120"/>
              </a:rPr>
              <a:t>typed</a:t>
            </a:r>
            <a:pPr indent="0" marL="0">
              <a:buNone/>
            </a:pPr>
            <a:r>
              <a:rPr lang="en-US" sz="1200" dirty="0">
                <a:solidFill>
                  <a:srgbClr val="5B6475"/>
                </a:solidFill>
                <a:latin typeface="Segoe UI" pitchFamily="34" charset="0"/>
                <a:ea typeface="Segoe UI" pitchFamily="34" charset="-122"/>
                <a:cs typeface="Segoe UI" pitchFamily="34" charset="-120"/>
              </a:rPr>
              <a:t>: the first letter says which type an instruction works on. There are families for </a:t>
            </a:r>
            <a:pPr indent="0" marL="0">
              <a:buNone/>
            </a:pPr>
            <a:r>
              <a:rPr lang="en-US" sz="1200" dirty="0">
                <a:solidFill>
                  <a:srgbClr val="5B6475"/>
                </a:solidFill>
                <a:latin typeface="Consolas" pitchFamily="34" charset="0"/>
                <a:ea typeface="Consolas" pitchFamily="34" charset="-122"/>
                <a:cs typeface="Consolas" pitchFamily="34" charset="-120"/>
              </a:rPr>
              <a:t>int</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long</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float</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double</a:t>
            </a:r>
            <a:pPr indent="0" marL="0">
              <a:buNone/>
            </a:pPr>
            <a:r>
              <a:rPr lang="en-US" sz="1200" dirty="0">
                <a:solidFill>
                  <a:srgbClr val="5B6475"/>
                </a:solidFill>
                <a:latin typeface="Segoe UI" pitchFamily="34" charset="0"/>
                <a:ea typeface="Segoe UI" pitchFamily="34" charset="-122"/>
                <a:cs typeface="Segoe UI" pitchFamily="34" charset="-120"/>
              </a:rPr>
              <a:t> and references, and no separate arithmetic for </a:t>
            </a:r>
            <a:pPr indent="0" marL="0">
              <a:buNone/>
            </a:pPr>
            <a:r>
              <a:rPr lang="en-US" sz="1200" dirty="0">
                <a:solidFill>
                  <a:srgbClr val="5B6475"/>
                </a:solidFill>
                <a:latin typeface="Consolas" pitchFamily="34" charset="0"/>
                <a:ea typeface="Consolas" pitchFamily="34" charset="-122"/>
                <a:cs typeface="Consolas" pitchFamily="34" charset="-120"/>
              </a:rPr>
              <a:t>byte</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short</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char</a:t>
            </a:r>
            <a:pPr indent="0" marL="0">
              <a:buNone/>
            </a:pPr>
            <a:r>
              <a:rPr lang="en-US" sz="1200" dirty="0">
                <a:solidFill>
                  <a:srgbClr val="5B6475"/>
                </a:solidFill>
                <a:latin typeface="Segoe UI" pitchFamily="34" charset="0"/>
                <a:ea typeface="Segoe UI" pitchFamily="34" charset="-122"/>
                <a:cs typeface="Segoe UI" pitchFamily="34" charset="-120"/>
              </a:rPr>
              <a:t> or </a:t>
            </a:r>
            <a:pPr indent="0" marL="0">
              <a:buNone/>
            </a:pPr>
            <a:r>
              <a:rPr lang="en-US" sz="1200" dirty="0">
                <a:solidFill>
                  <a:srgbClr val="5B6475"/>
                </a:solidFill>
                <a:latin typeface="Consolas" pitchFamily="34" charset="0"/>
                <a:ea typeface="Consolas" pitchFamily="34" charset="-122"/>
                <a:cs typeface="Consolas" pitchFamily="34" charset="-120"/>
              </a:rPr>
              <a:t>boolean</a:t>
            </a:r>
            <a:pPr indent="0" marL="0">
              <a:buNone/>
            </a:pPr>
            <a:r>
              <a:rPr lang="en-US" sz="1200" dirty="0">
                <a:solidFill>
                  <a:srgbClr val="5B6475"/>
                </a:solidFill>
                <a:latin typeface="Segoe UI" pitchFamily="34" charset="0"/>
                <a:ea typeface="Segoe UI" pitchFamily="34" charset="-122"/>
                <a:cs typeface="Segoe UI" pitchFamily="34" charset="-120"/>
              </a:rPr>
              <a:t>.</a:t>
            </a:r>
            <a:endParaRPr lang="en-US" sz="1200" dirty="0"/>
          </a:p>
        </p:txBody>
      </p:sp>
      <p:sp>
        <p:nvSpPr>
          <p:cNvPr id="5" name="Text 3"/>
          <p:cNvSpPr txBox="1"/>
          <p:nvPr/>
        </p:nvSpPr>
        <p:spPr>
          <a:xfrm>
            <a:off x="457200" y="1397000"/>
            <a:ext cx="635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ONE INSTRUCTION PER TYPE</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350000" cy="914400"/>
        </p:xfrm>
        <a:graphic>
          <a:graphicData uri="http://schemas.openxmlformats.org/drawingml/2006/table">
            <a:tbl>
              <a:tblPr/>
              <a:tblGrid>
                <a:gridCol w="1016000"/>
                <a:gridCol w="1168400"/>
                <a:gridCol w="1016000"/>
                <a:gridCol w="1016000"/>
                <a:gridCol w="1016000"/>
                <a:gridCol w="1117600"/>
              </a:tblGrid>
              <a:tr h="0">
                <a:tc>
                  <a:txBody>
                    <a:bodyPr/>
                    <a:lstStyle/>
                    <a:p>
                      <a:pPr indent="0" marL="0">
                        <a:buNone/>
                      </a:pP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F6FB0"/>
                          </a:solidFill>
                          <a:latin typeface="Consolas" pitchFamily="34" charset="0"/>
                          <a:ea typeface="Consolas" pitchFamily="34" charset="-122"/>
                          <a:cs typeface="Consolas" pitchFamily="34" charset="-120"/>
                        </a:rPr>
                        <a:t>int</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7A4FB5"/>
                          </a:solidFill>
                          <a:latin typeface="Consolas" pitchFamily="34" charset="0"/>
                          <a:ea typeface="Consolas" pitchFamily="34" charset="-122"/>
                          <a:cs typeface="Consolas" pitchFamily="34" charset="-120"/>
                        </a:rPr>
                        <a:t>long</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2E8B57"/>
                          </a:solidFill>
                          <a:latin typeface="Consolas" pitchFamily="34" charset="0"/>
                          <a:ea typeface="Consolas" pitchFamily="34" charset="-122"/>
                          <a:cs typeface="Consolas" pitchFamily="34" charset="-120"/>
                        </a:rPr>
                        <a:t>float</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E76F00"/>
                          </a:solidFill>
                          <a:latin typeface="Consolas" pitchFamily="34" charset="0"/>
                          <a:ea typeface="Consolas" pitchFamily="34" charset="-122"/>
                          <a:cs typeface="Consolas" pitchFamily="34" charset="-120"/>
                        </a:rPr>
                        <a:t>double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c>
                  <a:txBody>
                    <a:bodyPr/>
                    <a:lstStyle/>
                    <a:p>
                      <a:pPr algn="ctr" indent="0" marL="0">
                        <a:buNone/>
                      </a:pPr>
                      <a:r>
                        <a:rPr lang="en-US" sz="950" b="1" dirty="0">
                          <a:solidFill>
                            <a:srgbClr val="5B6475"/>
                          </a:solidFill>
                          <a:latin typeface="Consolas" pitchFamily="34" charset="0"/>
                          <a:ea typeface="Consolas" pitchFamily="34" charset="-122"/>
                          <a:cs typeface="Consolas" pitchFamily="34" charset="-120"/>
                        </a:rPr>
                        <a:t>reference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solidFill>
                      <a:srgbClr val="F4F6F9"/>
                    </a:solidFill>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Load local</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Store local</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istore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lstore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fstore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dstore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astore</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Constant</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iconst_m1…5</a:t>
                      </a:r>
                      <a:endParaRPr lang="en-US" sz="950" dirty="0">
                        <a:latin typeface="Consolas" charset="0"/>
                        <a:ea typeface="Consolas" charset="0"/>
                        <a:cs typeface="Consolas" charset="0"/>
                      </a:endParaRPr>
                    </a:p>
                    <a:p>
                      <a:pPr algn="ctr" indent="0" marL="0">
                        <a:buNone/>
                      </a:pPr>
                      <a:r>
                        <a:rPr lang="en-US" sz="950" dirty="0">
                          <a:solidFill>
                            <a:srgbClr val="1F2430"/>
                          </a:solidFill>
                          <a:latin typeface="Consolas" pitchFamily="34" charset="0"/>
                          <a:ea typeface="Consolas" pitchFamily="34" charset="-122"/>
                          <a:cs typeface="Consolas" pitchFamily="34" charset="-120"/>
                        </a:rPr>
                        <a:t>bipush, sipush</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lconst_0/1</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fconst_0/1/2</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dconst_0/1</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aconst_null</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Add, multiply</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iadd, imul</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ladd, lmul</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fadd, fmul</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dadd, dmul</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Compare</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if_icmpeq…</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lcmp</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fcmpl/g</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dcmpl/g</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if_acmpeq…</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Convert</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i2l i2f i2d</a:t>
                      </a:r>
                      <a:endParaRPr lang="en-US" sz="950" dirty="0">
                        <a:latin typeface="Consolas" charset="0"/>
                        <a:ea typeface="Consolas" charset="0"/>
                        <a:cs typeface="Consolas" charset="0"/>
                      </a:endParaRPr>
                    </a:p>
                    <a:p>
                      <a:pPr algn="ctr" indent="0" marL="0">
                        <a:buNone/>
                      </a:pPr>
                      <a:r>
                        <a:rPr lang="en-US" sz="950" dirty="0">
                          <a:solidFill>
                            <a:srgbClr val="1F2430"/>
                          </a:solidFill>
                          <a:latin typeface="Consolas" pitchFamily="34" charset="0"/>
                          <a:ea typeface="Consolas" pitchFamily="34" charset="-122"/>
                          <a:cs typeface="Consolas" pitchFamily="34" charset="-120"/>
                        </a:rPr>
                        <a:t>i2b i2c i2s</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l2i l2f l2d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f2i f2l f2d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d2i d2l d2f</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checkcast</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Array load</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aaload</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r h="0">
                <a:tc>
                  <a:txBody>
                    <a:bodyPr/>
                    <a:lstStyle/>
                    <a:p>
                      <a:pPr indent="0" marL="0">
                        <a:buNone/>
                      </a:pPr>
                      <a:r>
                        <a:rPr lang="en-US" sz="950" b="1" dirty="0">
                          <a:solidFill>
                            <a:srgbClr val="5B6475"/>
                          </a:solidFill>
                          <a:latin typeface="Segoe UI" pitchFamily="34" charset="0"/>
                          <a:ea typeface="Segoe UI" pitchFamily="34" charset="-122"/>
                          <a:cs typeface="Segoe UI" pitchFamily="34" charset="-120"/>
                        </a:rPr>
                        <a:t>Return</a:t>
                      </a:r>
                      <a:endParaRPr lang="en-US" sz="950" dirty="0">
                        <a:latin typeface="Segoe UI" charset="0"/>
                        <a:ea typeface="Segoe UI" charset="0"/>
                        <a:cs typeface="Segoe UI"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ireturn</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lreturn</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freturn</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dreturn</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c>
                  <a:txBody>
                    <a:bodyPr/>
                    <a:lstStyle/>
                    <a:p>
                      <a:pPr algn="ctr" indent="0" marL="0">
                        <a:buNone/>
                      </a:pPr>
                      <a:r>
                        <a:rPr lang="en-US" sz="950" dirty="0">
                          <a:solidFill>
                            <a:srgbClr val="1F2430"/>
                          </a:solidFill>
                          <a:latin typeface="Consolas" pitchFamily="34" charset="0"/>
                          <a:ea typeface="Consolas" pitchFamily="34" charset="-122"/>
                          <a:cs typeface="Consolas" pitchFamily="34" charset="-120"/>
                        </a:rPr>
                        <a:t>areturn</a:t>
                      </a:r>
                      <a:endParaRPr lang="en-US" sz="950" dirty="0">
                        <a:latin typeface="Consolas" charset="0"/>
                        <a:ea typeface="Consolas" charset="0"/>
                        <a:cs typeface="Consolas" charset="0"/>
                      </a:endParaRPr>
                    </a:p>
                  </a:txBody>
                  <a:tcPr marL="38100" marR="38100" marT="50800" marB="50800" anchor="ctr">
                    <a:lnL w="0" cap="flat" cmpd="sng" algn="ctr">
                      <a:noFill/>
                    </a:lnL>
                    <a:lnR w="0" cap="flat" cmpd="sng" algn="ctr">
                      <a:noFill/>
                    </a:lnR>
                    <a:lnT w="0" cap="flat" cmpd="sng" algn="ctr">
                      <a:noFill/>
                    </a:lnT>
                    <a:lnB w="7620" cap="flat" cmpd="sng" algn="ctr">
                      <a:solidFill>
                        <a:srgbClr val="DDE2EA"/>
                      </a:solidFill>
                      <a:prstDash val="solid"/>
                      <a:round/>
                      <a:headEnd type="none" w="med" len="med"/>
                      <a:tailEnd type="none" w="med" len="med"/>
                    </a:lnB>
                  </a:tcPr>
                </a:tc>
              </a:tr>
            </a:tbl>
          </a:graphicData>
        </a:graphic>
      </p:graphicFrame>
      <p:sp>
        <p:nvSpPr>
          <p:cNvPr id="7" name="Shape 4"/>
          <p:cNvSpPr/>
          <p:nvPr/>
        </p:nvSpPr>
        <p:spPr>
          <a:xfrm>
            <a:off x="7035800" y="1397000"/>
            <a:ext cx="4699000" cy="2906522"/>
          </a:xfrm>
          <a:prstGeom prst="roundRect">
            <a:avLst>
              <a:gd name="adj" fmla="val 2622"/>
            </a:avLst>
          </a:prstGeom>
          <a:solidFill>
            <a:srgbClr val="1E2230"/>
          </a:solidFill>
          <a:ln/>
        </p:spPr>
      </p:sp>
      <p:sp>
        <p:nvSpPr>
          <p:cNvPr id="8" name="Text 5"/>
          <p:cNvSpPr txBox="1"/>
          <p:nvPr/>
        </p:nvSpPr>
        <p:spPr>
          <a:xfrm>
            <a:off x="7162800" y="1511300"/>
            <a:ext cx="44450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javap -c Ops (JDK 25)</a:t>
            </a:r>
            <a:endParaRPr lang="en-US" sz="900" dirty="0"/>
          </a:p>
        </p:txBody>
      </p:sp>
      <p:sp>
        <p:nvSpPr>
          <p:cNvPr id="9" name="Text 6"/>
          <p:cNvSpPr txBox="1"/>
          <p:nvPr/>
        </p:nvSpPr>
        <p:spPr>
          <a:xfrm>
            <a:off x="7162800" y="1752600"/>
            <a:ext cx="4445000" cy="2449322"/>
          </a:xfrm>
          <a:prstGeom prst="rect">
            <a:avLst/>
          </a:prstGeom>
          <a:noFill/>
          <a:ln/>
        </p:spPr>
        <p:txBody>
          <a:bodyPr wrap="square" lIns="0" tIns="0" rIns="0" bIns="0" rtlCol="0" anchor="t"/>
          <a:lstStyle/>
          <a:p>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int addI(int a, int b)  { return a + b; }</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iload_0  iload_1  </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iadd</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ireturn</a:t>
            </a:r>
            <a:endParaRPr lang="en-US" sz="950" dirty="0"/>
          </a:p>
          <a:p>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long addL(long a, long b)</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lload_0  </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lload_2</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ladd  lreturn</a:t>
            </a:r>
            <a:endParaRPr lang="en-US" sz="950" dirty="0"/>
          </a:p>
          <a:p>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byte addB(byte a, byte b)</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iload_0  iload_1  </a:t>
            </a:r>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iadd  i2b</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ireturn</a:t>
            </a:r>
            <a:endParaRPr lang="en-US" sz="950" dirty="0"/>
          </a:p>
          <a:p>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Integer box(int a)</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iload_0</a:t>
            </a:r>
            <a:endParaRPr lang="en-US" sz="950" dirty="0"/>
          </a:p>
          <a:p>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invokestatic</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Integer.valueOf:(I)Integer</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areturn</a:t>
            </a:r>
            <a:endParaRPr lang="en-US" sz="950" dirty="0"/>
          </a:p>
          <a:p>
            <a:pPr indent="0" marL="0">
              <a:lnSpc>
                <a:spcPts val="1349"/>
              </a:lnSpc>
              <a:buNone/>
            </a:pPr>
            <a:r>
              <a:rPr lang="en-US" sz="950" dirty="0">
                <a:solidFill>
                  <a:srgbClr val="8A93A6"/>
                </a:solidFill>
                <a:latin typeface="Consolas" pitchFamily="34" charset="0"/>
                <a:ea typeface="Consolas" pitchFamily="34" charset="-122"/>
                <a:cs typeface="Consolas" pitchFamily="34" charset="-120"/>
              </a:rPr>
              <a:t>// int unbox(Integer a)</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aload_0</a:t>
            </a:r>
            <a:endParaRPr lang="en-US" sz="950" dirty="0"/>
          </a:p>
          <a:p>
            <a:pPr indent="0" marL="0">
              <a:lnSpc>
                <a:spcPts val="1349"/>
              </a:lnSpc>
              <a:buNone/>
            </a:pPr>
            <a:r>
              <a:rPr lang="en-US" sz="950" b="1" dirty="0">
                <a:solidFill>
                  <a:srgbClr val="FFB86C"/>
                </a:solidFill>
                <a:latin typeface="Consolas" pitchFamily="34" charset="0"/>
                <a:ea typeface="Consolas" pitchFamily="34" charset="-122"/>
                <a:cs typeface="Consolas" pitchFamily="34" charset="-120"/>
              </a:rPr>
              <a:t>invokevirtual</a:t>
            </a:r>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 Integer.intValue:()I</a:t>
            </a:r>
            <a:endParaRPr lang="en-US" sz="950" dirty="0"/>
          </a:p>
          <a:p>
            <a:pPr indent="0" marL="0">
              <a:lnSpc>
                <a:spcPts val="1349"/>
              </a:lnSpc>
              <a:buNone/>
            </a:pPr>
            <a:r>
              <a:rPr lang="en-US" sz="950" dirty="0">
                <a:solidFill>
                  <a:srgbClr val="E6E9EF"/>
                </a:solidFill>
                <a:latin typeface="Consolas" pitchFamily="34" charset="0"/>
                <a:ea typeface="Consolas" pitchFamily="34" charset="-122"/>
                <a:cs typeface="Consolas" pitchFamily="34" charset="-120"/>
              </a:rPr>
              <a:t>ireturn</a:t>
            </a:r>
            <a:endParaRPr lang="en-US" sz="950" dirty="0"/>
          </a:p>
        </p:txBody>
      </p:sp>
      <p:sp>
        <p:nvSpPr>
          <p:cNvPr id="10" name="Shape 7"/>
          <p:cNvSpPr/>
          <p:nvPr/>
        </p:nvSpPr>
        <p:spPr>
          <a:xfrm>
            <a:off x="457200" y="4572000"/>
            <a:ext cx="3640667" cy="1244600"/>
          </a:xfrm>
          <a:prstGeom prst="roundRect">
            <a:avLst>
              <a:gd name="adj" fmla="val 6122"/>
            </a:avLst>
          </a:prstGeom>
          <a:solidFill>
            <a:srgbClr val="F4F6F9"/>
          </a:solidFill>
          <a:ln/>
        </p:spPr>
      </p:sp>
      <p:sp>
        <p:nvSpPr>
          <p:cNvPr id="11" name="Shape 8"/>
          <p:cNvSpPr/>
          <p:nvPr/>
        </p:nvSpPr>
        <p:spPr>
          <a:xfrm>
            <a:off x="457200" y="4572000"/>
            <a:ext cx="50800" cy="1244600"/>
          </a:xfrm>
          <a:prstGeom prst="rect">
            <a:avLst/>
          </a:prstGeom>
          <a:solidFill>
            <a:srgbClr val="2F6FB0"/>
          </a:solidFill>
          <a:ln/>
        </p:spPr>
      </p:sp>
      <p:sp>
        <p:nvSpPr>
          <p:cNvPr id="12" name="Text 9"/>
          <p:cNvSpPr txBox="1"/>
          <p:nvPr/>
        </p:nvSpPr>
        <p:spPr>
          <a:xfrm>
            <a:off x="635000" y="4699000"/>
            <a:ext cx="3335867" cy="177800"/>
          </a:xfrm>
          <a:prstGeom prst="rect">
            <a:avLst/>
          </a:prstGeom>
          <a:noFill/>
          <a:ln/>
        </p:spPr>
        <p:txBody>
          <a:bodyPr wrap="square" lIns="0" tIns="0" rIns="0" bIns="0" rtlCol="0" anchor="t"/>
          <a:lstStyle/>
          <a:p>
            <a:pPr indent="0" marL="0">
              <a:buNone/>
            </a:pPr>
            <a:r>
              <a:rPr lang="en-US" sz="1050" b="1" dirty="0">
                <a:solidFill>
                  <a:srgbClr val="2F6FB0"/>
                </a:solidFill>
                <a:latin typeface="Segoe UI" pitchFamily="34" charset="0"/>
                <a:ea typeface="Segoe UI" pitchFamily="34" charset="-122"/>
                <a:cs typeface="Segoe UI" pitchFamily="34" charset="-120"/>
              </a:rPr>
              <a:t>byte, short, char, boolean</a:t>
            </a:r>
            <a:endParaRPr lang="en-US" sz="1050" dirty="0"/>
          </a:p>
        </p:txBody>
      </p:sp>
      <p:sp>
        <p:nvSpPr>
          <p:cNvPr id="13" name="Text 10"/>
          <p:cNvSpPr txBox="1"/>
          <p:nvPr/>
        </p:nvSpPr>
        <p:spPr>
          <a:xfrm>
            <a:off x="635000" y="4953000"/>
            <a:ext cx="3335867" cy="1117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No arithmetic of their own: values are widened to </a:t>
            </a:r>
            <a:pPr indent="0" marL="0">
              <a:buNone/>
            </a:pPr>
            <a:r>
              <a:rPr lang="en-US" sz="1000" dirty="0">
                <a:solidFill>
                  <a:srgbClr val="1F2430"/>
                </a:solidFill>
                <a:latin typeface="Consolas" pitchFamily="34" charset="0"/>
                <a:ea typeface="Consolas" pitchFamily="34" charset="-122"/>
                <a:cs typeface="Consolas" pitchFamily="34" charset="-120"/>
              </a:rPr>
              <a:t>int</a:t>
            </a:r>
            <a:pPr indent="0" marL="0">
              <a:buNone/>
            </a:pPr>
            <a:r>
              <a:rPr lang="en-US" sz="1000" dirty="0">
                <a:solidFill>
                  <a:srgbClr val="1F2430"/>
                </a:solidFill>
                <a:latin typeface="Segoe UI" pitchFamily="34" charset="0"/>
                <a:ea typeface="Segoe UI" pitchFamily="34" charset="-122"/>
                <a:cs typeface="Segoe UI" pitchFamily="34" charset="-120"/>
              </a:rPr>
              <a:t> and narrowed back with </a:t>
            </a:r>
            <a:pPr indent="0" marL="0">
              <a:buNone/>
            </a:pPr>
            <a:r>
              <a:rPr lang="en-US" sz="1000" dirty="0">
                <a:solidFill>
                  <a:srgbClr val="1F2430"/>
                </a:solidFill>
                <a:latin typeface="Consolas" pitchFamily="34" charset="0"/>
                <a:ea typeface="Consolas" pitchFamily="34" charset="-122"/>
                <a:cs typeface="Consolas" pitchFamily="34" charset="-120"/>
              </a:rPr>
              <a:t>i2b</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i2s</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i2c</a:t>
            </a:r>
            <a:pPr indent="0" marL="0">
              <a:buNone/>
            </a:pPr>
            <a:r>
              <a:rPr lang="en-US" sz="1000" dirty="0">
                <a:solidFill>
                  <a:srgbClr val="1F2430"/>
                </a:solidFill>
                <a:latin typeface="Segoe UI" pitchFamily="34" charset="0"/>
                <a:ea typeface="Segoe UI" pitchFamily="34" charset="-122"/>
                <a:cs typeface="Segoe UI" pitchFamily="34" charset="-120"/>
              </a:rPr>
              <a:t>. Only arrays have own opcodes: </a:t>
            </a:r>
            <a:pPr indent="0" marL="0">
              <a:buNone/>
            </a:pPr>
            <a:r>
              <a:rPr lang="en-US" sz="1000" dirty="0">
                <a:solidFill>
                  <a:srgbClr val="1F2430"/>
                </a:solidFill>
                <a:latin typeface="Consolas" pitchFamily="34" charset="0"/>
                <a:ea typeface="Consolas" pitchFamily="34" charset="-122"/>
                <a:cs typeface="Consolas" pitchFamily="34" charset="-120"/>
              </a:rPr>
              <a:t>baload</a:t>
            </a:r>
            <a:pPr indent="0" marL="0">
              <a:buNone/>
            </a:pPr>
            <a:r>
              <a:rPr lang="en-US" sz="1000" dirty="0">
                <a:solidFill>
                  <a:srgbClr val="1F2430"/>
                </a:solidFill>
                <a:latin typeface="Segoe UI" pitchFamily="34" charset="0"/>
                <a:ea typeface="Segoe UI" pitchFamily="34" charset="-122"/>
                <a:cs typeface="Segoe UI" pitchFamily="34" charset="-120"/>
              </a:rPr>
              <a:t>/</a:t>
            </a:r>
            <a:pPr indent="0" marL="0">
              <a:buNone/>
            </a:pPr>
            <a:r>
              <a:rPr lang="en-US" sz="1000" dirty="0">
                <a:solidFill>
                  <a:srgbClr val="1F2430"/>
                </a:solidFill>
                <a:latin typeface="Consolas" pitchFamily="34" charset="0"/>
                <a:ea typeface="Consolas" pitchFamily="34" charset="-122"/>
                <a:cs typeface="Consolas" pitchFamily="34" charset="-120"/>
              </a:rPr>
              <a:t>bastore</a:t>
            </a:r>
            <a:pPr indent="0" marL="0">
              <a:buNone/>
            </a:pPr>
            <a:r>
              <a:rPr lang="en-US" sz="1000" dirty="0">
                <a:solidFill>
                  <a:srgbClr val="1F2430"/>
                </a:solidFill>
                <a:latin typeface="Segoe UI" pitchFamily="34" charset="0"/>
                <a:ea typeface="Segoe UI" pitchFamily="34" charset="-122"/>
                <a:cs typeface="Segoe UI" pitchFamily="34" charset="-120"/>
              </a:rPr>
              <a:t> (also used for </a:t>
            </a:r>
            <a:pPr indent="0" marL="0">
              <a:buNone/>
            </a:pPr>
            <a:r>
              <a:rPr lang="en-US" sz="1000" dirty="0">
                <a:solidFill>
                  <a:srgbClr val="1F2430"/>
                </a:solidFill>
                <a:latin typeface="Consolas" pitchFamily="34" charset="0"/>
                <a:ea typeface="Consolas" pitchFamily="34" charset="-122"/>
                <a:cs typeface="Consolas" pitchFamily="34" charset="-120"/>
              </a:rPr>
              <a:t>boolean[]</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caload</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saload</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14" name="Shape 11"/>
          <p:cNvSpPr/>
          <p:nvPr/>
        </p:nvSpPr>
        <p:spPr>
          <a:xfrm>
            <a:off x="4275667" y="4572000"/>
            <a:ext cx="3640667" cy="1244600"/>
          </a:xfrm>
          <a:prstGeom prst="roundRect">
            <a:avLst>
              <a:gd name="adj" fmla="val 6122"/>
            </a:avLst>
          </a:prstGeom>
          <a:solidFill>
            <a:srgbClr val="F4F6F9"/>
          </a:solidFill>
          <a:ln/>
        </p:spPr>
      </p:sp>
      <p:sp>
        <p:nvSpPr>
          <p:cNvPr id="15" name="Shape 12"/>
          <p:cNvSpPr/>
          <p:nvPr/>
        </p:nvSpPr>
        <p:spPr>
          <a:xfrm>
            <a:off x="4275667" y="4572000"/>
            <a:ext cx="50800" cy="1244600"/>
          </a:xfrm>
          <a:prstGeom prst="rect">
            <a:avLst/>
          </a:prstGeom>
          <a:solidFill>
            <a:srgbClr val="7A4FB5"/>
          </a:solidFill>
          <a:ln/>
        </p:spPr>
      </p:sp>
      <p:sp>
        <p:nvSpPr>
          <p:cNvPr id="16" name="Text 13"/>
          <p:cNvSpPr txBox="1"/>
          <p:nvPr/>
        </p:nvSpPr>
        <p:spPr>
          <a:xfrm>
            <a:off x="4453467" y="4699000"/>
            <a:ext cx="3335867" cy="177800"/>
          </a:xfrm>
          <a:prstGeom prst="rect">
            <a:avLst/>
          </a:prstGeom>
          <a:noFill/>
          <a:ln/>
        </p:spPr>
        <p:txBody>
          <a:bodyPr wrap="square" lIns="0" tIns="0" rIns="0" bIns="0" rtlCol="0" anchor="t"/>
          <a:lstStyle/>
          <a:p>
            <a:pPr indent="0" marL="0">
              <a:buNone/>
            </a:pPr>
            <a:r>
              <a:rPr lang="en-US" sz="1050" b="1" dirty="0">
                <a:solidFill>
                  <a:srgbClr val="7A4FB5"/>
                </a:solidFill>
                <a:latin typeface="Segoe UI" pitchFamily="34" charset="0"/>
                <a:ea typeface="Segoe UI" pitchFamily="34" charset="-122"/>
                <a:cs typeface="Segoe UI" pitchFamily="34" charset="-120"/>
              </a:rPr>
              <a:t>long and double take two slots</a:t>
            </a:r>
            <a:endParaRPr lang="en-US" sz="1050" dirty="0"/>
          </a:p>
        </p:txBody>
      </p:sp>
      <p:sp>
        <p:nvSpPr>
          <p:cNvPr id="17" name="Text 14"/>
          <p:cNvSpPr txBox="1"/>
          <p:nvPr/>
        </p:nvSpPr>
        <p:spPr>
          <a:xfrm>
            <a:off x="4453467" y="4953000"/>
            <a:ext cx="3335867" cy="11176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They use two local-variable and stack slots, so the second </a:t>
            </a:r>
            <a:pPr indent="0" marL="0">
              <a:buNone/>
            </a:pPr>
            <a:r>
              <a:rPr lang="en-US" sz="1000" dirty="0">
                <a:solidFill>
                  <a:srgbClr val="1F2430"/>
                </a:solidFill>
                <a:latin typeface="Consolas" pitchFamily="34" charset="0"/>
                <a:ea typeface="Consolas" pitchFamily="34" charset="-122"/>
                <a:cs typeface="Consolas" pitchFamily="34" charset="-120"/>
              </a:rPr>
              <a:t>long</a:t>
            </a:r>
            <a:pPr indent="0" marL="0">
              <a:buNone/>
            </a:pPr>
            <a:r>
              <a:rPr lang="en-US" sz="1000" dirty="0">
                <a:solidFill>
                  <a:srgbClr val="1F2430"/>
                </a:solidFill>
                <a:latin typeface="Segoe UI" pitchFamily="34" charset="0"/>
                <a:ea typeface="Segoe UI" pitchFamily="34" charset="-122"/>
                <a:cs typeface="Segoe UI" pitchFamily="34" charset="-120"/>
              </a:rPr>
              <a:t> parameter is </a:t>
            </a:r>
            <a:pPr indent="0" marL="0">
              <a:buNone/>
            </a:pPr>
            <a:r>
              <a:rPr lang="en-US" sz="1000" dirty="0">
                <a:solidFill>
                  <a:srgbClr val="1F2430"/>
                </a:solidFill>
                <a:latin typeface="Consolas" pitchFamily="34" charset="0"/>
                <a:ea typeface="Consolas" pitchFamily="34" charset="-122"/>
                <a:cs typeface="Consolas" pitchFamily="34" charset="-120"/>
              </a:rPr>
              <a:t>lload_2</a:t>
            </a:r>
            <a:pPr indent="0" marL="0">
              <a:buNone/>
            </a:pPr>
            <a:r>
              <a:rPr lang="en-US" sz="1000" dirty="0">
                <a:solidFill>
                  <a:srgbClr val="1F2430"/>
                </a:solidFill>
                <a:latin typeface="Segoe UI" pitchFamily="34" charset="0"/>
                <a:ea typeface="Segoe UI" pitchFamily="34" charset="-122"/>
                <a:cs typeface="Segoe UI" pitchFamily="34" charset="-120"/>
              </a:rPr>
              <a:t>, not </a:t>
            </a:r>
            <a:pPr indent="0" marL="0">
              <a:buNone/>
            </a:pPr>
            <a:r>
              <a:rPr lang="en-US" sz="1000" dirty="0">
                <a:solidFill>
                  <a:srgbClr val="1F2430"/>
                </a:solidFill>
                <a:latin typeface="Consolas" pitchFamily="34" charset="0"/>
                <a:ea typeface="Consolas" pitchFamily="34" charset="-122"/>
                <a:cs typeface="Consolas" pitchFamily="34" charset="-120"/>
              </a:rPr>
              <a:t>lload_1</a:t>
            </a:r>
            <a:pPr indent="0" marL="0">
              <a:buNone/>
            </a:pPr>
            <a:r>
              <a:rPr lang="en-US" sz="1000" dirty="0">
                <a:solidFill>
                  <a:srgbClr val="1F2430"/>
                </a:solidFill>
                <a:latin typeface="Segoe UI" pitchFamily="34" charset="0"/>
                <a:ea typeface="Segoe UI" pitchFamily="34" charset="-122"/>
                <a:cs typeface="Segoe UI" pitchFamily="34" charset="-120"/>
              </a:rPr>
              <a:t>. Stack ops such as </a:t>
            </a:r>
            <a:pPr indent="0" marL="0">
              <a:buNone/>
            </a:pPr>
            <a:r>
              <a:rPr lang="en-US" sz="1000" dirty="0">
                <a:solidFill>
                  <a:srgbClr val="1F2430"/>
                </a:solidFill>
                <a:latin typeface="Consolas" pitchFamily="34" charset="0"/>
                <a:ea typeface="Consolas" pitchFamily="34" charset="-122"/>
                <a:cs typeface="Consolas" pitchFamily="34" charset="-120"/>
              </a:rPr>
              <a:t>pop2</a:t>
            </a:r>
            <a:pPr indent="0" marL="0">
              <a:buNone/>
            </a:pPr>
            <a:r>
              <a:rPr lang="en-US" sz="1000" dirty="0">
                <a:solidFill>
                  <a:srgbClr val="1F2430"/>
                </a:solidFill>
                <a:latin typeface="Segoe UI" pitchFamily="34" charset="0"/>
                <a:ea typeface="Segoe UI" pitchFamily="34" charset="-122"/>
                <a:cs typeface="Segoe UI" pitchFamily="34" charset="-120"/>
              </a:rPr>
              <a:t> and </a:t>
            </a:r>
            <a:pPr indent="0" marL="0">
              <a:buNone/>
            </a:pPr>
            <a:r>
              <a:rPr lang="en-US" sz="1000" dirty="0">
                <a:solidFill>
                  <a:srgbClr val="1F2430"/>
                </a:solidFill>
                <a:latin typeface="Consolas" pitchFamily="34" charset="0"/>
                <a:ea typeface="Consolas" pitchFamily="34" charset="-122"/>
                <a:cs typeface="Consolas" pitchFamily="34" charset="-120"/>
              </a:rPr>
              <a:t>dup2</a:t>
            </a:r>
            <a:pPr indent="0" marL="0">
              <a:buNone/>
            </a:pPr>
            <a:r>
              <a:rPr lang="en-US" sz="1000" dirty="0">
                <a:solidFill>
                  <a:srgbClr val="1F2430"/>
                </a:solidFill>
                <a:latin typeface="Segoe UI" pitchFamily="34" charset="0"/>
                <a:ea typeface="Segoe UI" pitchFamily="34" charset="-122"/>
                <a:cs typeface="Segoe UI" pitchFamily="34" charset="-120"/>
              </a:rPr>
              <a:t> exist for them.</a:t>
            </a:r>
            <a:endParaRPr lang="en-US" sz="1000" dirty="0"/>
          </a:p>
        </p:txBody>
      </p:sp>
      <p:sp>
        <p:nvSpPr>
          <p:cNvPr id="18" name="Shape 15"/>
          <p:cNvSpPr/>
          <p:nvPr/>
        </p:nvSpPr>
        <p:spPr>
          <a:xfrm>
            <a:off x="8094133" y="4572000"/>
            <a:ext cx="3640667" cy="1244600"/>
          </a:xfrm>
          <a:prstGeom prst="roundRect">
            <a:avLst>
              <a:gd name="adj" fmla="val 6122"/>
            </a:avLst>
          </a:prstGeom>
          <a:solidFill>
            <a:srgbClr val="F4F6F9"/>
          </a:solidFill>
          <a:ln/>
        </p:spPr>
      </p:sp>
      <p:sp>
        <p:nvSpPr>
          <p:cNvPr id="19" name="Shape 16"/>
          <p:cNvSpPr/>
          <p:nvPr/>
        </p:nvSpPr>
        <p:spPr>
          <a:xfrm>
            <a:off x="8094133" y="4572000"/>
            <a:ext cx="50800" cy="1244600"/>
          </a:xfrm>
          <a:prstGeom prst="rect">
            <a:avLst/>
          </a:prstGeom>
          <a:solidFill>
            <a:srgbClr val="E76F00"/>
          </a:solidFill>
          <a:ln/>
        </p:spPr>
      </p:sp>
      <p:sp>
        <p:nvSpPr>
          <p:cNvPr id="20" name="Text 17"/>
          <p:cNvSpPr txBox="1"/>
          <p:nvPr/>
        </p:nvSpPr>
        <p:spPr>
          <a:xfrm>
            <a:off x="8271933" y="4699000"/>
            <a:ext cx="3335867" cy="177800"/>
          </a:xfrm>
          <a:prstGeom prst="rect">
            <a:avLst/>
          </a:prstGeom>
          <a:noFill/>
          <a:ln/>
        </p:spPr>
        <p:txBody>
          <a:bodyPr wrap="square" lIns="0" tIns="0" rIns="0" bIns="0" rtlCol="0" anchor="t"/>
          <a:lstStyle/>
          <a:p>
            <a:pPr indent="0" marL="0">
              <a:buNone/>
            </a:pPr>
            <a:r>
              <a:rPr lang="en-US" sz="1050" b="1" dirty="0">
                <a:solidFill>
                  <a:srgbClr val="E76F00"/>
                </a:solidFill>
                <a:latin typeface="Segoe UI" pitchFamily="34" charset="0"/>
                <a:ea typeface="Segoe UI" pitchFamily="34" charset="-122"/>
                <a:cs typeface="Segoe UI" pitchFamily="34" charset="-120"/>
              </a:rPr>
              <a:t>Boxing has no opcode</a:t>
            </a:r>
            <a:endParaRPr lang="en-US" sz="1050" dirty="0"/>
          </a:p>
        </p:txBody>
      </p:sp>
      <p:sp>
        <p:nvSpPr>
          <p:cNvPr id="21" name="Text 18"/>
          <p:cNvSpPr txBox="1"/>
          <p:nvPr/>
        </p:nvSpPr>
        <p:spPr>
          <a:xfrm>
            <a:off x="8271933" y="4953000"/>
            <a:ext cx="3335867" cy="1117600"/>
          </a:xfrm>
          <a:prstGeom prst="rect">
            <a:avLst/>
          </a:prstGeom>
          <a:noFill/>
          <a:ln/>
        </p:spPr>
        <p:txBody>
          <a:bodyPr wrap="square" lIns="0" tIns="0" rIns="0" bIns="0" rtlCol="0" anchor="t"/>
          <a:lstStyle/>
          <a:p>
            <a:pPr indent="0" marL="0">
              <a:buNone/>
            </a:pPr>
            <a:r>
              <a:rPr lang="en-US" sz="1000" dirty="0">
                <a:solidFill>
                  <a:srgbClr val="1F2430"/>
                </a:solidFill>
                <a:latin typeface="Consolas" pitchFamily="34" charset="0"/>
                <a:ea typeface="Consolas" pitchFamily="34" charset="-122"/>
                <a:cs typeface="Consolas" pitchFamily="34" charset="-120"/>
              </a:rPr>
              <a:t>int</a:t>
            </a:r>
            <a:pPr indent="0" marL="0">
              <a:buNone/>
            </a:pPr>
            <a:r>
              <a:rPr lang="en-US" sz="1000" dirty="0">
                <a:solidFill>
                  <a:srgbClr val="1F2430"/>
                </a:solidFill>
                <a:latin typeface="Segoe UI" pitchFamily="34" charset="0"/>
                <a:ea typeface="Segoe UI" pitchFamily="34" charset="-122"/>
                <a:cs typeface="Segoe UI" pitchFamily="34" charset="-120"/>
              </a:rPr>
              <a:t> → </a:t>
            </a:r>
            <a:pPr indent="0" marL="0">
              <a:buNone/>
            </a:pPr>
            <a:r>
              <a:rPr lang="en-US" sz="1000" dirty="0">
                <a:solidFill>
                  <a:srgbClr val="1F2430"/>
                </a:solidFill>
                <a:latin typeface="Consolas" pitchFamily="34" charset="0"/>
                <a:ea typeface="Consolas" pitchFamily="34" charset="-122"/>
                <a:cs typeface="Consolas" pitchFamily="34" charset="-120"/>
              </a:rPr>
              <a:t>Integer</a:t>
            </a:r>
            <a:pPr indent="0" marL="0">
              <a:buNone/>
            </a:pPr>
            <a:r>
              <a:rPr lang="en-US" sz="1000" dirty="0">
                <a:solidFill>
                  <a:srgbClr val="1F2430"/>
                </a:solidFill>
                <a:latin typeface="Segoe UI" pitchFamily="34" charset="0"/>
                <a:ea typeface="Segoe UI" pitchFamily="34" charset="-122"/>
                <a:cs typeface="Segoe UI" pitchFamily="34" charset="-120"/>
              </a:rPr>
              <a:t> is a method call to </a:t>
            </a:r>
            <a:pPr indent="0" marL="0">
              <a:buNone/>
            </a:pPr>
            <a:r>
              <a:rPr lang="en-US" sz="1000" dirty="0">
                <a:solidFill>
                  <a:srgbClr val="1F2430"/>
                </a:solidFill>
                <a:latin typeface="Consolas" pitchFamily="34" charset="0"/>
                <a:ea typeface="Consolas" pitchFamily="34" charset="-122"/>
                <a:cs typeface="Consolas" pitchFamily="34" charset="-120"/>
              </a:rPr>
              <a:t>Integer.valueOf</a:t>
            </a:r>
            <a:pPr indent="0" marL="0">
              <a:buNone/>
            </a:pPr>
            <a:r>
              <a:rPr lang="en-US" sz="1000" dirty="0">
                <a:solidFill>
                  <a:srgbClr val="1F2430"/>
                </a:solidFill>
                <a:latin typeface="Segoe UI" pitchFamily="34" charset="0"/>
                <a:ea typeface="Segoe UI" pitchFamily="34" charset="-122"/>
                <a:cs typeface="Segoe UI" pitchFamily="34" charset="-120"/>
              </a:rPr>
              <a:t>, and unboxing calls </a:t>
            </a:r>
            <a:pPr indent="0" marL="0">
              <a:buNone/>
            </a:pPr>
            <a:r>
              <a:rPr lang="en-US" sz="1000" dirty="0">
                <a:solidFill>
                  <a:srgbClr val="1F2430"/>
                </a:solidFill>
                <a:latin typeface="Consolas" pitchFamily="34" charset="0"/>
                <a:ea typeface="Consolas" pitchFamily="34" charset="-122"/>
                <a:cs typeface="Consolas" pitchFamily="34" charset="-120"/>
              </a:rPr>
              <a:t>intValue()</a:t>
            </a:r>
            <a:pPr indent="0" marL="0">
              <a:buNone/>
            </a:pPr>
            <a:r>
              <a:rPr lang="en-US" sz="1000" dirty="0">
                <a:solidFill>
                  <a:srgbClr val="1F2430"/>
                </a:solidFill>
                <a:latin typeface="Segoe UI" pitchFamily="34" charset="0"/>
                <a:ea typeface="Segoe UI" pitchFamily="34" charset="-122"/>
                <a:cs typeface="Segoe UI" pitchFamily="34" charset="-120"/>
              </a:rPr>
              <a:t>. This is the cost value classes and draft JEP 402 aim to reduce.</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Sins of the Past</a:t>
            </a:r>
            <a:endParaRPr lang="en-US" sz="2400" dirty="0"/>
          </a:p>
        </p:txBody>
      </p:sp>
      <p:sp>
        <p:nvSpPr>
          <p:cNvPr id="3" name="Text 1"/>
          <p:cNvSpPr/>
          <p:nvPr/>
        </p:nvSpPr>
        <p:spPr>
          <a:xfrm>
            <a:off x="9392920" y="381000"/>
            <a:ext cx="234188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JAVAP ON JDK 28-EA PREVIEW</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An instruction family per primitive (</a:t>
            </a:r>
            <a:pPr indent="0" marL="0">
              <a:buNone/>
            </a:pPr>
            <a:r>
              <a:rPr lang="en-US" sz="1200" dirty="0">
                <a:solidFill>
                  <a:srgbClr val="5B6475"/>
                </a:solidFill>
                <a:latin typeface="Consolas" pitchFamily="34" charset="0"/>
                <a:ea typeface="Consolas" pitchFamily="34" charset="-122"/>
                <a:cs typeface="Consolas" pitchFamily="34" charset="-120"/>
              </a:rPr>
              <a:t>iadd</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ladd</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fadd</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dirty="0">
                <a:solidFill>
                  <a:srgbClr val="5B6475"/>
                </a:solidFill>
                <a:latin typeface="Consolas" pitchFamily="34" charset="0"/>
                <a:ea typeface="Consolas" pitchFamily="34" charset="-122"/>
                <a:cs typeface="Consolas" pitchFamily="34" charset="-120"/>
              </a:rPr>
              <a:t>dadd</a:t>
            </a:r>
            <a:pPr indent="0" marL="0">
              <a:buNone/>
            </a:pPr>
            <a:r>
              <a:rPr lang="en-US" sz="1200" dirty="0">
                <a:solidFill>
                  <a:srgbClr val="5B6475"/>
                </a:solidFill>
                <a:latin typeface="Segoe UI" pitchFamily="34" charset="0"/>
                <a:ea typeface="Segoe UI" pitchFamily="34" charset="-122"/>
                <a:cs typeface="Segoe UI" pitchFamily="34" charset="-120"/>
              </a:rPr>
              <a:t>…) works for eight built-in types. It cannot work for value classes, which anyone can declare.</a:t>
            </a:r>
            <a:endParaRPr lang="en-US" sz="1200" dirty="0"/>
          </a:p>
        </p:txBody>
      </p:sp>
      <p:sp>
        <p:nvSpPr>
          <p:cNvPr id="5" name="Text 3"/>
          <p:cNvSpPr txBox="1"/>
          <p:nvPr/>
        </p:nvSpPr>
        <p:spPr>
          <a:xfrm>
            <a:off x="457200" y="1397000"/>
            <a:ext cx="5334000" cy="177800"/>
          </a:xfrm>
          <a:prstGeom prst="rect">
            <a:avLst/>
          </a:prstGeom>
          <a:noFill/>
          <a:ln/>
        </p:spPr>
        <p:txBody>
          <a:bodyPr wrap="square" lIns="0" tIns="0" rIns="0" bIns="0" rtlCol="0" anchor="t"/>
          <a:lstStyle/>
          <a:p>
            <a:pPr indent="0" marL="0">
              <a:buNone/>
            </a:pPr>
            <a:r>
              <a:rPr lang="en-US" sz="950" b="1" dirty="0">
                <a:solidFill>
                  <a:srgbClr val="C0392B"/>
                </a:solidFill>
                <a:latin typeface="Segoe UI" pitchFamily="34" charset="0"/>
                <a:ea typeface="Segoe UI" pitchFamily="34" charset="-122"/>
                <a:cs typeface="Segoe UI" pitchFamily="34" charset="-120"/>
              </a:rPr>
              <a:t>OLD APPROACH: AN OPCODE FAMILY PER TYPE</a:t>
            </a:r>
            <a:endParaRPr lang="en-US" sz="950" dirty="0"/>
          </a:p>
        </p:txBody>
      </p:sp>
      <p:sp>
        <p:nvSpPr>
          <p:cNvPr id="6" name="Text 4"/>
          <p:cNvSpPr/>
          <p:nvPr/>
        </p:nvSpPr>
        <p:spPr>
          <a:xfrm>
            <a:off x="457200" y="1651000"/>
            <a:ext cx="508000" cy="254000"/>
          </a:xfrm>
          <a:prstGeom prst="roundRect">
            <a:avLst>
              <a:gd name="adj" fmla="val 15000"/>
            </a:avLst>
          </a:prstGeom>
          <a:solidFill>
            <a:srgbClr val="2F6FB0"/>
          </a:solid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iadd</a:t>
            </a:r>
            <a:endParaRPr lang="en-US" sz="850" dirty="0"/>
          </a:p>
        </p:txBody>
      </p:sp>
      <p:sp>
        <p:nvSpPr>
          <p:cNvPr id="7" name="Text 5"/>
          <p:cNvSpPr/>
          <p:nvPr/>
        </p:nvSpPr>
        <p:spPr>
          <a:xfrm>
            <a:off x="1016000" y="1651000"/>
            <a:ext cx="508000" cy="254000"/>
          </a:xfrm>
          <a:prstGeom prst="roundRect">
            <a:avLst>
              <a:gd name="adj" fmla="val 15000"/>
            </a:avLst>
          </a:prstGeom>
          <a:solidFill>
            <a:srgbClr val="2F6FB0"/>
          </a:solid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ladd</a:t>
            </a:r>
            <a:endParaRPr lang="en-US" sz="850" dirty="0"/>
          </a:p>
        </p:txBody>
      </p:sp>
      <p:sp>
        <p:nvSpPr>
          <p:cNvPr id="8" name="Text 6"/>
          <p:cNvSpPr/>
          <p:nvPr/>
        </p:nvSpPr>
        <p:spPr>
          <a:xfrm>
            <a:off x="1574800" y="1651000"/>
            <a:ext cx="508000" cy="254000"/>
          </a:xfrm>
          <a:prstGeom prst="roundRect">
            <a:avLst>
              <a:gd name="adj" fmla="val 15000"/>
            </a:avLst>
          </a:prstGeom>
          <a:solidFill>
            <a:srgbClr val="2F6FB0"/>
          </a:solid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fadd</a:t>
            </a:r>
            <a:endParaRPr lang="en-US" sz="850" dirty="0"/>
          </a:p>
        </p:txBody>
      </p:sp>
      <p:sp>
        <p:nvSpPr>
          <p:cNvPr id="9" name="Text 7"/>
          <p:cNvSpPr/>
          <p:nvPr/>
        </p:nvSpPr>
        <p:spPr>
          <a:xfrm>
            <a:off x="2133600" y="1651000"/>
            <a:ext cx="508000" cy="254000"/>
          </a:xfrm>
          <a:prstGeom prst="roundRect">
            <a:avLst>
              <a:gd name="adj" fmla="val 15000"/>
            </a:avLst>
          </a:prstGeom>
          <a:solidFill>
            <a:srgbClr val="2F6FB0"/>
          </a:solid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dadd</a:t>
            </a:r>
            <a:endParaRPr lang="en-US" sz="850" dirty="0"/>
          </a:p>
        </p:txBody>
      </p:sp>
      <p:sp>
        <p:nvSpPr>
          <p:cNvPr id="10" name="Text 8"/>
          <p:cNvSpPr txBox="1"/>
          <p:nvPr/>
        </p:nvSpPr>
        <p:spPr>
          <a:xfrm>
            <a:off x="2692400" y="1676400"/>
            <a:ext cx="177800" cy="203200"/>
          </a:xfrm>
          <a:prstGeom prst="rect">
            <a:avLst/>
          </a:prstGeom>
          <a:noFill/>
          <a:ln/>
        </p:spPr>
        <p:txBody>
          <a:bodyPr wrap="square" lIns="0" tIns="0" rIns="0" bIns="0" rtlCol="0" anchor="t"/>
          <a:lstStyle/>
          <a:p>
            <a:pPr algn="ctr" indent="0" marL="0">
              <a:buNone/>
            </a:pPr>
            <a:r>
              <a:rPr lang="en-US" sz="1200" b="1" dirty="0">
                <a:solidFill>
                  <a:srgbClr val="C0392B"/>
                </a:solidFill>
                <a:latin typeface="Segoe UI" pitchFamily="34" charset="0"/>
                <a:ea typeface="Segoe UI" pitchFamily="34" charset="-122"/>
                <a:cs typeface="Segoe UI" pitchFamily="34" charset="-120"/>
              </a:rPr>
              <a:t>+</a:t>
            </a:r>
            <a:endParaRPr lang="en-US" sz="1200" dirty="0"/>
          </a:p>
        </p:txBody>
      </p:sp>
      <p:sp>
        <p:nvSpPr>
          <p:cNvPr id="11" name="Text 9"/>
          <p:cNvSpPr/>
          <p:nvPr/>
        </p:nvSpPr>
        <p:spPr>
          <a:xfrm>
            <a:off x="2921000" y="1651000"/>
            <a:ext cx="673100" cy="254000"/>
          </a:xfrm>
          <a:prstGeom prst="roundRect">
            <a:avLst>
              <a:gd name="adj" fmla="val 15000"/>
            </a:avLst>
          </a:prstGeom>
          <a:solidFill>
            <a:srgbClr val="FFFFFF"/>
          </a:solidFill>
          <a:ln w="12700">
            <a:solidFill>
              <a:srgbClr val="C0392B"/>
            </a:solidFill>
            <a:prstDash val="dash"/>
          </a:ln>
        </p:spPr>
        <p:txBody>
          <a:bodyPr wrap="square" lIns="0" tIns="0" rIns="0" bIns="0" rtlCol="0" anchor="ctr"/>
          <a:lstStyle/>
          <a:p>
            <a:pPr algn="ctr" indent="0" marL="0">
              <a:buNone/>
            </a:pPr>
            <a:r>
              <a:rPr lang="en-US" sz="850" dirty="0">
                <a:solidFill>
                  <a:srgbClr val="C0392B"/>
                </a:solidFill>
                <a:latin typeface="Consolas" pitchFamily="34" charset="0"/>
                <a:ea typeface="Consolas" pitchFamily="34" charset="-122"/>
                <a:cs typeface="Consolas" pitchFamily="34" charset="-120"/>
              </a:rPr>
              <a:t>Point?</a:t>
            </a:r>
            <a:endParaRPr lang="en-US" sz="850" dirty="0"/>
          </a:p>
        </p:txBody>
      </p:sp>
      <p:sp>
        <p:nvSpPr>
          <p:cNvPr id="12" name="Text 10"/>
          <p:cNvSpPr/>
          <p:nvPr/>
        </p:nvSpPr>
        <p:spPr>
          <a:xfrm>
            <a:off x="3644900" y="1651000"/>
            <a:ext cx="673100" cy="254000"/>
          </a:xfrm>
          <a:prstGeom prst="roundRect">
            <a:avLst>
              <a:gd name="adj" fmla="val 15000"/>
            </a:avLst>
          </a:prstGeom>
          <a:solidFill>
            <a:srgbClr val="FFFFFF"/>
          </a:solidFill>
          <a:ln w="12700">
            <a:solidFill>
              <a:srgbClr val="C0392B"/>
            </a:solidFill>
            <a:prstDash val="dash"/>
          </a:ln>
        </p:spPr>
        <p:txBody>
          <a:bodyPr wrap="square" lIns="0" tIns="0" rIns="0" bIns="0" rtlCol="0" anchor="ctr"/>
          <a:lstStyle/>
          <a:p>
            <a:pPr algn="ctr" indent="0" marL="0">
              <a:buNone/>
            </a:pPr>
            <a:r>
              <a:rPr lang="en-US" sz="850" dirty="0">
                <a:solidFill>
                  <a:srgbClr val="C0392B"/>
                </a:solidFill>
                <a:latin typeface="Consolas" pitchFamily="34" charset="0"/>
                <a:ea typeface="Consolas" pitchFamily="34" charset="-122"/>
                <a:cs typeface="Consolas" pitchFamily="34" charset="-120"/>
              </a:rPr>
              <a:t>Complex?</a:t>
            </a:r>
            <a:endParaRPr lang="en-US" sz="850" dirty="0"/>
          </a:p>
        </p:txBody>
      </p:sp>
      <p:sp>
        <p:nvSpPr>
          <p:cNvPr id="13" name="Text 11"/>
          <p:cNvSpPr/>
          <p:nvPr/>
        </p:nvSpPr>
        <p:spPr>
          <a:xfrm>
            <a:off x="4368800" y="1651000"/>
            <a:ext cx="673100" cy="254000"/>
          </a:xfrm>
          <a:prstGeom prst="roundRect">
            <a:avLst>
              <a:gd name="adj" fmla="val 15000"/>
            </a:avLst>
          </a:prstGeom>
          <a:solidFill>
            <a:srgbClr val="FFFFFF"/>
          </a:solidFill>
          <a:ln w="12700">
            <a:solidFill>
              <a:srgbClr val="C0392B"/>
            </a:solidFill>
            <a:prstDash val="dash"/>
          </a:ln>
        </p:spPr>
        <p:txBody>
          <a:bodyPr wrap="square" lIns="0" tIns="0" rIns="0" bIns="0" rtlCol="0" anchor="ctr"/>
          <a:lstStyle/>
          <a:p>
            <a:pPr algn="ctr" indent="0" marL="0">
              <a:buNone/>
            </a:pPr>
            <a:r>
              <a:rPr lang="en-US" sz="850" dirty="0">
                <a:solidFill>
                  <a:srgbClr val="C0392B"/>
                </a:solidFill>
                <a:latin typeface="Consolas" pitchFamily="34" charset="0"/>
                <a:ea typeface="Consolas" pitchFamily="34" charset="-122"/>
                <a:cs typeface="Consolas" pitchFamily="34" charset="-120"/>
              </a:rPr>
              <a:t>Float16?</a:t>
            </a:r>
            <a:endParaRPr lang="en-US" sz="850" dirty="0"/>
          </a:p>
        </p:txBody>
      </p:sp>
      <p:sp>
        <p:nvSpPr>
          <p:cNvPr id="14" name="Text 12"/>
          <p:cNvSpPr/>
          <p:nvPr/>
        </p:nvSpPr>
        <p:spPr>
          <a:xfrm>
            <a:off x="5092700" y="1651000"/>
            <a:ext cx="673100" cy="254000"/>
          </a:xfrm>
          <a:prstGeom prst="roundRect">
            <a:avLst>
              <a:gd name="adj" fmla="val 15000"/>
            </a:avLst>
          </a:prstGeom>
          <a:solidFill>
            <a:srgbClr val="FFFFFF"/>
          </a:solidFill>
          <a:ln w="12700">
            <a:solidFill>
              <a:srgbClr val="C0392B"/>
            </a:solidFill>
            <a:prstDash val="dash"/>
          </a:ln>
        </p:spPr>
        <p:txBody>
          <a:bodyPr wrap="square" lIns="0" tIns="0" rIns="0" bIns="0" rtlCol="0" anchor="ctr"/>
          <a:lstStyle/>
          <a:p>
            <a:pPr algn="ctr" indent="0" marL="0">
              <a:buNone/>
            </a:pPr>
            <a:r>
              <a:rPr lang="en-US" sz="850" dirty="0">
                <a:solidFill>
                  <a:srgbClr val="C0392B"/>
                </a:solidFill>
                <a:latin typeface="Consolas" pitchFamily="34" charset="0"/>
                <a:ea typeface="Consolas" pitchFamily="34" charset="-122"/>
                <a:cs typeface="Consolas" pitchFamily="34" charset="-120"/>
              </a:rPr>
              <a:t>… ∞</a:t>
            </a:r>
            <a:endParaRPr lang="en-US" sz="850" dirty="0"/>
          </a:p>
        </p:txBody>
      </p:sp>
      <p:sp>
        <p:nvSpPr>
          <p:cNvPr id="15" name="Text 13"/>
          <p:cNvSpPr txBox="1"/>
          <p:nvPr/>
        </p:nvSpPr>
        <p:spPr>
          <a:xfrm>
            <a:off x="457200" y="1955800"/>
            <a:ext cx="2286000" cy="152400"/>
          </a:xfrm>
          <a:prstGeom prst="rect">
            <a:avLst/>
          </a:prstGeom>
          <a:noFill/>
          <a:ln/>
        </p:spPr>
        <p:txBody>
          <a:bodyPr wrap="square" lIns="0" tIns="0" rIns="0" bIns="0" rtlCol="0" anchor="t"/>
          <a:lstStyle/>
          <a:p>
            <a:pPr indent="0" marL="0">
              <a:buNone/>
            </a:pPr>
            <a:r>
              <a:rPr lang="en-US" sz="800" dirty="0">
                <a:solidFill>
                  <a:srgbClr val="2F6FB0"/>
                </a:solidFill>
                <a:latin typeface="Segoe UI" pitchFamily="34" charset="0"/>
                <a:ea typeface="Segoe UI" pitchFamily="34" charset="-122"/>
                <a:cs typeface="Segoe UI" pitchFamily="34" charset="-120"/>
              </a:rPr>
              <a:t>built in: 8 primitive types</a:t>
            </a:r>
            <a:endParaRPr lang="en-US" sz="800" dirty="0"/>
          </a:p>
        </p:txBody>
      </p:sp>
      <p:sp>
        <p:nvSpPr>
          <p:cNvPr id="16" name="Text 14"/>
          <p:cNvSpPr txBox="1"/>
          <p:nvPr/>
        </p:nvSpPr>
        <p:spPr>
          <a:xfrm>
            <a:off x="2921000" y="1955800"/>
            <a:ext cx="2895600" cy="152400"/>
          </a:xfrm>
          <a:prstGeom prst="rect">
            <a:avLst/>
          </a:prstGeom>
          <a:noFill/>
          <a:ln/>
        </p:spPr>
        <p:txBody>
          <a:bodyPr wrap="square" lIns="0" tIns="0" rIns="0" bIns="0" rtlCol="0" anchor="t"/>
          <a:lstStyle/>
          <a:p>
            <a:pPr indent="0" marL="0">
              <a:buNone/>
            </a:pPr>
            <a:r>
              <a:rPr lang="en-US" sz="800" dirty="0">
                <a:solidFill>
                  <a:srgbClr val="C0392B"/>
                </a:solidFill>
                <a:latin typeface="Segoe UI" pitchFamily="34" charset="0"/>
                <a:ea typeface="Segoe UI" pitchFamily="34" charset="-122"/>
                <a:cs typeface="Segoe UI" pitchFamily="34" charset="-120"/>
              </a:rPr>
              <a:t>user-defined value classes: unbounded</a:t>
            </a:r>
            <a:endParaRPr lang="en-US" sz="800" dirty="0"/>
          </a:p>
        </p:txBody>
      </p:sp>
      <p:sp>
        <p:nvSpPr>
          <p:cNvPr id="17" name="bullets-C0392B-sins"/>
          <p:cNvSpPr txBox="1"/>
          <p:nvPr/>
        </p:nvSpPr>
        <p:spPr>
          <a:xfrm>
            <a:off x="457200" y="2235200"/>
            <a:ext cx="5334000" cy="1905000"/>
          </a:xfrm>
          <a:prstGeom prst="rect">
            <a:avLst/>
          </a:prstGeom>
          <a:noFill/>
          <a:ln/>
        </p:spPr>
        <p:txBody>
          <a:bodyPr wrap="square" lIns="0" tIns="0" rIns="0" bIns="0" rtlCol="0" anchor="t"/>
          <a:lstStyle/>
          <a:p>
            <a:pPr marL="165100" indent="-165100">
              <a:lnSpc>
                <a:spcPct val="105000"/>
              </a:lnSpc>
              <a:spcAft>
                <a:spcPts val="400"/>
              </a:spcAft>
              <a:buClr>
                <a:srgbClr val="C0392B"/>
              </a:buClr>
              <a:buSzPct val="100000"/>
              <a:buChar char="●"/>
            </a:pPr>
            <a:r>
              <a:rPr lang="en-US" sz="950" dirty="0">
                <a:solidFill>
                  <a:srgbClr val="1F2430"/>
                </a:solidFill>
                <a:latin typeface="Segoe UI" pitchFamily="34" charset="0"/>
                <a:ea typeface="Segoe UI" pitchFamily="34" charset="-122"/>
                <a:cs typeface="Segoe UI" pitchFamily="34" charset="-120"/>
              </a:rPr>
              <a:t>Opcodes are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one byte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202 of the 256 values (0–201) are taken and 3 more are reserved, so there is no room for families per type.</a:t>
            </a:r>
            <a:endParaRPr lang="en-US" sz="950" dirty="0"/>
          </a:p>
          <a:p>
            <a:pPr marL="165100" indent="-165100">
              <a:lnSpc>
                <a:spcPct val="105000"/>
              </a:lnSpc>
              <a:spcAft>
                <a:spcPts val="400"/>
              </a:spcAft>
              <a:buClr>
                <a:srgbClr val="C0392B"/>
              </a:buClr>
              <a:buSzPct val="100000"/>
              <a:buChar char="●"/>
            </a:pPr>
            <a:r>
              <a:rPr lang="en-US" sz="950" dirty="0">
                <a:solidFill>
                  <a:srgbClr val="1F2430"/>
                </a:solidFill>
                <a:latin typeface="Segoe UI" pitchFamily="34" charset="0"/>
                <a:ea typeface="Segoe UI" pitchFamily="34" charset="-122"/>
                <a:cs typeface="Segoe UI" pitchFamily="34" charset="-120"/>
              </a:rPr>
              <a:t>Even one generic family is a burden. Prototypes from about 2015 added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Q</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-descriptors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QPoint;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and v-bytecodes: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vload</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vstore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vreturn</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vaload</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vastore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vdefault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vwithfield</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a:t>
            </a:r>
            <a:endParaRPr lang="en-US" sz="950" dirty="0"/>
          </a:p>
          <a:p>
            <a:pPr marL="165100" indent="-165100">
              <a:lnSpc>
                <a:spcPct val="105000"/>
              </a:lnSpc>
              <a:spcAft>
                <a:spcPts val="400"/>
              </a:spcAft>
              <a:buClr>
                <a:srgbClr val="C0392B"/>
              </a:buClr>
              <a:buSzPct val="100000"/>
              <a:buChar char="●"/>
            </a:pPr>
            <a:r>
              <a:rPr lang="en-US" sz="950" dirty="0">
                <a:solidFill>
                  <a:srgbClr val="1F2430"/>
                </a:solidFill>
                <a:latin typeface="Segoe UI" pitchFamily="34" charset="0"/>
                <a:ea typeface="Segoe UI" pitchFamily="34" charset="-122"/>
                <a:cs typeface="Segoe UI" pitchFamily="34" charset="-120"/>
              </a:rPr>
              <a:t>Removed in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2023</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John Rose called them “a parallel universe of bytecodes”, with extra verifier work and migration hazards.</a:t>
            </a:r>
            <a:endParaRPr lang="en-US" sz="950" dirty="0"/>
          </a:p>
        </p:txBody>
      </p:sp>
      <p:sp>
        <p:nvSpPr>
          <p:cNvPr id="18" name="Text 16"/>
          <p:cNvSpPr txBox="1"/>
          <p:nvPr/>
        </p:nvSpPr>
        <p:spPr>
          <a:xfrm>
            <a:off x="6045200" y="1397000"/>
            <a:ext cx="56896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NEW APPROACH: VALUE OBJECTS REUSE REFERENCE BYTECODES</a:t>
            </a:r>
            <a:endParaRPr lang="en-US" sz="950" dirty="0"/>
          </a:p>
        </p:txBody>
      </p:sp>
      <p:sp>
        <p:nvSpPr>
          <p:cNvPr id="19" name="Shape 17"/>
          <p:cNvSpPr/>
          <p:nvPr/>
        </p:nvSpPr>
        <p:spPr>
          <a:xfrm>
            <a:off x="6045200" y="1625600"/>
            <a:ext cx="5689600" cy="2369109"/>
          </a:xfrm>
          <a:prstGeom prst="roundRect">
            <a:avLst>
              <a:gd name="adj" fmla="val 3216"/>
            </a:avLst>
          </a:prstGeom>
          <a:solidFill>
            <a:srgbClr val="1E2230"/>
          </a:solidFill>
          <a:ln/>
        </p:spPr>
      </p:sp>
      <p:sp>
        <p:nvSpPr>
          <p:cNvPr id="20" name="Text 18"/>
          <p:cNvSpPr txBox="1"/>
          <p:nvPr/>
        </p:nvSpPr>
        <p:spPr>
          <a:xfrm>
            <a:off x="6172200" y="1739900"/>
            <a:ext cx="54356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javap -c -v on JDK 28-ea (--enable-preview)</a:t>
            </a:r>
            <a:endParaRPr lang="en-US" sz="900" dirty="0"/>
          </a:p>
        </p:txBody>
      </p:sp>
      <p:sp>
        <p:nvSpPr>
          <p:cNvPr id="21" name="Text 19"/>
          <p:cNvSpPr txBox="1"/>
          <p:nvPr/>
        </p:nvSpPr>
        <p:spPr>
          <a:xfrm>
            <a:off x="6172200" y="1981200"/>
            <a:ext cx="5435600" cy="1911909"/>
          </a:xfrm>
          <a:prstGeom prst="rect">
            <a:avLst/>
          </a:prstGeom>
          <a:noFill/>
          <a:ln/>
        </p:spPr>
        <p:txBody>
          <a:bodyPr wrap="square" lIns="0" tIns="0" rIns="0" bIns="0" rtlCol="0" anchor="t"/>
          <a:lstStyle/>
          <a:p>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new Point(x, y): value record Point(int x, int y)</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new Point  dup  iload_0  iload_1</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invokespecial Point."&lt;init&gt;":(II)V  areturn</a:t>
            </a:r>
            <a:endParaRPr lang="en-US" sz="860" dirty="0"/>
          </a:p>
          <a:p>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identity record IPoint: exactly the same bytecode</a:t>
            </a:r>
            <a:endParaRPr lang="en-US" sz="860" dirty="0"/>
          </a:p>
          <a:p>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a == b on two Points</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aload_0  aload_1  </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if_acmpne</a:t>
            </a:r>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 same opcode</a:t>
            </a:r>
            <a:endParaRPr lang="en-US" sz="860" dirty="0"/>
          </a:p>
          <a:p>
            <a:pPr indent="0" marL="0">
              <a:lnSpc>
                <a:spcPts val="1221"/>
              </a:lnSpc>
              <a:buNone/>
            </a:pPr>
            <a:r>
              <a:rPr lang="en-US" sz="860" dirty="0">
                <a:solidFill>
                  <a:srgbClr val="8A93A6"/>
                </a:solidFill>
                <a:latin typeface="Consolas" pitchFamily="34" charset="0"/>
                <a:ea typeface="Consolas" pitchFamily="34" charset="-122"/>
                <a:cs typeface="Consolas" pitchFamily="34" charset="-120"/>
              </a:rPr>
              <a:t>// class file</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value class Point   flags: ACC_FINAL</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class IPoint        flags: ACC_FINAL, </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ACC_IDENTITY</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private final int x;  </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ACC_STRICT_INIT</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Point.&lt;init&gt;: putfield x, putfield y, then super()</a:t>
            </a:r>
            <a:endParaRPr lang="en-US" sz="860" dirty="0"/>
          </a:p>
          <a:p>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VB.class: </a:t>
            </a:r>
            <a:pPr indent="0" marL="0">
              <a:lnSpc>
                <a:spcPts val="1221"/>
              </a:lnSpc>
              <a:buNone/>
            </a:pPr>
            <a:r>
              <a:rPr lang="en-US" sz="860" b="1" dirty="0">
                <a:solidFill>
                  <a:srgbClr val="FFB86C"/>
                </a:solidFill>
                <a:latin typeface="Consolas" pitchFamily="34" charset="0"/>
                <a:ea typeface="Consolas" pitchFamily="34" charset="-122"/>
                <a:cs typeface="Consolas" pitchFamily="34" charset="-120"/>
              </a:rPr>
              <a:t>LoadableDescriptors</a:t>
            </a:r>
            <a:pPr indent="0" marL="0">
              <a:lnSpc>
                <a:spcPts val="1221"/>
              </a:lnSpc>
              <a:buNone/>
            </a:pPr>
            <a:r>
              <a:rPr lang="en-US" sz="860" dirty="0">
                <a:solidFill>
                  <a:srgbClr val="E6E9EF"/>
                </a:solidFill>
                <a:latin typeface="Consolas" pitchFamily="34" charset="0"/>
                <a:ea typeface="Consolas" pitchFamily="34" charset="-122"/>
                <a:cs typeface="Consolas" pitchFamily="34" charset="-120"/>
              </a:rPr>
              <a:t>: LVB$Point;</a:t>
            </a:r>
            <a:endParaRPr lang="en-US" sz="860" dirty="0"/>
          </a:p>
        </p:txBody>
      </p:sp>
      <p:sp>
        <p:nvSpPr>
          <p:cNvPr id="22" name="Shape 20"/>
          <p:cNvSpPr/>
          <p:nvPr/>
        </p:nvSpPr>
        <p:spPr>
          <a:xfrm>
            <a:off x="457200" y="4292600"/>
            <a:ext cx="11277600" cy="1524000"/>
          </a:xfrm>
          <a:prstGeom prst="roundRect">
            <a:avLst>
              <a:gd name="adj" fmla="val 5000"/>
            </a:avLst>
          </a:prstGeom>
          <a:solidFill>
            <a:srgbClr val="E8F4EE"/>
          </a:solidFill>
          <a:ln/>
        </p:spPr>
      </p:sp>
      <p:sp>
        <p:nvSpPr>
          <p:cNvPr id="23" name="Text 21"/>
          <p:cNvSpPr txBox="1"/>
          <p:nvPr/>
        </p:nvSpPr>
        <p:spPr>
          <a:xfrm>
            <a:off x="660400" y="4419600"/>
            <a:ext cx="889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THE NEW APPROACH: DESCRIBE THE CLASS, LET THE JVM CHOOSE THE LAYOUT</a:t>
            </a:r>
            <a:endParaRPr lang="en-US" sz="950" dirty="0"/>
          </a:p>
        </p:txBody>
      </p:sp>
      <p:sp>
        <p:nvSpPr>
          <p:cNvPr id="24" name="Text 22"/>
          <p:cNvSpPr txBox="1"/>
          <p:nvPr/>
        </p:nvSpPr>
        <p:spPr>
          <a:xfrm>
            <a:off x="660400" y="4673600"/>
            <a:ext cx="3471333" cy="1778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Same bytecodes</a:t>
            </a:r>
            <a:endParaRPr lang="en-US" sz="1050" dirty="0"/>
          </a:p>
        </p:txBody>
      </p:sp>
      <p:sp>
        <p:nvSpPr>
          <p:cNvPr id="25" name="Text 23"/>
          <p:cNvSpPr txBox="1"/>
          <p:nvPr/>
        </p:nvSpPr>
        <p:spPr>
          <a:xfrm>
            <a:off x="660400" y="4902200"/>
            <a:ext cx="3471333" cy="8382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Value objects use ordinary </a:t>
            </a:r>
            <a:pPr indent="0" marL="0">
              <a:buNone/>
            </a:pPr>
            <a:r>
              <a:rPr lang="en-US" sz="1000" dirty="0">
                <a:solidFill>
                  <a:srgbClr val="1F2430"/>
                </a:solidFill>
                <a:latin typeface="Consolas" pitchFamily="34" charset="0"/>
                <a:ea typeface="Consolas" pitchFamily="34" charset="-122"/>
                <a:cs typeface="Consolas" pitchFamily="34" charset="-120"/>
              </a:rPr>
              <a:t>L</a:t>
            </a:r>
            <a:pPr indent="0" marL="0">
              <a:buNone/>
            </a:pPr>
            <a:r>
              <a:rPr lang="en-US" sz="1000" dirty="0">
                <a:solidFill>
                  <a:srgbClr val="1F2430"/>
                </a:solidFill>
                <a:latin typeface="Segoe UI" pitchFamily="34" charset="0"/>
                <a:ea typeface="Segoe UI" pitchFamily="34" charset="-122"/>
                <a:cs typeface="Segoe UI" pitchFamily="34" charset="-120"/>
              </a:rPr>
              <a:t> descriptors and the reference opcodes: </a:t>
            </a:r>
            <a:pPr indent="0" marL="0">
              <a:buNone/>
            </a:pPr>
            <a:r>
              <a:rPr lang="en-US" sz="1000" dirty="0">
                <a:solidFill>
                  <a:srgbClr val="1F2430"/>
                </a:solidFill>
                <a:latin typeface="Consolas" pitchFamily="34" charset="0"/>
                <a:ea typeface="Consolas" pitchFamily="34" charset="-122"/>
                <a:cs typeface="Consolas" pitchFamily="34" charset="-120"/>
              </a:rPr>
              <a:t>new</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aload</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getfield</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aaload</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areturn</a:t>
            </a:r>
            <a:pPr indent="0" marL="0">
              <a:buNone/>
            </a:pPr>
            <a:r>
              <a:rPr lang="en-US" sz="1000" dirty="0">
                <a:solidFill>
                  <a:srgbClr val="1F2430"/>
                </a:solidFill>
                <a:latin typeface="Segoe UI" pitchFamily="34" charset="0"/>
                <a:ea typeface="Segoe UI" pitchFamily="34" charset="-122"/>
                <a:cs typeface="Segoe UI" pitchFamily="34" charset="-120"/>
              </a:rPr>
              <a:t>. No new opcodes.</a:t>
            </a:r>
            <a:endParaRPr lang="en-US" sz="1000" dirty="0"/>
          </a:p>
        </p:txBody>
      </p:sp>
      <p:sp>
        <p:nvSpPr>
          <p:cNvPr id="26" name="Text 24"/>
          <p:cNvSpPr txBox="1"/>
          <p:nvPr/>
        </p:nvSpPr>
        <p:spPr>
          <a:xfrm>
            <a:off x="4360333" y="4673600"/>
            <a:ext cx="3471333" cy="1778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Flags, not opcodes</a:t>
            </a:r>
            <a:endParaRPr lang="en-US" sz="1050" dirty="0"/>
          </a:p>
        </p:txBody>
      </p:sp>
      <p:sp>
        <p:nvSpPr>
          <p:cNvPr id="27" name="Text 25"/>
          <p:cNvSpPr txBox="1"/>
          <p:nvPr/>
        </p:nvSpPr>
        <p:spPr>
          <a:xfrm>
            <a:off x="4360333" y="4902200"/>
            <a:ext cx="3471333" cy="838200"/>
          </a:xfrm>
          <a:prstGeom prst="rect">
            <a:avLst/>
          </a:prstGeom>
          <a:noFill/>
          <a:ln/>
        </p:spPr>
        <p:txBody>
          <a:bodyPr wrap="square" lIns="0" tIns="0" rIns="0" bIns="0" rtlCol="0" anchor="t"/>
          <a:lstStyle/>
          <a:p>
            <a:pPr indent="0" marL="0">
              <a:buNone/>
            </a:pPr>
            <a:r>
              <a:rPr lang="en-US" sz="1000" dirty="0">
                <a:solidFill>
                  <a:srgbClr val="1F2430"/>
                </a:solidFill>
                <a:latin typeface="Consolas" pitchFamily="34" charset="0"/>
                <a:ea typeface="Consolas" pitchFamily="34" charset="-122"/>
                <a:cs typeface="Consolas" pitchFamily="34" charset="-120"/>
              </a:rPr>
              <a:t>ACC_IDENTITY</a:t>
            </a:r>
            <a:pPr indent="0" marL="0">
              <a:buNone/>
            </a:pPr>
            <a:r>
              <a:rPr lang="en-US" sz="1000" dirty="0">
                <a:solidFill>
                  <a:srgbClr val="1F2430"/>
                </a:solidFill>
                <a:latin typeface="Segoe UI" pitchFamily="34" charset="0"/>
                <a:ea typeface="Segoe UI" pitchFamily="34" charset="-122"/>
                <a:cs typeface="Segoe UI" pitchFamily="34" charset="-120"/>
              </a:rPr>
              <a:t> marks identity classes. Value fields are </a:t>
            </a:r>
            <a:pPr indent="0" marL="0">
              <a:buNone/>
            </a:pPr>
            <a:r>
              <a:rPr lang="en-US" sz="1000" dirty="0">
                <a:solidFill>
                  <a:srgbClr val="1F2430"/>
                </a:solidFill>
                <a:latin typeface="Consolas" pitchFamily="34" charset="0"/>
                <a:ea typeface="Consolas" pitchFamily="34" charset="-122"/>
                <a:cs typeface="Consolas" pitchFamily="34" charset="-120"/>
              </a:rPr>
              <a:t>ACC_STRICT_INIT</a:t>
            </a:r>
            <a:pPr indent="0" marL="0">
              <a:buNone/>
            </a:pPr>
            <a:r>
              <a:rPr lang="en-US" sz="1000" dirty="0">
                <a:solidFill>
                  <a:srgbClr val="1F2430"/>
                </a:solidFill>
                <a:latin typeface="Segoe UI" pitchFamily="34" charset="0"/>
                <a:ea typeface="Segoe UI" pitchFamily="34" charset="-122"/>
                <a:cs typeface="Segoe UI" pitchFamily="34" charset="-120"/>
              </a:rPr>
              <a:t> and set before </a:t>
            </a:r>
            <a:pPr indent="0" marL="0">
              <a:buNone/>
            </a:pPr>
            <a:r>
              <a:rPr lang="en-US" sz="1000" dirty="0">
                <a:solidFill>
                  <a:srgbClr val="1F2430"/>
                </a:solidFill>
                <a:latin typeface="Consolas" pitchFamily="34" charset="0"/>
                <a:ea typeface="Consolas" pitchFamily="34" charset="-122"/>
                <a:cs typeface="Consolas" pitchFamily="34" charset="-120"/>
              </a:rPr>
              <a:t>super()</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LoadableDescriptors</a:t>
            </a:r>
            <a:pPr indent="0" marL="0">
              <a:buNone/>
            </a:pPr>
            <a:r>
              <a:rPr lang="en-US" sz="1000" dirty="0">
                <a:solidFill>
                  <a:srgbClr val="1F2430"/>
                </a:solidFill>
                <a:latin typeface="Segoe UI" pitchFamily="34" charset="0"/>
                <a:ea typeface="Segoe UI" pitchFamily="34" charset="-122"/>
                <a:cs typeface="Segoe UI" pitchFamily="34" charset="-120"/>
              </a:rPr>
              <a:t> lets the JVM load </a:t>
            </a:r>
            <a:pPr indent="0" marL="0">
              <a:buNone/>
            </a:pPr>
            <a:r>
              <a:rPr lang="en-US" sz="1000" dirty="0">
                <a:solidFill>
                  <a:srgbClr val="1F2430"/>
                </a:solidFill>
                <a:latin typeface="Consolas" pitchFamily="34" charset="0"/>
                <a:ea typeface="Consolas" pitchFamily="34" charset="-122"/>
                <a:cs typeface="Consolas" pitchFamily="34" charset="-120"/>
              </a:rPr>
              <a:t>Point</a:t>
            </a:r>
            <a:pPr indent="0" marL="0">
              <a:buNone/>
            </a:pPr>
            <a:r>
              <a:rPr lang="en-US" sz="1000" dirty="0">
                <a:solidFill>
                  <a:srgbClr val="1F2430"/>
                </a:solidFill>
                <a:latin typeface="Segoe UI" pitchFamily="34" charset="0"/>
                <a:ea typeface="Segoe UI" pitchFamily="34" charset="-122"/>
                <a:cs typeface="Segoe UI" pitchFamily="34" charset="-120"/>
              </a:rPr>
              <a:t> early.</a:t>
            </a:r>
            <a:endParaRPr lang="en-US" sz="1000" dirty="0"/>
          </a:p>
        </p:txBody>
      </p:sp>
      <p:sp>
        <p:nvSpPr>
          <p:cNvPr id="28" name="Text 26"/>
          <p:cNvSpPr txBox="1"/>
          <p:nvPr/>
        </p:nvSpPr>
        <p:spPr>
          <a:xfrm>
            <a:off x="8060267" y="4673600"/>
            <a:ext cx="3471333" cy="177800"/>
          </a:xfrm>
          <a:prstGeom prst="rect">
            <a:avLst/>
          </a:prstGeom>
          <a:noFill/>
          <a:ln/>
        </p:spPr>
        <p:txBody>
          <a:bodyPr wrap="square" lIns="0" tIns="0" rIns="0" bIns="0" rtlCol="0" anchor="t"/>
          <a:lstStyle/>
          <a:p>
            <a:pPr indent="0" marL="0">
              <a:buNone/>
            </a:pPr>
            <a:r>
              <a:rPr lang="en-US" sz="1050" b="1" dirty="0">
                <a:solidFill>
                  <a:srgbClr val="2E8B57"/>
                </a:solidFill>
                <a:latin typeface="Segoe UI" pitchFamily="34" charset="0"/>
                <a:ea typeface="Segoe UI" pitchFamily="34" charset="-122"/>
                <a:cs typeface="Segoe UI" pitchFamily="34" charset="-120"/>
              </a:rPr>
              <a:t>JVM picks the layout</a:t>
            </a:r>
            <a:endParaRPr lang="en-US" sz="1050" dirty="0"/>
          </a:p>
        </p:txBody>
      </p:sp>
      <p:sp>
        <p:nvSpPr>
          <p:cNvPr id="29" name="Text 27"/>
          <p:cNvSpPr txBox="1"/>
          <p:nvPr/>
        </p:nvSpPr>
        <p:spPr>
          <a:xfrm>
            <a:off x="8060267" y="4902200"/>
            <a:ext cx="3471333" cy="8382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Flattening into fields and arrays, and scalarization in JIT-compiled code, are optimizations the bytecode never mentions. </a:t>
            </a:r>
            <a:pPr indent="0" marL="0">
              <a:buNone/>
            </a:pPr>
            <a:r>
              <a:rPr lang="en-US" sz="1000" dirty="0">
                <a:solidFill>
                  <a:srgbClr val="1F2430"/>
                </a:solidFill>
                <a:latin typeface="Consolas" pitchFamily="34" charset="0"/>
                <a:ea typeface="Consolas" pitchFamily="34" charset="-122"/>
                <a:cs typeface="Consolas" pitchFamily="34" charset="-120"/>
              </a:rPr>
              <a:t>if_acmpeq</a:t>
            </a:r>
            <a:pPr indent="0" marL="0">
              <a:buNone/>
            </a:pPr>
            <a:r>
              <a:rPr lang="en-US" sz="1000" dirty="0">
                <a:solidFill>
                  <a:srgbClr val="1F2430"/>
                </a:solidFill>
                <a:latin typeface="Segoe UI" pitchFamily="34" charset="0"/>
                <a:ea typeface="Segoe UI" pitchFamily="34" charset="-122"/>
                <a:cs typeface="Segoe UI" pitchFamily="34" charset="-120"/>
              </a:rPr>
              <a:t> compares value objects by state.</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Java generics: type erasure</a:t>
            </a:r>
            <a:endParaRPr lang="en-US" sz="2400" dirty="0"/>
          </a:p>
        </p:txBody>
      </p:sp>
      <p:sp>
        <p:nvSpPr>
          <p:cNvPr id="3" name="Text 1"/>
          <p:cNvSpPr/>
          <p:nvPr/>
        </p:nvSpPr>
        <p:spPr>
          <a:xfrm>
            <a:off x="9636760" y="381000"/>
            <a:ext cx="209804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JAVAC · JAVAP ON JDK 25</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Generic types are checked by the compiler and then </a:t>
            </a:r>
            <a:pPr indent="0" marL="0">
              <a:buNone/>
            </a:pPr>
            <a:r>
              <a:rPr lang="en-US" sz="1200" b="1" dirty="0">
                <a:solidFill>
                  <a:srgbClr val="5B6475"/>
                </a:solidFill>
                <a:latin typeface="Segoe UI" pitchFamily="34" charset="0"/>
                <a:ea typeface="Segoe UI" pitchFamily="34" charset="-122"/>
                <a:cs typeface="Segoe UI" pitchFamily="34" charset="-120"/>
              </a:rPr>
              <a:t>erased</a:t>
            </a:r>
            <a:pPr indent="0" marL="0">
              <a:buNone/>
            </a:pPr>
            <a:r>
              <a:rPr lang="en-US" sz="1200" dirty="0">
                <a:solidFill>
                  <a:srgbClr val="5B6475"/>
                </a:solidFill>
                <a:latin typeface="Segoe UI" pitchFamily="34" charset="0"/>
                <a:ea typeface="Segoe UI" pitchFamily="34" charset="-122"/>
                <a:cs typeface="Segoe UI" pitchFamily="34" charset="-120"/>
              </a:rPr>
              <a:t>: the bytecode works on plain </a:t>
            </a:r>
            <a:pPr indent="0" marL="0">
              <a:buNone/>
            </a:pPr>
            <a:r>
              <a:rPr lang="en-US" sz="1200" dirty="0">
                <a:solidFill>
                  <a:srgbClr val="5B6475"/>
                </a:solidFill>
                <a:latin typeface="Consolas" pitchFamily="34" charset="0"/>
                <a:ea typeface="Consolas" pitchFamily="34" charset="-122"/>
                <a:cs typeface="Consolas" pitchFamily="34" charset="-120"/>
              </a:rPr>
              <a:t>List</a:t>
            </a:r>
            <a:pPr indent="0" marL="0">
              <a:buNone/>
            </a:pPr>
            <a:r>
              <a:rPr lang="en-US" sz="1200" dirty="0">
                <a:solidFill>
                  <a:srgbClr val="5B6475"/>
                </a:solidFill>
                <a:latin typeface="Segoe UI" pitchFamily="34" charset="0"/>
                <a:ea typeface="Segoe UI" pitchFamily="34" charset="-122"/>
                <a:cs typeface="Segoe UI" pitchFamily="34" charset="-120"/>
              </a:rPr>
              <a:t> and </a:t>
            </a:r>
            <a:pPr indent="0" marL="0">
              <a:buNone/>
            </a:pPr>
            <a:r>
              <a:rPr lang="en-US" sz="1200" dirty="0">
                <a:solidFill>
                  <a:srgbClr val="5B6475"/>
                </a:solidFill>
                <a:latin typeface="Consolas" pitchFamily="34" charset="0"/>
                <a:ea typeface="Consolas" pitchFamily="34" charset="-122"/>
                <a:cs typeface="Consolas" pitchFamily="34" charset="-120"/>
              </a:rPr>
              <a:t>Object</a:t>
            </a:r>
            <a:pPr indent="0" marL="0">
              <a:buNone/>
            </a:pPr>
            <a:r>
              <a:rPr lang="en-US" sz="1200" dirty="0">
                <a:solidFill>
                  <a:srgbClr val="5B6475"/>
                </a:solidFill>
                <a:latin typeface="Segoe UI" pitchFamily="34" charset="0"/>
                <a:ea typeface="Segoe UI" pitchFamily="34" charset="-122"/>
                <a:cs typeface="Segoe UI" pitchFamily="34" charset="-120"/>
              </a:rPr>
              <a:t>, so the JVM never sees </a:t>
            </a:r>
            <a:pPr indent="0" marL="0">
              <a:buNone/>
            </a:pPr>
            <a:r>
              <a:rPr lang="en-US" sz="1200" dirty="0">
                <a:solidFill>
                  <a:srgbClr val="5B6475"/>
                </a:solidFill>
                <a:latin typeface="Consolas" pitchFamily="34" charset="0"/>
                <a:ea typeface="Consolas" pitchFamily="34" charset="-122"/>
                <a:cs typeface="Consolas" pitchFamily="34" charset="-120"/>
              </a:rPr>
              <a:t>String</a:t>
            </a:r>
            <a:pPr indent="0" marL="0">
              <a:buNone/>
            </a:pPr>
            <a:r>
              <a:rPr lang="en-US" sz="1200" dirty="0">
                <a:solidFill>
                  <a:srgbClr val="5B6475"/>
                </a:solidFill>
                <a:latin typeface="Segoe UI" pitchFamily="34" charset="0"/>
                <a:ea typeface="Segoe UI" pitchFamily="34" charset="-122"/>
                <a:cs typeface="Segoe UI" pitchFamily="34" charset="-120"/>
              </a:rPr>
              <a:t> or </a:t>
            </a:r>
            <a:pPr indent="0" marL="0">
              <a:buNone/>
            </a:pPr>
            <a:r>
              <a:rPr lang="en-US" sz="1200" dirty="0">
                <a:solidFill>
                  <a:srgbClr val="5B6475"/>
                </a:solidFill>
                <a:latin typeface="Consolas" pitchFamily="34" charset="0"/>
                <a:ea typeface="Consolas" pitchFamily="34" charset="-122"/>
                <a:cs typeface="Consolas" pitchFamily="34" charset="-120"/>
              </a:rPr>
              <a:t>Integer</a:t>
            </a:r>
            <a:pPr indent="0" marL="0">
              <a:buNone/>
            </a:pPr>
            <a:r>
              <a:rPr lang="en-US" sz="1200" dirty="0">
                <a:solidFill>
                  <a:srgbClr val="5B6475"/>
                </a:solidFill>
                <a:latin typeface="Segoe UI" pitchFamily="34" charset="0"/>
                <a:ea typeface="Segoe UI" pitchFamily="34" charset="-122"/>
                <a:cs typeface="Segoe UI" pitchFamily="34" charset="-120"/>
              </a:rPr>
              <a:t>. Java 5 (2004) chose this to stay compatible with pre-generic code.</a:t>
            </a:r>
            <a:endParaRPr lang="en-US" sz="1200" dirty="0"/>
          </a:p>
        </p:txBody>
      </p:sp>
      <p:sp>
        <p:nvSpPr>
          <p:cNvPr id="5" name="Shape 3"/>
          <p:cNvSpPr/>
          <p:nvPr/>
        </p:nvSpPr>
        <p:spPr>
          <a:xfrm>
            <a:off x="457200" y="1397000"/>
            <a:ext cx="5130800" cy="2293366"/>
          </a:xfrm>
          <a:prstGeom prst="roundRect">
            <a:avLst>
              <a:gd name="adj" fmla="val 3323"/>
            </a:avLst>
          </a:prstGeom>
          <a:solidFill>
            <a:srgbClr val="1E2230"/>
          </a:solidFill>
          <a:ln/>
        </p:spPr>
      </p:sp>
      <p:sp>
        <p:nvSpPr>
          <p:cNvPr id="6" name="Text 4"/>
          <p:cNvSpPr txBox="1"/>
          <p:nvPr/>
        </p:nvSpPr>
        <p:spPr>
          <a:xfrm>
            <a:off x="584200" y="1511300"/>
            <a:ext cx="48768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Erasure.java</a:t>
            </a:r>
            <a:endParaRPr lang="en-US" sz="900" dirty="0"/>
          </a:p>
        </p:txBody>
      </p:sp>
      <p:sp>
        <p:nvSpPr>
          <p:cNvPr id="7" name="Text 5"/>
          <p:cNvSpPr txBox="1"/>
          <p:nvPr/>
        </p:nvSpPr>
        <p:spPr>
          <a:xfrm>
            <a:off x="584200" y="1752600"/>
            <a:ext cx="4876800" cy="1836166"/>
          </a:xfrm>
          <a:prstGeom prst="rect">
            <a:avLst/>
          </a:prstGeom>
          <a:noFill/>
          <a:ln/>
        </p:spPr>
        <p:txBody>
          <a:bodyPr wrap="square" lIns="0" tIns="0" rIns="0" bIns="0" rtlCol="0" anchor="t"/>
          <a:lstStyle/>
          <a:p>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static</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String first(List&lt;String&gt; names) {</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a:t>
            </a:r>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return</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names.get(0);</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a:t>
            </a:r>
            <a:endParaRPr lang="en-US" sz="900" dirty="0"/>
          </a:p>
          <a:p>
            <a:pPr indent="0" marL="0">
              <a:lnSpc>
                <a:spcPts val="1278"/>
              </a:lnSpc>
              <a:buNone/>
            </a:pP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List&lt;String&gt;  strings = </a:t>
            </a:r>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new</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ArrayList&lt;&gt;();</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List&lt;Integer&gt; numbers = </a:t>
            </a:r>
            <a:pPr indent="0" marL="0">
              <a:lnSpc>
                <a:spcPts val="1278"/>
              </a:lnSpc>
              <a:buNone/>
            </a:pPr>
            <a:r>
              <a:rPr lang="en-US" sz="900" dirty="0">
                <a:solidFill>
                  <a:srgbClr val="C792EA"/>
                </a:solidFill>
                <a:latin typeface="Consolas" pitchFamily="34" charset="0"/>
                <a:ea typeface="Consolas" pitchFamily="34" charset="-122"/>
                <a:cs typeface="Consolas" pitchFamily="34" charset="-120"/>
              </a:rPr>
              <a:t>new</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ArrayList&lt;&gt;();</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println(strings.getClass() == numbers.getClass());</a:t>
            </a:r>
            <a:endParaRPr lang="en-US" sz="900" dirty="0"/>
          </a:p>
          <a:p>
            <a:pPr indent="0" marL="0">
              <a:lnSpc>
                <a:spcPts val="1278"/>
              </a:lnSpc>
              <a:buNone/>
            </a:pP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List raw = strings;</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raw.add(42);                </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no runtime check</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String s = first(strings);  </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fails here</a:t>
            </a:r>
            <a:endParaRPr lang="en-US" sz="900" dirty="0"/>
          </a:p>
        </p:txBody>
      </p:sp>
      <p:sp>
        <p:nvSpPr>
          <p:cNvPr id="8" name="Shape 6"/>
          <p:cNvSpPr/>
          <p:nvPr/>
        </p:nvSpPr>
        <p:spPr>
          <a:xfrm>
            <a:off x="5791200" y="1397000"/>
            <a:ext cx="5943600" cy="2455672"/>
          </a:xfrm>
          <a:prstGeom prst="roundRect">
            <a:avLst>
              <a:gd name="adj" fmla="val 3103"/>
            </a:avLst>
          </a:prstGeom>
          <a:solidFill>
            <a:srgbClr val="1E2230"/>
          </a:solidFill>
          <a:ln/>
        </p:spPr>
      </p:sp>
      <p:sp>
        <p:nvSpPr>
          <p:cNvPr id="9" name="Text 7"/>
          <p:cNvSpPr txBox="1"/>
          <p:nvPr/>
        </p:nvSpPr>
        <p:spPr>
          <a:xfrm>
            <a:off x="5918200" y="1511300"/>
            <a:ext cx="56896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javap -c -v Erasure</a:t>
            </a:r>
            <a:endParaRPr lang="en-US" sz="900" dirty="0"/>
          </a:p>
        </p:txBody>
      </p:sp>
      <p:sp>
        <p:nvSpPr>
          <p:cNvPr id="10" name="Text 8"/>
          <p:cNvSpPr txBox="1"/>
          <p:nvPr/>
        </p:nvSpPr>
        <p:spPr>
          <a:xfrm>
            <a:off x="5918200" y="1752600"/>
            <a:ext cx="5689600" cy="1998472"/>
          </a:xfrm>
          <a:prstGeom prst="rect">
            <a:avLst/>
          </a:prstGeom>
          <a:noFill/>
          <a:ln/>
        </p:spPr>
        <p:txBody>
          <a:bodyPr wrap="square" lIns="0" tIns="0" rIns="0" bIns="0" rtlCol="0" anchor="t"/>
          <a:lstStyle/>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first(List&lt;String&gt;)</a:t>
            </a:r>
            <a:endParaRPr lang="en-US" sz="900" dirty="0"/>
          </a:p>
          <a:p>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descriptor: (</a:t>
            </a:r>
            <a:pPr indent="0" marL="0">
              <a:lnSpc>
                <a:spcPts val="1278"/>
              </a:lnSpc>
              <a:buNone/>
            </a:pPr>
            <a:r>
              <a:rPr lang="en-US" sz="900" b="1" dirty="0">
                <a:solidFill>
                  <a:srgbClr val="FFB86C"/>
                </a:solidFill>
                <a:latin typeface="Consolas" pitchFamily="34" charset="0"/>
                <a:ea typeface="Consolas" pitchFamily="34" charset="-122"/>
                <a:cs typeface="Consolas" pitchFamily="34" charset="-120"/>
              </a:rPr>
              <a:t>Ljava/util/List;</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)Ljava/lang/String;</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0: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aload_0</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1: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iconst_0</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2: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invokeinterface List.get:(I)</a:t>
            </a:r>
            <a:pPr indent="0" marL="0">
              <a:lnSpc>
                <a:spcPts val="1278"/>
              </a:lnSpc>
              <a:buNone/>
            </a:pPr>
            <a:r>
              <a:rPr lang="en-US" sz="900" b="1" dirty="0">
                <a:solidFill>
                  <a:srgbClr val="FFB86C"/>
                </a:solidFill>
                <a:latin typeface="Consolas" pitchFamily="34" charset="0"/>
                <a:ea typeface="Consolas" pitchFamily="34" charset="-122"/>
                <a:cs typeface="Consolas" pitchFamily="34" charset="-120"/>
              </a:rPr>
              <a:t>Object</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7: </a:t>
            </a:r>
            <a:pPr indent="0" marL="0">
              <a:lnSpc>
                <a:spcPts val="1278"/>
              </a:lnSpc>
              <a:buNone/>
            </a:pPr>
            <a:r>
              <a:rPr lang="en-US" sz="900" b="1" dirty="0">
                <a:solidFill>
                  <a:srgbClr val="FF7B72"/>
                </a:solidFill>
                <a:latin typeface="Consolas" pitchFamily="34" charset="0"/>
                <a:ea typeface="Consolas" pitchFamily="34" charset="-122"/>
                <a:cs typeface="Consolas" pitchFamily="34" charset="-120"/>
              </a:rPr>
              <a:t>checkcast</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 java/lang/String</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inserted by javac</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10: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areturn</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Signature: (Ljava/util/List&lt;Ljava/lang/String;&gt;;)…</a:t>
            </a:r>
            <a:endParaRPr lang="en-US" sz="900" dirty="0"/>
          </a:p>
          <a:p>
            <a:pPr indent="0" marL="0">
              <a:lnSpc>
                <a:spcPts val="1278"/>
              </a:lnSpc>
              <a:buNone/>
            </a:pP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main(): both lists are the same class</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0: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new java/util/ArrayList</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List&lt;String&gt;</a:t>
            </a:r>
            <a:endParaRPr lang="en-US" sz="900" dirty="0"/>
          </a:p>
          <a:p>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8: </a:t>
            </a:r>
            <a:pPr indent="0" marL="0">
              <a:lnSpc>
                <a:spcPts val="1278"/>
              </a:lnSpc>
              <a:buNone/>
            </a:pPr>
            <a:r>
              <a:rPr lang="en-US" sz="900" dirty="0">
                <a:solidFill>
                  <a:srgbClr val="E6E9EF"/>
                </a:solidFill>
                <a:latin typeface="Consolas" pitchFamily="34" charset="0"/>
                <a:ea typeface="Consolas" pitchFamily="34" charset="-122"/>
                <a:cs typeface="Consolas" pitchFamily="34" charset="-120"/>
              </a:rPr>
              <a:t>new java/util/ArrayList</a:t>
            </a:r>
            <a:pPr indent="0" marL="0">
              <a:lnSpc>
                <a:spcPts val="1278"/>
              </a:lnSpc>
              <a:buNone/>
            </a:pPr>
            <a:r>
              <a:rPr lang="en-US" sz="900" dirty="0">
                <a:solidFill>
                  <a:srgbClr val="8A93A6"/>
                </a:solidFill>
                <a:latin typeface="Consolas" pitchFamily="34" charset="0"/>
                <a:ea typeface="Consolas" pitchFamily="34" charset="-122"/>
                <a:cs typeface="Consolas" pitchFamily="34" charset="-120"/>
              </a:rPr>
              <a:t>       // List&lt;Integer&gt;</a:t>
            </a:r>
            <a:endParaRPr lang="en-US" sz="900" dirty="0"/>
          </a:p>
        </p:txBody>
      </p:sp>
      <p:sp>
        <p:nvSpPr>
          <p:cNvPr id="11" name="Text 9"/>
          <p:cNvSpPr txBox="1"/>
          <p:nvPr/>
        </p:nvSpPr>
        <p:spPr>
          <a:xfrm>
            <a:off x="457200" y="4013200"/>
            <a:ext cx="762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WHAT THE JVM DOES WITH IT (MEASURED)</a:t>
            </a:r>
            <a:endParaRPr lang="en-US" sz="950" dirty="0"/>
          </a:p>
        </p:txBody>
      </p:sp>
      <p:sp>
        <p:nvSpPr>
          <p:cNvPr id="12" name="Shape 10"/>
          <p:cNvSpPr/>
          <p:nvPr/>
        </p:nvSpPr>
        <p:spPr>
          <a:xfrm>
            <a:off x="457200" y="4241800"/>
            <a:ext cx="3640667" cy="889000"/>
          </a:xfrm>
          <a:prstGeom prst="roundRect">
            <a:avLst>
              <a:gd name="adj" fmla="val 8571"/>
            </a:avLst>
          </a:prstGeom>
          <a:solidFill>
            <a:srgbClr val="F4F6F9"/>
          </a:solidFill>
          <a:ln/>
        </p:spPr>
      </p:sp>
      <p:sp>
        <p:nvSpPr>
          <p:cNvPr id="13" name="Text 11"/>
          <p:cNvSpPr txBox="1"/>
          <p:nvPr/>
        </p:nvSpPr>
        <p:spPr>
          <a:xfrm>
            <a:off x="609600" y="4343400"/>
            <a:ext cx="3335867" cy="1778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Same runtime class</a:t>
            </a:r>
            <a:endParaRPr lang="en-US" sz="1000" dirty="0"/>
          </a:p>
        </p:txBody>
      </p:sp>
      <p:sp>
        <p:nvSpPr>
          <p:cNvPr id="14" name="Text 12"/>
          <p:cNvSpPr txBox="1"/>
          <p:nvPr/>
        </p:nvSpPr>
        <p:spPr>
          <a:xfrm>
            <a:off x="609600" y="4572000"/>
            <a:ext cx="3335867" cy="7112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strings.getClass() == numbers.getClass()</a:t>
            </a:r>
            <a:pPr indent="0" marL="0">
              <a:buNone/>
            </a:pPr>
            <a:r>
              <a:rPr lang="en-US" sz="900" dirty="0">
                <a:solidFill>
                  <a:srgbClr val="1F2430"/>
                </a:solidFill>
                <a:latin typeface="Segoe UI" pitchFamily="34" charset="0"/>
                <a:ea typeface="Segoe UI" pitchFamily="34" charset="-122"/>
                <a:cs typeface="Segoe UI" pitchFamily="34" charset="-120"/>
              </a:rPr>
              <a:t> prints </a:t>
            </a:r>
            <a:pPr indent="0" marL="0">
              <a:buNone/>
            </a:pPr>
            <a:r>
              <a:rPr lang="en-US" sz="900" b="1" dirty="0">
                <a:solidFill>
                  <a:srgbClr val="2F6FB0"/>
                </a:solidFill>
                <a:latin typeface="Segoe UI" pitchFamily="34" charset="0"/>
                <a:ea typeface="Segoe UI" pitchFamily="34" charset="-122"/>
                <a:cs typeface="Segoe UI" pitchFamily="34" charset="-120"/>
              </a:rPr>
              <a:t>true</a:t>
            </a:r>
            <a:pPr indent="0" marL="0">
              <a:buNone/>
            </a:pPr>
            <a:r>
              <a:rPr lang="en-US" sz="900" dirty="0">
                <a:solidFill>
                  <a:srgbClr val="1F2430"/>
                </a:solidFill>
                <a:latin typeface="Segoe UI" pitchFamily="34" charset="0"/>
                <a:ea typeface="Segoe UI" pitchFamily="34" charset="-122"/>
                <a:cs typeface="Segoe UI" pitchFamily="34" charset="-120"/>
              </a:rPr>
              <a:t>. There is only one </a:t>
            </a:r>
            <a:pPr indent="0" marL="0">
              <a:buNone/>
            </a:pPr>
            <a:r>
              <a:rPr lang="en-US" sz="900" dirty="0">
                <a:solidFill>
                  <a:srgbClr val="1F2430"/>
                </a:solidFill>
                <a:latin typeface="Consolas" pitchFamily="34" charset="0"/>
                <a:ea typeface="Consolas" pitchFamily="34" charset="-122"/>
                <a:cs typeface="Consolas" pitchFamily="34" charset="-120"/>
              </a:rPr>
              <a:t>ArrayList</a:t>
            </a:r>
            <a:pPr indent="0" marL="0">
              <a:buNone/>
            </a:pPr>
            <a:r>
              <a:rPr lang="en-US" sz="900" dirty="0">
                <a:solidFill>
                  <a:srgbClr val="1F2430"/>
                </a:solidFill>
                <a:latin typeface="Segoe UI" pitchFamily="34" charset="0"/>
                <a:ea typeface="Segoe UI" pitchFamily="34" charset="-122"/>
                <a:cs typeface="Segoe UI" pitchFamily="34" charset="-120"/>
              </a:rPr>
              <a:t> class.</a:t>
            </a:r>
            <a:endParaRPr lang="en-US" sz="900" dirty="0"/>
          </a:p>
        </p:txBody>
      </p:sp>
      <p:sp>
        <p:nvSpPr>
          <p:cNvPr id="15" name="Shape 13"/>
          <p:cNvSpPr/>
          <p:nvPr/>
        </p:nvSpPr>
        <p:spPr>
          <a:xfrm>
            <a:off x="4275667" y="4241800"/>
            <a:ext cx="3640667" cy="889000"/>
          </a:xfrm>
          <a:prstGeom prst="roundRect">
            <a:avLst>
              <a:gd name="adj" fmla="val 8571"/>
            </a:avLst>
          </a:prstGeom>
          <a:solidFill>
            <a:srgbClr val="F4F6F9"/>
          </a:solidFill>
          <a:ln/>
        </p:spPr>
      </p:sp>
      <p:sp>
        <p:nvSpPr>
          <p:cNvPr id="16" name="Text 14"/>
          <p:cNvSpPr txBox="1"/>
          <p:nvPr/>
        </p:nvSpPr>
        <p:spPr>
          <a:xfrm>
            <a:off x="4428067" y="4343400"/>
            <a:ext cx="3335867" cy="1778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No check on insert</a:t>
            </a:r>
            <a:endParaRPr lang="en-US" sz="1000" dirty="0"/>
          </a:p>
        </p:txBody>
      </p:sp>
      <p:sp>
        <p:nvSpPr>
          <p:cNvPr id="17" name="Text 15"/>
          <p:cNvSpPr txBox="1"/>
          <p:nvPr/>
        </p:nvSpPr>
        <p:spPr>
          <a:xfrm>
            <a:off x="4428067" y="4572000"/>
            <a:ext cx="3335867" cy="7112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raw.add(42)</a:t>
            </a:r>
            <a:pPr indent="0" marL="0">
              <a:buNone/>
            </a:pPr>
            <a:r>
              <a:rPr lang="en-US" sz="900" dirty="0">
                <a:solidFill>
                  <a:srgbClr val="1F2430"/>
                </a:solidFill>
                <a:latin typeface="Segoe UI" pitchFamily="34" charset="0"/>
                <a:ea typeface="Segoe UI" pitchFamily="34" charset="-122"/>
                <a:cs typeface="Segoe UI" pitchFamily="34" charset="-120"/>
              </a:rPr>
              <a:t> succeeds and the list size is 1. The </a:t>
            </a:r>
            <a:pPr indent="0" marL="0">
              <a:buNone/>
            </a:pPr>
            <a:r>
              <a:rPr lang="en-US" sz="900" dirty="0">
                <a:solidFill>
                  <a:srgbClr val="1F2430"/>
                </a:solidFill>
                <a:latin typeface="Consolas" pitchFamily="34" charset="0"/>
                <a:ea typeface="Consolas" pitchFamily="34" charset="-122"/>
                <a:cs typeface="Consolas" pitchFamily="34" charset="-120"/>
              </a:rPr>
              <a:t>ClassCastException</a:t>
            </a:r>
            <a:pPr indent="0" marL="0">
              <a:buNone/>
            </a:pPr>
            <a:r>
              <a:rPr lang="en-US" sz="900" dirty="0">
                <a:solidFill>
                  <a:srgbClr val="1F2430"/>
                </a:solidFill>
                <a:latin typeface="Segoe UI" pitchFamily="34" charset="0"/>
                <a:ea typeface="Segoe UI" pitchFamily="34" charset="-122"/>
                <a:cs typeface="Segoe UI" pitchFamily="34" charset="-120"/>
              </a:rPr>
              <a:t> comes later, at the </a:t>
            </a:r>
            <a:pPr indent="0" marL="0">
              <a:buNone/>
            </a:pPr>
            <a:r>
              <a:rPr lang="en-US" sz="900" dirty="0">
                <a:solidFill>
                  <a:srgbClr val="1F2430"/>
                </a:solidFill>
                <a:latin typeface="Consolas" pitchFamily="34" charset="0"/>
                <a:ea typeface="Consolas" pitchFamily="34" charset="-122"/>
                <a:cs typeface="Consolas" pitchFamily="34" charset="-120"/>
              </a:rPr>
              <a:t>checkcast</a:t>
            </a:r>
            <a:pPr indent="0" marL="0">
              <a:buNone/>
            </a:pPr>
            <a:r>
              <a:rPr lang="en-US" sz="900" dirty="0">
                <a:solidFill>
                  <a:srgbClr val="1F2430"/>
                </a:solidFill>
                <a:latin typeface="Segoe UI" pitchFamily="34" charset="0"/>
                <a:ea typeface="Segoe UI" pitchFamily="34" charset="-122"/>
                <a:cs typeface="Segoe UI" pitchFamily="34" charset="-120"/>
              </a:rPr>
              <a:t> in </a:t>
            </a:r>
            <a:pPr indent="0" marL="0">
              <a:buNone/>
            </a:pPr>
            <a:r>
              <a:rPr lang="en-US" sz="900" dirty="0">
                <a:solidFill>
                  <a:srgbClr val="1F2430"/>
                </a:solidFill>
                <a:latin typeface="Consolas" pitchFamily="34" charset="0"/>
                <a:ea typeface="Consolas" pitchFamily="34" charset="-122"/>
                <a:cs typeface="Consolas" pitchFamily="34" charset="-120"/>
              </a:rPr>
              <a:t>first()</a:t>
            </a:r>
            <a:pPr indent="0" marL="0">
              <a:buNone/>
            </a:pPr>
            <a:r>
              <a:rPr lang="en-US" sz="900" dirty="0">
                <a:solidFill>
                  <a:srgbClr val="1F2430"/>
                </a:solidFill>
                <a:latin typeface="Segoe UI" pitchFamily="34" charset="0"/>
                <a:ea typeface="Segoe UI" pitchFamily="34" charset="-122"/>
                <a:cs typeface="Segoe UI" pitchFamily="34" charset="-120"/>
              </a:rPr>
              <a:t> (</a:t>
            </a:r>
            <a:pPr indent="0" marL="0">
              <a:buNone/>
            </a:pPr>
            <a:r>
              <a:rPr lang="en-US" sz="900" dirty="0">
                <a:solidFill>
                  <a:srgbClr val="1F2430"/>
                </a:solidFill>
                <a:latin typeface="Consolas" pitchFamily="34" charset="0"/>
                <a:ea typeface="Consolas" pitchFamily="34" charset="-122"/>
                <a:cs typeface="Consolas" pitchFamily="34" charset="-120"/>
              </a:rPr>
              <a:t>Erasure.java:5</a:t>
            </a:r>
            <a:pPr indent="0" marL="0">
              <a:buNone/>
            </a:pPr>
            <a:r>
              <a:rPr lang="en-US" sz="900" dirty="0">
                <a:solidFill>
                  <a:srgbClr val="1F2430"/>
                </a:solidFill>
                <a:latin typeface="Segoe UI" pitchFamily="34" charset="0"/>
                <a:ea typeface="Segoe UI" pitchFamily="34" charset="-122"/>
                <a:cs typeface="Segoe UI" pitchFamily="34" charset="-120"/>
              </a:rPr>
              <a:t>).</a:t>
            </a:r>
            <a:endParaRPr lang="en-US" sz="900" dirty="0"/>
          </a:p>
        </p:txBody>
      </p:sp>
      <p:sp>
        <p:nvSpPr>
          <p:cNvPr id="18" name="Shape 16"/>
          <p:cNvSpPr/>
          <p:nvPr/>
        </p:nvSpPr>
        <p:spPr>
          <a:xfrm>
            <a:off x="8094133" y="4241800"/>
            <a:ext cx="3640667" cy="889000"/>
          </a:xfrm>
          <a:prstGeom prst="roundRect">
            <a:avLst>
              <a:gd name="adj" fmla="val 8571"/>
            </a:avLst>
          </a:prstGeom>
          <a:solidFill>
            <a:srgbClr val="F4F6F9"/>
          </a:solidFill>
          <a:ln/>
        </p:spPr>
      </p:sp>
      <p:sp>
        <p:nvSpPr>
          <p:cNvPr id="19" name="Text 17"/>
          <p:cNvSpPr txBox="1"/>
          <p:nvPr/>
        </p:nvSpPr>
        <p:spPr>
          <a:xfrm>
            <a:off x="8246533" y="4343400"/>
            <a:ext cx="3335867" cy="1778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Overloads clash</a:t>
            </a:r>
            <a:endParaRPr lang="en-US" sz="1000" dirty="0"/>
          </a:p>
        </p:txBody>
      </p:sp>
      <p:sp>
        <p:nvSpPr>
          <p:cNvPr id="20" name="Text 18"/>
          <p:cNvSpPr txBox="1"/>
          <p:nvPr/>
        </p:nvSpPr>
        <p:spPr>
          <a:xfrm>
            <a:off x="8246533" y="4572000"/>
            <a:ext cx="3335867" cy="711200"/>
          </a:xfrm>
          <a:prstGeom prst="rect">
            <a:avLst/>
          </a:prstGeom>
          <a:noFill/>
          <a:ln/>
        </p:spPr>
        <p:txBody>
          <a:bodyPr wrap="square" lIns="0" tIns="0" rIns="0" bIns="0" rtlCol="0" anchor="t"/>
          <a:lstStyle/>
          <a:p>
            <a:pPr indent="0" marL="0">
              <a:buNone/>
            </a:pPr>
            <a:r>
              <a:rPr lang="en-US" sz="900" dirty="0">
                <a:solidFill>
                  <a:srgbClr val="1F2430"/>
                </a:solidFill>
                <a:latin typeface="Consolas" pitchFamily="34" charset="0"/>
                <a:ea typeface="Consolas" pitchFamily="34" charset="-122"/>
                <a:cs typeface="Consolas" pitchFamily="34" charset="-120"/>
              </a:rPr>
              <a:t>print(List&lt;String&gt;)</a:t>
            </a:r>
            <a:pPr indent="0" marL="0">
              <a:buNone/>
            </a:pPr>
            <a:r>
              <a:rPr lang="en-US" sz="900" dirty="0">
                <a:solidFill>
                  <a:srgbClr val="1F2430"/>
                </a:solidFill>
                <a:latin typeface="Segoe UI" pitchFamily="34" charset="0"/>
                <a:ea typeface="Segoe UI" pitchFamily="34" charset="-122"/>
                <a:cs typeface="Segoe UI" pitchFamily="34" charset="-120"/>
              </a:rPr>
              <a:t> and </a:t>
            </a:r>
            <a:pPr indent="0" marL="0">
              <a:buNone/>
            </a:pPr>
            <a:r>
              <a:rPr lang="en-US" sz="900" dirty="0">
                <a:solidFill>
                  <a:srgbClr val="1F2430"/>
                </a:solidFill>
                <a:latin typeface="Consolas" pitchFamily="34" charset="0"/>
                <a:ea typeface="Consolas" pitchFamily="34" charset="-122"/>
                <a:cs typeface="Consolas" pitchFamily="34" charset="-120"/>
              </a:rPr>
              <a:t>print(List&lt;Integer&gt;)</a:t>
            </a:r>
            <a:pPr indent="0" marL="0">
              <a:buNone/>
            </a:pPr>
            <a:r>
              <a:rPr lang="en-US" sz="900" dirty="0">
                <a:solidFill>
                  <a:srgbClr val="1F2430"/>
                </a:solidFill>
                <a:latin typeface="Segoe UI" pitchFamily="34" charset="0"/>
                <a:ea typeface="Segoe UI" pitchFamily="34" charset="-122"/>
                <a:cs typeface="Segoe UI" pitchFamily="34" charset="-120"/>
              </a:rPr>
              <a:t> fail to compile: “name clash … have the same erasure”.</a:t>
            </a:r>
            <a:endParaRPr lang="en-US" sz="900" dirty="0"/>
          </a:p>
        </p:txBody>
      </p:sp>
      <p:sp>
        <p:nvSpPr>
          <p:cNvPr id="21" name="Shape 19"/>
          <p:cNvSpPr/>
          <p:nvPr/>
        </p:nvSpPr>
        <p:spPr>
          <a:xfrm>
            <a:off x="457200" y="5308600"/>
            <a:ext cx="11277600" cy="1092200"/>
          </a:xfrm>
          <a:prstGeom prst="roundRect">
            <a:avLst>
              <a:gd name="adj" fmla="val 6977"/>
            </a:avLst>
          </a:prstGeom>
          <a:solidFill>
            <a:srgbClr val="FDEBDC"/>
          </a:solidFill>
          <a:ln/>
        </p:spPr>
      </p:sp>
      <p:sp>
        <p:nvSpPr>
          <p:cNvPr id="22" name="Text 20"/>
          <p:cNvSpPr txBox="1"/>
          <p:nvPr/>
        </p:nvSpPr>
        <p:spPr>
          <a:xfrm>
            <a:off x="660400" y="5435600"/>
            <a:ext cx="762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WHY IT MATTERS</a:t>
            </a:r>
            <a:endParaRPr lang="en-US" sz="950" dirty="0"/>
          </a:p>
        </p:txBody>
      </p:sp>
      <p:sp>
        <p:nvSpPr>
          <p:cNvPr id="23" name="Text 21"/>
          <p:cNvSpPr txBox="1"/>
          <p:nvPr/>
        </p:nvSpPr>
        <p:spPr>
          <a:xfrm>
            <a:off x="660400" y="5651500"/>
            <a:ext cx="10871200" cy="3810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The generic type survives only as </a:t>
            </a:r>
            <a:pPr indent="0" marL="0">
              <a:buNone/>
            </a:pPr>
            <a:r>
              <a:rPr lang="en-US" sz="1000" b="1" dirty="0">
                <a:solidFill>
                  <a:srgbClr val="1F2430"/>
                </a:solidFill>
                <a:latin typeface="Segoe UI" pitchFamily="34" charset="0"/>
                <a:ea typeface="Segoe UI" pitchFamily="34" charset="-122"/>
                <a:cs typeface="Segoe UI" pitchFamily="34" charset="-120"/>
              </a:rPr>
              <a:t>metadata</a:t>
            </a:r>
            <a:pPr indent="0" marL="0">
              <a:buNone/>
            </a:pPr>
            <a:r>
              <a:rPr lang="en-US" sz="1000" dirty="0">
                <a:solidFill>
                  <a:srgbClr val="1F2430"/>
                </a:solidFill>
                <a:latin typeface="Segoe UI" pitchFamily="34" charset="0"/>
                <a:ea typeface="Segoe UI" pitchFamily="34" charset="-122"/>
                <a:cs typeface="Segoe UI" pitchFamily="34" charset="-120"/>
              </a:rPr>
              <a:t> (the </a:t>
            </a:r>
            <a:pPr indent="0" marL="0">
              <a:buNone/>
            </a:pPr>
            <a:r>
              <a:rPr lang="en-US" sz="1000" dirty="0">
                <a:solidFill>
                  <a:srgbClr val="1F2430"/>
                </a:solidFill>
                <a:latin typeface="Consolas" pitchFamily="34" charset="0"/>
                <a:ea typeface="Consolas" pitchFamily="34" charset="-122"/>
                <a:cs typeface="Consolas" pitchFamily="34" charset="-120"/>
              </a:rPr>
              <a:t>Signature</a:t>
            </a:r>
            <a:pPr indent="0" marL="0">
              <a:buNone/>
            </a:pPr>
            <a:r>
              <a:rPr lang="en-US" sz="1000" dirty="0">
                <a:solidFill>
                  <a:srgbClr val="1F2430"/>
                </a:solidFill>
                <a:latin typeface="Segoe UI" pitchFamily="34" charset="0"/>
                <a:ea typeface="Segoe UI" pitchFamily="34" charset="-122"/>
                <a:cs typeface="Segoe UI" pitchFamily="34" charset="-120"/>
              </a:rPr>
              <a:t> attribute, used by javac and reflection); the JVM never checks it. That is why Java cannot do </a:t>
            </a:r>
            <a:pPr indent="0" marL="0">
              <a:buNone/>
            </a:pPr>
            <a:r>
              <a:rPr lang="en-US" sz="1000" dirty="0">
                <a:solidFill>
                  <a:srgbClr val="1F2430"/>
                </a:solidFill>
                <a:latin typeface="Consolas" pitchFamily="34" charset="0"/>
                <a:ea typeface="Consolas" pitchFamily="34" charset="-122"/>
                <a:cs typeface="Consolas" pitchFamily="34" charset="-120"/>
              </a:rPr>
              <a:t>new T()</a:t>
            </a:r>
            <a:pPr indent="0" marL="0">
              <a:buNone/>
            </a:pPr>
            <a:r>
              <a:rPr lang="en-US" sz="1000" dirty="0">
                <a:solidFill>
                  <a:srgbClr val="1F2430"/>
                </a:solidFill>
                <a:latin typeface="Segoe UI" pitchFamily="34" charset="0"/>
                <a:ea typeface="Segoe UI" pitchFamily="34" charset="-122"/>
                <a:cs typeface="Segoe UI" pitchFamily="34" charset="-120"/>
              </a:rPr>
              <a:t>, </a:t>
            </a:r>
            <a:pPr indent="0" marL="0">
              <a:buNone/>
            </a:pPr>
            <a:r>
              <a:rPr lang="en-US" sz="1000" dirty="0">
                <a:solidFill>
                  <a:srgbClr val="1F2430"/>
                </a:solidFill>
                <a:latin typeface="Consolas" pitchFamily="34" charset="0"/>
                <a:ea typeface="Consolas" pitchFamily="34" charset="-122"/>
                <a:cs typeface="Consolas" pitchFamily="34" charset="-120"/>
              </a:rPr>
              <a:t>instanceof List&lt;String&gt;</a:t>
            </a:r>
            <a:pPr indent="0" marL="0">
              <a:buNone/>
            </a:pPr>
            <a:r>
              <a:rPr lang="en-US" sz="1000" dirty="0">
                <a:solidFill>
                  <a:srgbClr val="1F2430"/>
                </a:solidFill>
                <a:latin typeface="Segoe UI" pitchFamily="34" charset="0"/>
                <a:ea typeface="Segoe UI" pitchFamily="34" charset="-122"/>
                <a:cs typeface="Segoe UI" pitchFamily="34" charset="-120"/>
              </a:rPr>
              <a:t> or </a:t>
            </a:r>
            <a:pPr indent="0" marL="0">
              <a:buNone/>
            </a:pPr>
            <a:r>
              <a:rPr lang="en-US" sz="1000" dirty="0">
                <a:solidFill>
                  <a:srgbClr val="1F2430"/>
                </a:solidFill>
                <a:latin typeface="Consolas" pitchFamily="34" charset="0"/>
                <a:ea typeface="Consolas" pitchFamily="34" charset="-122"/>
                <a:cs typeface="Consolas" pitchFamily="34" charset="-120"/>
              </a:rPr>
              <a:t>List&lt;int&gt;</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24" name="Text 22"/>
          <p:cNvSpPr txBox="1"/>
          <p:nvPr/>
        </p:nvSpPr>
        <p:spPr>
          <a:xfrm>
            <a:off x="660400" y="6108700"/>
            <a:ext cx="10871200" cy="177800"/>
          </a:xfrm>
          <a:prstGeom prst="rect">
            <a:avLst/>
          </a:prstGeom>
          <a:noFill/>
          <a:ln/>
        </p:spPr>
        <p:txBody>
          <a:bodyPr wrap="square" lIns="0" tIns="0" rIns="0" bIns="0" rtlCol="0" anchor="t"/>
          <a:lstStyle/>
          <a:p>
            <a:pPr indent="0" marL="0">
              <a:buNone/>
            </a:pPr>
            <a:r>
              <a:rPr lang="en-US" sz="1000" b="1" dirty="0">
                <a:solidFill>
                  <a:srgbClr val="1F2430"/>
                </a:solidFill>
                <a:latin typeface="Segoe UI" pitchFamily="34" charset="0"/>
                <a:ea typeface="Segoe UI" pitchFamily="34" charset="-122"/>
                <a:cs typeface="Segoe UI" pitchFamily="34" charset="-120"/>
              </a:rPr>
              <a:t>C# contrast:</a:t>
            </a:r>
            <a:pPr indent="0" marL="0">
              <a:buNone/>
            </a:pPr>
            <a:r>
              <a:rPr lang="en-US" sz="1000" dirty="0">
                <a:solidFill>
                  <a:srgbClr val="1F2430"/>
                </a:solidFill>
                <a:latin typeface="Segoe UI" pitchFamily="34" charset="0"/>
                <a:ea typeface="Segoe UI" pitchFamily="34" charset="-122"/>
                <a:cs typeface="Segoe UI" pitchFamily="34" charset="-120"/>
              </a:rPr>
              <a:t> .NET generics are reified, so </a:t>
            </a:r>
            <a:pPr indent="0" marL="0">
              <a:buNone/>
            </a:pPr>
            <a:r>
              <a:rPr lang="en-US" sz="1000" dirty="0">
                <a:solidFill>
                  <a:srgbClr val="1F2430"/>
                </a:solidFill>
                <a:latin typeface="Consolas" pitchFamily="34" charset="0"/>
                <a:ea typeface="Consolas" pitchFamily="34" charset="-122"/>
                <a:cs typeface="Consolas" pitchFamily="34" charset="-120"/>
              </a:rPr>
              <a:t>List&lt;string&gt;</a:t>
            </a:r>
            <a:pPr indent="0" marL="0">
              <a:buNone/>
            </a:pPr>
            <a:r>
              <a:rPr lang="en-US" sz="1000" dirty="0">
                <a:solidFill>
                  <a:srgbClr val="1F2430"/>
                </a:solidFill>
                <a:latin typeface="Segoe UI" pitchFamily="34" charset="0"/>
                <a:ea typeface="Segoe UI" pitchFamily="34" charset="-122"/>
                <a:cs typeface="Segoe UI" pitchFamily="34" charset="-120"/>
              </a:rPr>
              <a:t> and </a:t>
            </a:r>
            <a:pPr indent="0" marL="0">
              <a:buNone/>
            </a:pPr>
            <a:r>
              <a:rPr lang="en-US" sz="1000" dirty="0">
                <a:solidFill>
                  <a:srgbClr val="1F2430"/>
                </a:solidFill>
                <a:latin typeface="Consolas" pitchFamily="34" charset="0"/>
                <a:ea typeface="Consolas" pitchFamily="34" charset="-122"/>
                <a:cs typeface="Consolas" pitchFamily="34" charset="-120"/>
              </a:rPr>
              <a:t>List&lt;int&gt;</a:t>
            </a:r>
            <a:pPr indent="0" marL="0">
              <a:buNone/>
            </a:pPr>
            <a:r>
              <a:rPr lang="en-US" sz="1000" dirty="0">
                <a:solidFill>
                  <a:srgbClr val="1F2430"/>
                </a:solidFill>
                <a:latin typeface="Segoe UI" pitchFamily="34" charset="0"/>
                <a:ea typeface="Segoe UI" pitchFamily="34" charset="-122"/>
                <a:cs typeface="Segoe UI" pitchFamily="34" charset="-120"/>
              </a:rPr>
              <a:t> are distinct runtime types.</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304800"/>
            <a:ext cx="8128000" cy="431800"/>
          </a:xfrm>
          <a:prstGeom prst="rect">
            <a:avLst/>
          </a:prstGeom>
          <a:noFill/>
          <a:ln/>
        </p:spPr>
        <p:txBody>
          <a:bodyPr wrap="square" lIns="0" tIns="0" rIns="0" bIns="0" rtlCol="0" anchor="t"/>
          <a:lstStyle/>
          <a:p>
            <a:pPr indent="0" marL="0">
              <a:buNone/>
            </a:pPr>
            <a:r>
              <a:rPr lang="en-US" sz="2400" b="1" dirty="0">
                <a:solidFill>
                  <a:srgbClr val="1F2430"/>
                </a:solidFill>
                <a:latin typeface="Segoe UI" pitchFamily="34" charset="0"/>
                <a:ea typeface="Segoe UI" pitchFamily="34" charset="-122"/>
                <a:cs typeface="Segoe UI" pitchFamily="34" charset="-120"/>
              </a:rPr>
              <a:t>Possible future: type classes for Java</a:t>
            </a:r>
            <a:endParaRPr lang="en-US" sz="2400" dirty="0"/>
          </a:p>
        </p:txBody>
      </p:sp>
      <p:sp>
        <p:nvSpPr>
          <p:cNvPr id="3" name="Text 1"/>
          <p:cNvSpPr/>
          <p:nvPr/>
        </p:nvSpPr>
        <p:spPr>
          <a:xfrm>
            <a:off x="9474200" y="381000"/>
            <a:ext cx="2260600" cy="279400"/>
          </a:xfrm>
          <a:prstGeom prst="roundRect">
            <a:avLst>
              <a:gd name="adj" fmla="val 163636"/>
            </a:avLst>
          </a:prstGeom>
          <a:solidFill>
            <a:srgbClr val="FDEBDC"/>
          </a:solidFill>
          <a:ln/>
        </p:spPr>
        <p:txBody>
          <a:bodyPr wrap="square" lIns="0" tIns="0" rIns="0" bIns="0" rtlCol="0" anchor="ctr"/>
          <a:lstStyle/>
          <a:p>
            <a:pPr algn="ctr" indent="0" marL="0">
              <a:buNone/>
            </a:pPr>
            <a:r>
              <a:rPr lang="en-US" sz="1000" b="1" dirty="0">
                <a:solidFill>
                  <a:srgbClr val="E76F00"/>
                </a:solidFill>
                <a:latin typeface="Segoe UI" pitchFamily="34" charset="0"/>
                <a:ea typeface="Segoe UI" pitchFamily="34" charset="-122"/>
                <a:cs typeface="Segoe UI" pitchFamily="34" charset="-120"/>
              </a:rPr>
              <a:t>EXPERIMENTAL · NO JEP YET</a:t>
            </a:r>
            <a:endParaRPr lang="en-US" sz="1000" dirty="0"/>
          </a:p>
        </p:txBody>
      </p:sp>
      <p:sp>
        <p:nvSpPr>
          <p:cNvPr id="4" name="Text 2"/>
          <p:cNvSpPr txBox="1"/>
          <p:nvPr/>
        </p:nvSpPr>
        <p:spPr>
          <a:xfrm>
            <a:off x="457200" y="812800"/>
            <a:ext cx="11277600" cy="431800"/>
          </a:xfrm>
          <a:prstGeom prst="rect">
            <a:avLst/>
          </a:prstGeom>
          <a:noFill/>
          <a:ln/>
        </p:spPr>
        <p:txBody>
          <a:bodyPr wrap="square" lIns="0" tIns="0" rIns="0" bIns="0" rtlCol="0" anchor="t"/>
          <a:lstStyle/>
          <a:p>
            <a:pPr indent="0" marL="0">
              <a:buNone/>
            </a:pPr>
            <a:r>
              <a:rPr lang="en-US" sz="1200" dirty="0">
                <a:solidFill>
                  <a:srgbClr val="5B6475"/>
                </a:solidFill>
                <a:latin typeface="Segoe UI" pitchFamily="34" charset="0"/>
                <a:ea typeface="Segoe UI" pitchFamily="34" charset="-122"/>
                <a:cs typeface="Segoe UI" pitchFamily="34" charset="-120"/>
              </a:rPr>
              <a:t>At JVMLS 2025 (“</a:t>
            </a:r>
            <a:pPr indent="0" marL="0">
              <a:buNone/>
            </a:pPr>
            <a:r>
              <a:rPr lang="en-US" sz="1200" u="sng" dirty="0">
                <a:solidFill>
                  <a:srgbClr val="2F6FB0"/>
                </a:solidFill>
                <a:latin typeface="Segoe UI" pitchFamily="34" charset="0"/>
                <a:ea typeface="Segoe UI" pitchFamily="34" charset="-122"/>
                <a:cs typeface="Segoe UI" pitchFamily="34" charset="-120"/>
                <a:hlinkClick r:id="rId1" invalidUrl="" action="" tgtFrame="" tooltip="https://www.youtube.com/watch?v=Gz7Or9C0TpM" history="1" highlightClick="0" endSnd="0">
                  <a:extLst>
                    <a:ext uri="{A12FA001-AC4F-418D-AE19-62706E023703}">
                      <ahyp:hlinkClr xmlns:ahyp="http://schemas.microsoft.com/office/drawing/2018/hyperlinkcolor" val="tx"/>
                    </a:ext>
                  </a:extLst>
                </a:hlinkClick>
              </a:rPr>
              <a:t>Growing the Java Language</a:t>
            </a:r>
            <a:pPr indent="0" marL="0">
              <a:buNone/>
            </a:pPr>
            <a:r>
              <a:rPr lang="en-US" sz="1200" dirty="0">
                <a:solidFill>
                  <a:srgbClr val="5B6475"/>
                </a:solidFill>
                <a:latin typeface="Segoe UI" pitchFamily="34" charset="0"/>
                <a:ea typeface="Segoe UI" pitchFamily="34" charset="-122"/>
                <a:cs typeface="Segoe UI" pitchFamily="34" charset="-120"/>
              </a:rPr>
              <a:t>”) </a:t>
            </a:r>
            <a:pPr indent="0" marL="0">
              <a:buNone/>
            </a:pPr>
            <a:r>
              <a:rPr lang="en-US" sz="1200" b="1" dirty="0">
                <a:solidFill>
                  <a:srgbClr val="5B6475"/>
                </a:solidFill>
                <a:latin typeface="Segoe UI" pitchFamily="34" charset="0"/>
                <a:ea typeface="Segoe UI" pitchFamily="34" charset="-122"/>
                <a:cs typeface="Segoe UI" pitchFamily="34" charset="-120"/>
              </a:rPr>
              <a:t>Brian Goetz</a:t>
            </a:r>
            <a:pPr indent="0" marL="0">
              <a:buNone/>
            </a:pPr>
            <a:r>
              <a:rPr lang="en-US" sz="1200" dirty="0">
                <a:solidFill>
                  <a:srgbClr val="5B6475"/>
                </a:solidFill>
                <a:latin typeface="Segoe UI" pitchFamily="34" charset="0"/>
                <a:ea typeface="Segoe UI" pitchFamily="34" charset="-122"/>
                <a:cs typeface="Segoe UI" pitchFamily="34" charset="-120"/>
              </a:rPr>
              <a:t> (Java Language Architect) floated </a:t>
            </a:r>
            <a:pPr indent="0" marL="0">
              <a:buNone/>
            </a:pPr>
            <a:r>
              <a:rPr lang="en-US" sz="1200" b="1" dirty="0">
                <a:solidFill>
                  <a:srgbClr val="5B6475"/>
                </a:solidFill>
                <a:latin typeface="Segoe UI" pitchFamily="34" charset="0"/>
                <a:ea typeface="Segoe UI" pitchFamily="34" charset="-122"/>
                <a:cs typeface="Segoe UI" pitchFamily="34" charset="-120"/>
              </a:rPr>
              <a:t>type classes</a:t>
            </a:r>
            <a:pPr indent="0" marL="0">
              <a:buNone/>
            </a:pPr>
            <a:r>
              <a:rPr lang="en-US" sz="1200" dirty="0">
                <a:solidFill>
                  <a:srgbClr val="5B6475"/>
                </a:solidFill>
                <a:latin typeface="Segoe UI" pitchFamily="34" charset="0"/>
                <a:ea typeface="Segoe UI" pitchFamily="34" charset="-122"/>
                <a:cs typeface="Segoe UI" pitchFamily="34" charset="-120"/>
              </a:rPr>
              <a:t>: a type’s operations are published as a </a:t>
            </a:r>
            <a:pPr indent="0" marL="0">
              <a:buNone/>
            </a:pPr>
            <a:r>
              <a:rPr lang="en-US" sz="1200" b="1" dirty="0">
                <a:solidFill>
                  <a:srgbClr val="5B6475"/>
                </a:solidFill>
                <a:latin typeface="Segoe UI" pitchFamily="34" charset="0"/>
                <a:ea typeface="Segoe UI" pitchFamily="34" charset="-122"/>
                <a:cs typeface="Segoe UI" pitchFamily="34" charset="-120"/>
              </a:rPr>
              <a:t>witness</a:t>
            </a:r>
            <a:pPr indent="0" marL="0">
              <a:buNone/>
            </a:pPr>
            <a:r>
              <a:rPr lang="en-US" sz="1200" dirty="0">
                <a:solidFill>
                  <a:srgbClr val="5B6475"/>
                </a:solidFill>
                <a:latin typeface="Segoe UI" pitchFamily="34" charset="0"/>
                <a:ea typeface="Segoe UI" pitchFamily="34" charset="-122"/>
                <a:cs typeface="Segoe UI" pitchFamily="34" charset="-120"/>
              </a:rPr>
              <a:t> and found from the type alone. An experimental javac prototype followed in January 2026.</a:t>
            </a:r>
            <a:endParaRPr lang="en-US" sz="1200" dirty="0"/>
          </a:p>
        </p:txBody>
      </p:sp>
      <p:sp>
        <p:nvSpPr>
          <p:cNvPr id="5" name="Shape 3"/>
          <p:cNvSpPr/>
          <p:nvPr/>
        </p:nvSpPr>
        <p:spPr>
          <a:xfrm>
            <a:off x="457200" y="1397000"/>
            <a:ext cx="5969000" cy="3523285"/>
          </a:xfrm>
          <a:prstGeom prst="roundRect">
            <a:avLst>
              <a:gd name="adj" fmla="val 2163"/>
            </a:avLst>
          </a:prstGeom>
          <a:solidFill>
            <a:srgbClr val="1E2230"/>
          </a:solidFill>
          <a:ln/>
        </p:spPr>
      </p:sp>
      <p:sp>
        <p:nvSpPr>
          <p:cNvPr id="6" name="Text 4"/>
          <p:cNvSpPr txBox="1"/>
          <p:nvPr/>
        </p:nvSpPr>
        <p:spPr>
          <a:xfrm>
            <a:off x="584200" y="1511300"/>
            <a:ext cx="5715000" cy="177800"/>
          </a:xfrm>
          <a:prstGeom prst="rect">
            <a:avLst/>
          </a:prstGeom>
          <a:noFill/>
          <a:ln/>
        </p:spPr>
        <p:txBody>
          <a:bodyPr wrap="square" lIns="0" tIns="0" rIns="0" bIns="0" rtlCol="0" anchor="t"/>
          <a:lstStyle/>
          <a:p>
            <a:pPr indent="0" marL="0">
              <a:buNone/>
            </a:pPr>
            <a:r>
              <a:rPr lang="en-US" sz="900" b="1" dirty="0">
                <a:solidFill>
                  <a:srgbClr val="FFB86C"/>
                </a:solidFill>
                <a:latin typeface="Segoe UI" pitchFamily="34" charset="0"/>
                <a:ea typeface="Segoe UI" pitchFamily="34" charset="-122"/>
                <a:cs typeface="Segoe UI" pitchFamily="34" charset="-120"/>
              </a:rPr>
              <a:t>Prototype syntax (openjdk/valhalla PR #1886, type-classes branch)</a:t>
            </a:r>
            <a:endParaRPr lang="en-US" sz="900" dirty="0"/>
          </a:p>
        </p:txBody>
      </p:sp>
      <p:sp>
        <p:nvSpPr>
          <p:cNvPr id="7" name="Text 5"/>
          <p:cNvSpPr txBox="1"/>
          <p:nvPr/>
        </p:nvSpPr>
        <p:spPr>
          <a:xfrm>
            <a:off x="584200" y="1752600"/>
            <a:ext cx="5715000" cy="3066085"/>
          </a:xfrm>
          <a:prstGeom prst="rect">
            <a:avLst/>
          </a:prstGeom>
          <a:noFill/>
          <a:ln/>
        </p:spPr>
        <p:txBody>
          <a:bodyPr wrap="square" lIns="0" tIns="0" rIns="0" bIns="0" rtlCol="0" anchor="t"/>
          <a:lstStyle/>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1. a type class is an ordinary generic interface</a:t>
            </a:r>
            <a:endParaRPr lang="en-US" sz="880" dirty="0"/>
          </a:p>
          <a:p>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interface</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Sum&lt;X&gt;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X zero();</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X add(X a, X b);</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a:t>
            </a:r>
            <a:endParaRPr lang="en-US" sz="880" dirty="0"/>
          </a:p>
          <a:p>
            <a:pPr indent="0" marL="0">
              <a:lnSpc>
                <a:spcPts val="1250"/>
              </a:lnSpc>
              <a:buNone/>
            </a:pP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2. publish a witness: how MyInt satisfies Sum</a:t>
            </a:r>
            <a:endParaRPr lang="en-US" sz="880" dirty="0"/>
          </a:p>
          <a:p>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record</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int</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x)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__witness</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Sum&lt;MyInt&gt; SUM =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new</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Sum&lt;&gt;()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public</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 zero() {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return new</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MyInt(0);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public</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 add(MyInt a, MyInt b)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return new</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MyInt(a.x + b.x);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a:t>
            </a:r>
            <a:endParaRPr lang="en-US" sz="880" dirty="0"/>
          </a:p>
          <a:p>
            <a:pPr indent="0" marL="0">
              <a:lnSpc>
                <a:spcPts val="1250"/>
              </a:lnSpc>
              <a:buNone/>
            </a:pPr>
            <a:endParaRPr lang="en-US" sz="880" dirty="0"/>
          </a:p>
          <a:p>
            <a:pPr indent="0" marL="0">
              <a:lnSpc>
                <a:spcPts val="1250"/>
              </a:lnSpc>
              <a:buNone/>
            </a:pPr>
            <a:r>
              <a:rPr lang="en-US" sz="880" dirty="0">
                <a:solidFill>
                  <a:srgbClr val="8A93A6"/>
                </a:solidFill>
                <a:latin typeface="Consolas" pitchFamily="34" charset="0"/>
                <a:ea typeface="Consolas" pitchFamily="34" charset="-122"/>
                <a:cs typeface="Consolas" pitchFamily="34" charset="-120"/>
              </a:rPr>
              <a:t>// 3. summon it by type, no instance needed</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Sum&lt;MyInt&gt; sum = </a:t>
            </a:r>
            <a:pPr indent="0" marL="0">
              <a:lnSpc>
                <a:spcPts val="1250"/>
              </a:lnSpc>
              <a:buNone/>
            </a:pPr>
            <a:r>
              <a:rPr lang="en-US" sz="880" b="1" dirty="0">
                <a:solidFill>
                  <a:srgbClr val="FFB86C"/>
                </a:solidFill>
                <a:latin typeface="Consolas" pitchFamily="34" charset="0"/>
                <a:ea typeface="Consolas" pitchFamily="34" charset="-122"/>
                <a:cs typeface="Consolas" pitchFamily="34" charset="-120"/>
              </a:rPr>
              <a:t>Sum&lt;MyInt&gt;.__witness</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MyInt two = sum.add(</a:t>
            </a:r>
            <a:endParaRPr lang="en-US" sz="880" dirty="0"/>
          </a:p>
          <a:p>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sum.add(sum.zero(),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new</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MyInt(1)), </a:t>
            </a:r>
            <a:pPr indent="0" marL="0">
              <a:lnSpc>
                <a:spcPts val="1250"/>
              </a:lnSpc>
              <a:buNone/>
            </a:pPr>
            <a:r>
              <a:rPr lang="en-US" sz="880" dirty="0">
                <a:solidFill>
                  <a:srgbClr val="C792EA"/>
                </a:solidFill>
                <a:latin typeface="Consolas" pitchFamily="34" charset="0"/>
                <a:ea typeface="Consolas" pitchFamily="34" charset="-122"/>
                <a:cs typeface="Consolas" pitchFamily="34" charset="-120"/>
              </a:rPr>
              <a:t>new</a:t>
            </a:r>
            <a:pPr indent="0" marL="0">
              <a:lnSpc>
                <a:spcPts val="1250"/>
              </a:lnSpc>
              <a:buNone/>
            </a:pPr>
            <a:r>
              <a:rPr lang="en-US" sz="880" dirty="0">
                <a:solidFill>
                  <a:srgbClr val="E6E9EF"/>
                </a:solidFill>
                <a:latin typeface="Consolas" pitchFamily="34" charset="0"/>
                <a:ea typeface="Consolas" pitchFamily="34" charset="-122"/>
                <a:cs typeface="Consolas" pitchFamily="34" charset="-120"/>
              </a:rPr>
              <a:t> MyInt(1));</a:t>
            </a:r>
            <a:endParaRPr lang="en-US" sz="880" dirty="0"/>
          </a:p>
        </p:txBody>
      </p:sp>
      <p:sp>
        <p:nvSpPr>
          <p:cNvPr id="8" name="Text 6"/>
          <p:cNvSpPr txBox="1"/>
          <p:nvPr/>
        </p:nvSpPr>
        <p:spPr>
          <a:xfrm>
            <a:off x="6654800" y="1397000"/>
            <a:ext cx="5080000" cy="177800"/>
          </a:xfrm>
          <a:prstGeom prst="rect">
            <a:avLst/>
          </a:prstGeom>
          <a:noFill/>
          <a:ln/>
        </p:spPr>
        <p:txBody>
          <a:bodyPr wrap="square" lIns="0" tIns="0" rIns="0" bIns="0" rtlCol="0" anchor="t"/>
          <a:lstStyle/>
          <a:p>
            <a:pPr indent="0" marL="0">
              <a:buNone/>
            </a:pPr>
            <a:r>
              <a:rPr lang="en-US" sz="950" b="1" dirty="0">
                <a:solidFill>
                  <a:srgbClr val="2F6FB0"/>
                </a:solidFill>
                <a:latin typeface="Segoe UI" pitchFamily="34" charset="0"/>
                <a:ea typeface="Segoe UI" pitchFamily="34" charset="-122"/>
                <a:cs typeface="Segoe UI" pitchFamily="34" charset="-120"/>
              </a:rPr>
              <a:t>WHY IT MATTERS AFTER ERASURE</a:t>
            </a:r>
            <a:endParaRPr lang="en-US" sz="950" dirty="0"/>
          </a:p>
        </p:txBody>
      </p:sp>
      <p:sp>
        <p:nvSpPr>
          <p:cNvPr id="9" name="bullets-2F6FB0-tc"/>
          <p:cNvSpPr txBox="1"/>
          <p:nvPr/>
        </p:nvSpPr>
        <p:spPr>
          <a:xfrm>
            <a:off x="6654800" y="1625600"/>
            <a:ext cx="5080000" cy="1524000"/>
          </a:xfrm>
          <a:prstGeom prst="rect">
            <a:avLst/>
          </a:prstGeom>
          <a:noFill/>
          <a:ln/>
        </p:spPr>
        <p:txBody>
          <a:bodyPr wrap="square" lIns="0" tIns="0" rIns="0" bIns="0" rtlCol="0" anchor="t"/>
          <a:lstStyle/>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With erasure, generic code cannot ask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for anything: there is no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new 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or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T.zero()</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a:t>
            </a:r>
            <a:endParaRPr lang="en-US" sz="950" dirty="0"/>
          </a:p>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A witness is looked up by its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type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Sum&lt;MyInt&gt;</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so code gets type-specific operations such as </a:t>
            </a:r>
            <a:pPr indent="0" marL="0">
              <a:lnSpc>
                <a:spcPct val="105000"/>
              </a:lnSpc>
              <a:buNone/>
            </a:pPr>
            <a:r>
              <a:rPr lang="en-US" sz="950" dirty="0">
                <a:solidFill>
                  <a:srgbClr val="1F2430"/>
                </a:solidFill>
                <a:latin typeface="Consolas" pitchFamily="34" charset="0"/>
                <a:ea typeface="Consolas" pitchFamily="34" charset="-122"/>
                <a:cs typeface="Consolas" pitchFamily="34" charset="-120"/>
              </a:rPr>
              <a:t>zero()</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 without an instance.</a:t>
            </a:r>
            <a:endParaRPr lang="en-US" sz="950" dirty="0"/>
          </a:p>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The prototype also supports witness lookup at </a:t>
            </a:r>
            <a:pPr indent="0" marL="0">
              <a:lnSpc>
                <a:spcPct val="105000"/>
              </a:lnSpc>
              <a:buNone/>
            </a:pPr>
            <a:r>
              <a:rPr lang="en-US" sz="950" b="1" dirty="0">
                <a:solidFill>
                  <a:srgbClr val="1F2430"/>
                </a:solidFill>
                <a:latin typeface="Segoe UI" pitchFamily="34" charset="0"/>
                <a:ea typeface="Segoe UI" pitchFamily="34" charset="-122"/>
                <a:cs typeface="Segoe UI" pitchFamily="34" charset="-120"/>
              </a:rPr>
              <a:t>runtime</a:t>
            </a:r>
            <a:pPr indent="0" marL="0">
              <a:lnSpc>
                <a:spcPct val="105000"/>
              </a:lnSpc>
              <a:buNone/>
            </a:pPr>
            <a:r>
              <a:rPr lang="en-US" sz="950" dirty="0">
                <a:solidFill>
                  <a:srgbClr val="1F2430"/>
                </a:solidFill>
                <a:latin typeface="Segoe UI" pitchFamily="34" charset="0"/>
                <a:ea typeface="Segoe UI" pitchFamily="34" charset="-122"/>
                <a:cs typeface="Segoe UI" pitchFamily="34" charset="-120"/>
              </a:rPr>
              <a:t>.</a:t>
            </a:r>
            <a:endParaRPr lang="en-US" sz="950" dirty="0"/>
          </a:p>
          <a:p>
            <a:pPr marL="165100" indent="-165100">
              <a:lnSpc>
                <a:spcPct val="105000"/>
              </a:lnSpc>
              <a:spcAft>
                <a:spcPts val="400"/>
              </a:spcAft>
              <a:buClr>
                <a:srgbClr val="2F6FB0"/>
              </a:buClr>
              <a:buSzPct val="100000"/>
              <a:buChar char="●"/>
            </a:pPr>
            <a:r>
              <a:rPr lang="en-US" sz="950" dirty="0">
                <a:solidFill>
                  <a:srgbClr val="1F2430"/>
                </a:solidFill>
                <a:latin typeface="Segoe UI" pitchFamily="34" charset="0"/>
                <a:ea typeface="Segoe UI" pitchFamily="34" charset="-122"/>
                <a:cs typeface="Segoe UI" pitchFamily="34" charset="-120"/>
              </a:rPr>
              <a:t>Witnesses can be written for types you do not own, without changing them.</a:t>
            </a:r>
            <a:endParaRPr lang="en-US" sz="950" dirty="0"/>
          </a:p>
        </p:txBody>
      </p:sp>
      <p:sp>
        <p:nvSpPr>
          <p:cNvPr id="10" name="Text 8"/>
          <p:cNvSpPr txBox="1"/>
          <p:nvPr/>
        </p:nvSpPr>
        <p:spPr>
          <a:xfrm>
            <a:off x="6654800" y="2743200"/>
            <a:ext cx="5080000" cy="177800"/>
          </a:xfrm>
          <a:prstGeom prst="rect">
            <a:avLst/>
          </a:prstGeom>
          <a:noFill/>
          <a:ln/>
        </p:spPr>
        <p:txBody>
          <a:bodyPr wrap="square" lIns="0" tIns="0" rIns="0" bIns="0" rtlCol="0" anchor="t"/>
          <a:lstStyle/>
          <a:p>
            <a:pPr indent="0" marL="0">
              <a:buNone/>
            </a:pPr>
            <a:r>
              <a:rPr lang="en-US" sz="950" b="1" dirty="0">
                <a:solidFill>
                  <a:srgbClr val="2E8B57"/>
                </a:solidFill>
                <a:latin typeface="Segoe UI" pitchFamily="34" charset="0"/>
                <a:ea typeface="Segoe UI" pitchFamily="34" charset="-122"/>
                <a:cs typeface="Segoe UI" pitchFamily="34" charset="-120"/>
              </a:rPr>
              <a:t>GOALS NAMED IN THE TALK</a:t>
            </a:r>
            <a:endParaRPr lang="en-US" sz="950" dirty="0"/>
          </a:p>
        </p:txBody>
      </p:sp>
      <p:sp>
        <p:nvSpPr>
          <p:cNvPr id="11" name="bullets-2E8B57-tcgoals"/>
          <p:cNvSpPr txBox="1"/>
          <p:nvPr/>
        </p:nvSpPr>
        <p:spPr>
          <a:xfrm>
            <a:off x="6654800" y="2971800"/>
            <a:ext cx="5080000" cy="812800"/>
          </a:xfrm>
          <a:prstGeom prst="rect">
            <a:avLst/>
          </a:prstGeom>
          <a:noFill/>
          <a:ln/>
        </p:spPr>
        <p:txBody>
          <a:bodyPr wrap="square" lIns="0" tIns="0" rIns="0" bIns="0" rtlCol="0" anchor="t"/>
          <a:lstStyle/>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Operator overloading, limited to value classes</a:t>
            </a:r>
            <a:endParaRPr lang="en-US" sz="950" dirty="0"/>
          </a:p>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New numeric types (e.g. float16) as fast as built-ins</a:t>
            </a:r>
            <a:endParaRPr lang="en-US" sz="950" dirty="0"/>
          </a:p>
          <a:p>
            <a:pPr marL="165100" indent="-165100">
              <a:lnSpc>
                <a:spcPct val="105000"/>
              </a:lnSpc>
              <a:spcAft>
                <a:spcPts val="400"/>
              </a:spcAft>
              <a:buClr>
                <a:srgbClr val="2E8B57"/>
              </a:buClr>
              <a:buSzPct val="100000"/>
              <a:buChar char="●"/>
            </a:pPr>
            <a:r>
              <a:rPr lang="en-US" sz="950" dirty="0">
                <a:solidFill>
                  <a:srgbClr val="1F2430"/>
                </a:solidFill>
                <a:latin typeface="Segoe UI" pitchFamily="34" charset="0"/>
                <a:ea typeface="Segoe UI" pitchFamily="34" charset="-122"/>
                <a:cs typeface="Segoe UI" pitchFamily="34" charset="-120"/>
              </a:rPr>
              <a:t>Collection literals</a:t>
            </a:r>
            <a:endParaRPr lang="en-US" sz="950" dirty="0"/>
          </a:p>
        </p:txBody>
      </p:sp>
      <p:sp>
        <p:nvSpPr>
          <p:cNvPr id="12" name="Shape 10"/>
          <p:cNvSpPr/>
          <p:nvPr/>
        </p:nvSpPr>
        <p:spPr>
          <a:xfrm>
            <a:off x="457200" y="5384800"/>
            <a:ext cx="11277600" cy="889000"/>
          </a:xfrm>
          <a:prstGeom prst="roundRect">
            <a:avLst>
              <a:gd name="adj" fmla="val 8571"/>
            </a:avLst>
          </a:prstGeom>
          <a:solidFill>
            <a:srgbClr val="FDEBDC"/>
          </a:solidFill>
          <a:ln/>
        </p:spPr>
      </p:sp>
      <p:sp>
        <p:nvSpPr>
          <p:cNvPr id="13" name="Text 11"/>
          <p:cNvSpPr txBox="1"/>
          <p:nvPr/>
        </p:nvSpPr>
        <p:spPr>
          <a:xfrm>
            <a:off x="660400" y="5499100"/>
            <a:ext cx="7620000" cy="177800"/>
          </a:xfrm>
          <a:prstGeom prst="rect">
            <a:avLst/>
          </a:prstGeom>
          <a:noFill/>
          <a:ln/>
        </p:spPr>
        <p:txBody>
          <a:bodyPr wrap="square" lIns="0" tIns="0" rIns="0" bIns="0" rtlCol="0" anchor="t"/>
          <a:lstStyle/>
          <a:p>
            <a:pPr indent="0" marL="0">
              <a:buNone/>
            </a:pPr>
            <a:r>
              <a:rPr lang="en-US" sz="950" b="1" dirty="0">
                <a:solidFill>
                  <a:srgbClr val="E76F00"/>
                </a:solidFill>
                <a:latin typeface="Segoe UI" pitchFamily="34" charset="0"/>
                <a:ea typeface="Segoe UI" pitchFamily="34" charset="-122"/>
                <a:cs typeface="Segoe UI" pitchFamily="34" charset="-120"/>
              </a:rPr>
              <a:t>STATUS: EXPLORATORY</a:t>
            </a:r>
            <a:endParaRPr lang="en-US" sz="950" dirty="0"/>
          </a:p>
        </p:txBody>
      </p:sp>
      <p:sp>
        <p:nvSpPr>
          <p:cNvPr id="14" name="Text 12"/>
          <p:cNvSpPr txBox="1"/>
          <p:nvPr/>
        </p:nvSpPr>
        <p:spPr>
          <a:xfrm>
            <a:off x="660400" y="5702300"/>
            <a:ext cx="10871200" cy="2032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Goetz has said it is not being designed yet; the prototype is purely experimental. Syntax may change (talk: </a:t>
            </a:r>
            <a:pPr indent="0" marL="0">
              <a:buNone/>
            </a:pPr>
            <a:r>
              <a:rPr lang="en-US" sz="1000" dirty="0">
                <a:solidFill>
                  <a:srgbClr val="1F2430"/>
                </a:solidFill>
                <a:latin typeface="Consolas" pitchFamily="34" charset="0"/>
                <a:ea typeface="Consolas" pitchFamily="34" charset="-122"/>
                <a:cs typeface="Consolas" pitchFamily="34" charset="-120"/>
              </a:rPr>
              <a:t>witness</a:t>
            </a:r>
            <a:pPr indent="0" marL="0">
              <a:buNone/>
            </a:pPr>
            <a:r>
              <a:rPr lang="en-US" sz="1000" dirty="0">
                <a:solidFill>
                  <a:srgbClr val="1F2430"/>
                </a:solidFill>
                <a:latin typeface="Segoe UI" pitchFamily="34" charset="0"/>
                <a:ea typeface="Segoe UI" pitchFamily="34" charset="-122"/>
                <a:cs typeface="Segoe UI" pitchFamily="34" charset="-120"/>
              </a:rPr>
              <a:t>, prototype: </a:t>
            </a:r>
            <a:pPr indent="0" marL="0">
              <a:buNone/>
            </a:pPr>
            <a:r>
              <a:rPr lang="en-US" sz="1000" dirty="0">
                <a:solidFill>
                  <a:srgbClr val="1F2430"/>
                </a:solidFill>
                <a:latin typeface="Consolas" pitchFamily="34" charset="0"/>
                <a:ea typeface="Consolas" pitchFamily="34" charset="-122"/>
                <a:cs typeface="Consolas" pitchFamily="34" charset="-120"/>
              </a:rPr>
              <a:t>__witness</a:t>
            </a:r>
            <a:pPr indent="0" marL="0">
              <a:buNone/>
            </a:pPr>
            <a:r>
              <a:rPr lang="en-US" sz="1000" dirty="0">
                <a:solidFill>
                  <a:srgbClr val="1F2430"/>
                </a:solidFill>
                <a:latin typeface="Segoe UI" pitchFamily="34" charset="0"/>
                <a:ea typeface="Segoe UI" pitchFamily="34" charset="-122"/>
                <a:cs typeface="Segoe UI" pitchFamily="34" charset="-120"/>
              </a:rPr>
              <a:t>).</a:t>
            </a:r>
            <a:endParaRPr lang="en-US" sz="1000" dirty="0"/>
          </a:p>
        </p:txBody>
      </p:sp>
      <p:sp>
        <p:nvSpPr>
          <p:cNvPr id="15" name="Text 13"/>
          <p:cNvSpPr txBox="1"/>
          <p:nvPr/>
        </p:nvSpPr>
        <p:spPr>
          <a:xfrm>
            <a:off x="660400" y="5956300"/>
            <a:ext cx="10871200" cy="203200"/>
          </a:xfrm>
          <a:prstGeom prst="rect">
            <a:avLst/>
          </a:prstGeom>
          <a:noFill/>
          <a:ln/>
        </p:spPr>
        <p:txBody>
          <a:bodyPr wrap="square" lIns="0" tIns="0" rIns="0" bIns="0" rtlCol="0" anchor="t"/>
          <a:lstStyle/>
          <a:p>
            <a:pPr indent="0" marL="0">
              <a:buNone/>
            </a:pPr>
            <a:r>
              <a:rPr lang="en-US" sz="1000" dirty="0">
                <a:solidFill>
                  <a:srgbClr val="1F2430"/>
                </a:solidFill>
                <a:latin typeface="Segoe UI" pitchFamily="34" charset="0"/>
                <a:ea typeface="Segoe UI" pitchFamily="34" charset="-122"/>
                <a:cs typeface="Segoe UI" pitchFamily="34" charset="-120"/>
              </a:rPr>
              <a:t>Type classes do </a:t>
            </a:r>
            <a:pPr indent="0" marL="0">
              <a:buNone/>
            </a:pPr>
            <a:r>
              <a:rPr lang="en-US" sz="1000" b="1" dirty="0">
                <a:solidFill>
                  <a:srgbClr val="1F2430"/>
                </a:solidFill>
                <a:latin typeface="Segoe UI" pitchFamily="34" charset="0"/>
                <a:ea typeface="Segoe UI" pitchFamily="34" charset="-122"/>
                <a:cs typeface="Segoe UI" pitchFamily="34" charset="-120"/>
              </a:rPr>
              <a:t>not</a:t>
            </a:r>
            <a:pPr indent="0" marL="0">
              <a:buNone/>
            </a:pPr>
            <a:r>
              <a:rPr lang="en-US" sz="1000" dirty="0">
                <a:solidFill>
                  <a:srgbClr val="1F2430"/>
                </a:solidFill>
                <a:latin typeface="Segoe UI" pitchFamily="34" charset="0"/>
                <a:ea typeface="Segoe UI" pitchFamily="34" charset="-122"/>
                <a:cs typeface="Segoe UI" pitchFamily="34" charset="-120"/>
              </a:rPr>
              <a:t> make generics reified: type arguments are still erased. They supply behaviour by type instead.</a:t>
            </a:r>
            <a:endParaRPr lang="en-US" sz="1000" dirty="0"/>
          </a:p>
        </p:txBody>
      </p:sp>
      <p:sp>
        <p:nvSpPr>
          <p:cNvPr id="25" name="Slide Number Placeholder 0"/>
          <p:cNvSpPr>
            <a:spLocks noGrp="1"/>
          </p:cNvSpPr>
          <p:nvPr>
            <p:ph type="sldNum" sz="quarter" idx="4294967295"/>
          </p:nvPr>
        </p:nvSpPr>
        <p:spPr>
          <a:xfrm>
            <a:off x="10972800" y="6565900"/>
            <a:ext cx="762000" cy="177800"/>
          </a:xfrm>
          <a:prstGeom prst="rect">
            <a:avLst/>
          </a:prstGeom>
          <a:extLst>
            <a:ext uri="{C572A759-6A51-4108-AA02-DFA0A04FC94B}">
              <ma14:wrappingTextBoxFlag xmlns:ma14="http://schemas.microsoft.com/office/mac/drawingml/2011/main" val="0"/>
            </a:ext>
          </a:extLst>
        </p:spPr>
        <p:txBody>
          <a:bodyPr lIns="0" tIns="0" rIns="0" bIns="0" anchor="t"/>
          <a:lstStyle>
            <a:lvl1pPr>
              <a:defRPr sz="850">
                <a:solidFill>
                  <a:srgbClr val="5B6475"/>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Recent and Potential Future Updates</dc:title>
  <dc:subject>PptxGenJS Presentation</dc:subject>
  <dc:creator>muminc</dc:creator>
  <cp:lastModifiedBy>muminc</cp:lastModifiedBy>
  <cp:revision>1</cp:revision>
  <dcterms:created xsi:type="dcterms:W3CDTF">2026-10-12T07:37:31Z</dcterms:created>
  <dcterms:modified xsi:type="dcterms:W3CDTF">2026-10-12T07:37:31Z</dcterms:modified>
</cp:coreProperties>
</file>